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6"/>
    <p:sldId id="273" r:id="rId19"/>
    <p:sldId id="272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.png"/><Relationship Id="rId3" Type="http://schemas.openxmlformats.org/officeDocument/2006/relationships/image" Target="../media/merged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294975A-702C-4902-8A0A-4B887D35601C}"/>
              </a:ext>
            </a:extLst>
          </p:cNvPr>
          <p:cNvSpPr/>
          <p:nvPr/>
        </p:nvSpPr>
        <p:spPr>
          <a:xfrm>
            <a:off x="7905750" y="1714500"/>
            <a:ext cx="2857500" cy="2857500"/>
          </a:xfrm>
          <a:prstGeom prst="ellipse">
            <a:avLst/>
          </a:prstGeom>
          <a:solidFill>
            <a:srgbClr val="FFFFFF">
              <a:alpha val="7843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6EAA2DF-6A90-414E-9DE3-D3A794C8E970}"/>
              </a:ext>
            </a:extLst>
          </p:cNvPr>
          <p:cNvSpPr/>
          <p:nvPr/>
        </p:nvSpPr>
        <p:spPr>
          <a:xfrm>
            <a:off x="10544175" y="301942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9C97D01-BA6A-4A50-96C9-08F064F07F5E}"/>
              </a:ext>
            </a:extLst>
          </p:cNvPr>
          <p:cNvSpPr/>
          <p:nvPr/>
        </p:nvSpPr>
        <p:spPr>
          <a:xfrm>
            <a:off x="10363200" y="368617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5EA5F59-B170-43AD-A0D3-022DD10944F1}"/>
              </a:ext>
            </a:extLst>
          </p:cNvPr>
          <p:cNvSpPr/>
          <p:nvPr/>
        </p:nvSpPr>
        <p:spPr>
          <a:xfrm>
            <a:off x="9877425" y="4171950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5488C9A-5A51-4377-B533-E9B161565FB3}"/>
              </a:ext>
            </a:extLst>
          </p:cNvPr>
          <p:cNvSpPr/>
          <p:nvPr/>
        </p:nvSpPr>
        <p:spPr>
          <a:xfrm>
            <a:off x="9210675" y="435292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950C678-7813-42D4-BB81-15C9355CA8A0}"/>
              </a:ext>
            </a:extLst>
          </p:cNvPr>
          <p:cNvSpPr/>
          <p:nvPr/>
        </p:nvSpPr>
        <p:spPr>
          <a:xfrm>
            <a:off x="8543925" y="4171950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265AACC-607D-498B-8937-7EEDC64B4BAE}"/>
              </a:ext>
            </a:extLst>
          </p:cNvPr>
          <p:cNvSpPr/>
          <p:nvPr/>
        </p:nvSpPr>
        <p:spPr>
          <a:xfrm>
            <a:off x="8058150" y="368617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656F905-2D63-4311-9916-87D374692524}"/>
              </a:ext>
            </a:extLst>
          </p:cNvPr>
          <p:cNvSpPr/>
          <p:nvPr/>
        </p:nvSpPr>
        <p:spPr>
          <a:xfrm>
            <a:off x="7877175" y="301942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F0B70BB-B593-49A3-B035-93D75418EB7D}"/>
              </a:ext>
            </a:extLst>
          </p:cNvPr>
          <p:cNvSpPr/>
          <p:nvPr/>
        </p:nvSpPr>
        <p:spPr>
          <a:xfrm>
            <a:off x="8058150" y="235267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FAD7E93-24F0-46B1-BD5B-54214283B76E}"/>
              </a:ext>
            </a:extLst>
          </p:cNvPr>
          <p:cNvSpPr/>
          <p:nvPr/>
        </p:nvSpPr>
        <p:spPr>
          <a:xfrm>
            <a:off x="8543925" y="1866900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4097D7B-4DB3-49F7-8ED1-6A5B8CF344AC}"/>
              </a:ext>
            </a:extLst>
          </p:cNvPr>
          <p:cNvSpPr/>
          <p:nvPr/>
        </p:nvSpPr>
        <p:spPr>
          <a:xfrm>
            <a:off x="9210675" y="168592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646DCCB-099B-4ABA-8EC5-4238D5623922}"/>
              </a:ext>
            </a:extLst>
          </p:cNvPr>
          <p:cNvSpPr/>
          <p:nvPr/>
        </p:nvSpPr>
        <p:spPr>
          <a:xfrm>
            <a:off x="9877425" y="1866900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8282DF9-D501-4DFB-BA74-0DFAF2C5C92A}"/>
              </a:ext>
            </a:extLst>
          </p:cNvPr>
          <p:cNvSpPr/>
          <p:nvPr/>
        </p:nvSpPr>
        <p:spPr>
          <a:xfrm>
            <a:off x="10363200" y="2352675"/>
            <a:ext cx="247650" cy="247650"/>
          </a:xfrm>
          <a:prstGeom prst="ellipse">
            <a:avLst/>
          </a:prstGeom>
          <a:solidFill>
            <a:srgbClr val="E3B34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F00F525-8B53-44BB-90FF-2209E5162269}"/>
              </a:ext>
            </a:extLst>
          </p:cNvPr>
          <p:cNvSpPr/>
          <p:nvPr/>
        </p:nvSpPr>
        <p:spPr>
          <a:xfrm>
            <a:off x="9077325" y="2886075"/>
            <a:ext cx="514350" cy="514350"/>
          </a:xfrm>
          <a:prstGeom prst="ellipse">
            <a:avLst/>
          </a:prstGeom>
          <a:solidFill>
            <a:srgbClr val="1F4E79"/>
          </a:solidFill>
          <a:ln w="19050">
            <a:solidFill>
              <a:srgbClr val="E3B34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9530FDDC-5F95-4072-B3A2-1976A7265E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5600700"/>
            <a:ext cx="857250" cy="885825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45C96FA1-D654-47D8-81C5-2C2CB4899AFA}"/>
              </a:ext>
            </a:extLst>
          </p:cNvPr>
          <p:cNvSpPr txBox="1"/>
          <p:nvPr/>
        </p:nvSpPr>
        <p:spPr>
          <a:xfrm>
            <a:off x="762000" y="10477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3B341"/>
                </a:solidFill>
                <a:latin typeface="Arial"/>
                <a:ea typeface="Arial"/>
              </a:rPr>
              <a:t>SOUTENANCE DE MÉMOIRE — MASTER EN INFORMATIQUE, 2026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0A5777A-0D34-4BC1-A6B8-BE366830D081}"/>
              </a:ext>
            </a:extLst>
          </p:cNvPr>
          <p:cNvSpPr txBox="1"/>
          <p:nvPr/>
        </p:nvSpPr>
        <p:spPr>
          <a:xfrm>
            <a:off x="762000" y="1428750"/>
            <a:ext cx="6191250" cy="2321357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Georgia"/>
                <a:ea typeface="Georgia"/>
              </a:rPr>
              <a:t>Contrôle décentralisé d'un</a:t>
            </a: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Georgia"/>
                <a:ea typeface="Georgia"/>
              </a:rPr>
              <a:t>essaim de robots par</a:t>
            </a: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Georgia"/>
                <a:ea typeface="Georgia"/>
              </a:rPr>
              <a:t>réseaux de neurones</a:t>
            </a: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Georgia"/>
                <a:ea typeface="Georgia"/>
              </a:rPr>
              <a:t>sur graphe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1509BAF-BBE3-4277-B50D-A4A692075ECD}"/>
              </a:ext>
            </a:extLst>
          </p:cNvPr>
          <p:cNvSpPr txBox="1"/>
          <p:nvPr/>
        </p:nvSpPr>
        <p:spPr>
          <a:xfrm>
            <a:off x="762000" y="3810000"/>
            <a:ext cx="6096000" cy="10001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800" i="1">
                <a:solidFill>
                  <a:srgbClr val="C9D6E8"/>
                </a:solidFill>
                <a:latin typeface="Georgia"/>
                <a:ea typeface="Georgia"/>
              </a:rPr>
              <a:t>Formation de contours géométriques et symboliques par apprentissage différentiable, exécution locale et passage à l'échelle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2D31399-99F8-4D7A-98BB-FAFCC049B76D}"/>
              </a:ext>
            </a:extLst>
          </p:cNvPr>
          <p:cNvSpPr txBox="1"/>
          <p:nvPr/>
        </p:nvSpPr>
        <p:spPr>
          <a:xfrm>
            <a:off x="1905000" y="5619750"/>
            <a:ext cx="857250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</a:rPr>
              <a:t>Laurent MWANAMPUTU LABEYA — Candidat   ·   Prof. Dr Selain KASEREKA KABUNGA — Directeur</a:t>
            </a:r>
            <a:br/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AFC3D9"/>
                </a:solidFill>
                <a:latin typeface="Arial"/>
                <a:ea typeface="Arial"/>
              </a:rPr>
              <a:t>Université de Kinshasa (UNIKIN) — Faculté des Sciences et Technologies</a:t>
            </a:r>
            <a:br/>
            <a:r>
              <a:rPr sz="1200">
                <a:solidFill>
                  <a:srgbClr val="AFC3D9"/>
                </a:solidFill>
                <a:latin typeface="Arial"/>
                <a:ea typeface="Arial"/>
              </a:rPr>
              <a:t>Option : Intelligence artificielle et Sciences des données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6E63305-B066-4BED-883D-BEE22528D424}"/>
              </a:ext>
            </a:extLst>
          </p:cNvPr>
          <p:cNvSpPr txBox="1"/>
          <p:nvPr/>
        </p:nvSpPr>
        <p:spPr>
          <a:xfrm>
            <a:off x="9144000" y="571500"/>
            <a:ext cx="2286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7FA0C4"/>
                </a:solidFill>
                <a:latin typeface="Arial"/>
                <a:ea typeface="Arial"/>
              </a:rPr>
              <a:t>12 minutes · 15 diapositives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1380E03-3A55-4044-96FC-32B353DED6F6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PROBLÉMATIQUE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EC703E0-83CD-4A17-8BB2-46F812689289}"/>
              </a:ext>
            </a:extLst>
          </p:cNvPr>
          <p:cNvSpPr txBox="1"/>
          <p:nvPr/>
        </p:nvSpPr>
        <p:spPr>
          <a:xfrm>
            <a:off x="666750" y="647700"/>
            <a:ext cx="85725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Deux familles de contrôleurs, une seule question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5ADB5A-E6EB-4168-8CF6-21678AC960A8}"/>
              </a:ext>
            </a:extLst>
          </p:cNvPr>
          <p:cNvSpPr txBox="1"/>
          <p:nvPr/>
        </p:nvSpPr>
        <p:spPr>
          <a:xfrm>
            <a:off x="666750" y="1257300"/>
            <a:ext cx="1085850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Règle écrite — attraction, répulsion, alignement : interprétable, mais sans géométrie précise de cible. Règle apprise — un GNN reçoit les voisins et la consigne de forme : davantage de paramètres, de coût de calcul, et une robustesse à vérifier.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B1A8BC8-E621-4F33-858C-B1AE7C2CFEEF}"/>
              </a:ext>
            </a:extLst>
          </p:cNvPr>
          <p:cNvSpPr txBox="1"/>
          <p:nvPr/>
        </p:nvSpPr>
        <p:spPr>
          <a:xfrm>
            <a:off x="666750" y="2000250"/>
            <a:ext cx="10858500" cy="539496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F4E79"/>
                </a:solidFill>
                <a:latin typeface="Georgia"/>
                <a:ea typeface="Georgia"/>
              </a:rPr>
              <a:t>Dans quelles conditions une règle apprise, exécutée localement, peut-elle être une alternative raisonnable à une règle manuelle ?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EF09DCC-D221-4B59-9EB7-EE269C9C72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05000" y="2628900"/>
            <a:ext cx="8382000" cy="36576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35EA6E8B-E444-48A4-A2EB-08688E0FBB17}"/>
              </a:ext>
            </a:extLst>
          </p:cNvPr>
          <p:cNvSpPr txBox="1"/>
          <p:nvPr/>
        </p:nvSpPr>
        <p:spPr>
          <a:xfrm>
            <a:off x="1905000" y="6362700"/>
            <a:ext cx="8382000" cy="20955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Principe de formation : les robots convergent vers un nuage de points, sans affectation permanente robot–point.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6CF2E8D-77CC-4838-AB04-470820B5A934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E179F53-EC7F-44E6-B1B0-08D3467470CC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TRAVAUX CONNEXES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1781F3-DFBC-4A38-9E0E-C2F35D20FA38}"/>
              </a:ext>
            </a:extLst>
          </p:cNvPr>
          <p:cNvSpPr txBox="1"/>
          <p:nvPr/>
        </p:nvSpPr>
        <p:spPr>
          <a:xfrm>
            <a:off x="666750" y="647700"/>
            <a:ext cx="85725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Trois travaux, un angle mort partagé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320B483-4B4A-4E26-B52C-C32656F98A3E}"/>
              </a:ext>
            </a:extLst>
          </p:cNvPr>
          <p:cNvSpPr/>
          <p:nvPr/>
        </p:nvSpPr>
        <p:spPr>
          <a:xfrm>
            <a:off x="666750" y="1428750"/>
            <a:ext cx="3238500" cy="38100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1B8C83-BC42-465C-906A-4C560B4CB223}"/>
              </a:ext>
            </a:extLst>
          </p:cNvPr>
          <p:cNvSpPr/>
          <p:nvPr/>
        </p:nvSpPr>
        <p:spPr>
          <a:xfrm>
            <a:off x="4476750" y="1428750"/>
            <a:ext cx="3238500" cy="38100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3B5AD5E-18EA-4AAC-A58B-F8CD2A5E7140}"/>
              </a:ext>
            </a:extLst>
          </p:cNvPr>
          <p:cNvSpPr/>
          <p:nvPr/>
        </p:nvSpPr>
        <p:spPr>
          <a:xfrm>
            <a:off x="8286750" y="1428750"/>
            <a:ext cx="3238500" cy="38100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5AFD1B0-3EFE-43FD-8534-3DBA876C74A6}"/>
              </a:ext>
            </a:extLst>
          </p:cNvPr>
          <p:cNvSpPr txBox="1"/>
          <p:nvPr/>
        </p:nvSpPr>
        <p:spPr>
          <a:xfrm>
            <a:off x="857250" y="167640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C08A1E"/>
                </a:solidFill>
                <a:latin typeface="Arial"/>
                <a:ea typeface="Arial"/>
              </a:rPr>
              <a:t>HSIEH, KUMAR &amp; CHAIMOWICZ — 2008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B1B5B38-0D32-465E-B4BA-F51017E6019B}"/>
              </a:ext>
            </a:extLst>
          </p:cNvPr>
          <p:cNvSpPr txBox="1"/>
          <p:nvPr/>
        </p:nvSpPr>
        <p:spPr>
          <a:xfrm>
            <a:off x="857250" y="1924050"/>
            <a:ext cx="2857500" cy="62865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6243A"/>
                </a:solidFill>
                <a:latin typeface="Georgia"/>
                <a:ea typeface="Georgia"/>
              </a:rPr>
              <a:t>Générer des formes par règles locales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A9D84A3-63F7-426C-8B6C-4FE7550BE763}"/>
              </a:ext>
            </a:extLst>
          </p:cNvPr>
          <p:cNvSpPr txBox="1"/>
          <p:nvPr/>
        </p:nvSpPr>
        <p:spPr>
          <a:xfrm>
            <a:off x="857250" y="2647950"/>
            <a:ext cx="285750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16243A"/>
                </a:solidFill>
                <a:latin typeface="Arial"/>
                <a:ea typeface="Arial"/>
              </a:rPr>
              <a:t>Contrôleurs décentralisés pour la génération de formes ; l'information géométrique accessible localement est déterminante.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9DE7F3F-EEAB-49D7-A376-476D736CC090}"/>
              </a:ext>
            </a:extLst>
          </p:cNvPr>
          <p:cNvSpPr txBox="1"/>
          <p:nvPr/>
        </p:nvSpPr>
        <p:spPr>
          <a:xfrm>
            <a:off x="857250" y="390525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5B6B80"/>
                </a:solidFill>
                <a:latin typeface="Arial"/>
                <a:ea typeface="Arial"/>
              </a:rPr>
              <a:t>CE QUI MANQUE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FC2A618-A52C-41D3-A52D-017557B539EE}"/>
              </a:ext>
            </a:extLst>
          </p:cNvPr>
          <p:cNvSpPr txBox="1"/>
          <p:nvPr/>
        </p:nvSpPr>
        <p:spPr>
          <a:xfrm>
            <a:off x="857250" y="4114800"/>
            <a:ext cx="2857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00" i="1">
                <a:solidFill>
                  <a:srgbClr val="5B6B80"/>
                </a:solidFill>
                <a:latin typeface="Arial"/>
                <a:ea typeface="Arial"/>
              </a:rPr>
              <a:t>Ne compare pas une politique apprise par passage de messages à information égale.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8AF103-91EE-4528-879A-0CBF1F97409C}"/>
              </a:ext>
            </a:extLst>
          </p:cNvPr>
          <p:cNvSpPr txBox="1"/>
          <p:nvPr/>
        </p:nvSpPr>
        <p:spPr>
          <a:xfrm>
            <a:off x="4667250" y="167640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C08A1E"/>
                </a:solidFill>
                <a:latin typeface="Arial"/>
                <a:ea typeface="Arial"/>
              </a:rPr>
              <a:t>TOLSTAYA ET AL. — 2020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60DDC62-1D8C-412D-9A40-DCE21E015D5C}"/>
              </a:ext>
            </a:extLst>
          </p:cNvPr>
          <p:cNvSpPr txBox="1"/>
          <p:nvPr/>
        </p:nvSpPr>
        <p:spPr>
          <a:xfrm>
            <a:off x="4667250" y="1924050"/>
            <a:ext cx="2857500" cy="62865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6243A"/>
                </a:solidFill>
                <a:latin typeface="Georgia"/>
                <a:ea typeface="Georgia"/>
              </a:rPr>
              <a:t>Apprendre un contrôleur sur graphe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09E9317-094D-472E-BABF-E29C81E60547}"/>
              </a:ext>
            </a:extLst>
          </p:cNvPr>
          <p:cNvSpPr txBox="1"/>
          <p:nvPr/>
        </p:nvSpPr>
        <p:spPr>
          <a:xfrm>
            <a:off x="4667250" y="2647950"/>
            <a:ext cx="285750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16243A"/>
                </a:solidFill>
                <a:latin typeface="Arial"/>
                <a:ea typeface="Arial"/>
              </a:rPr>
              <a:t>Un GNN entraîné pour des tâches d'essaim, exécuté localement sur un graphe de communication mobile.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471B37-D6B0-4895-B74B-BD7324D796F5}"/>
              </a:ext>
            </a:extLst>
          </p:cNvPr>
          <p:cNvSpPr txBox="1"/>
          <p:nvPr/>
        </p:nvSpPr>
        <p:spPr>
          <a:xfrm>
            <a:off x="4667250" y="390525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5B6B80"/>
                </a:solidFill>
                <a:latin typeface="Arial"/>
                <a:ea typeface="Arial"/>
              </a:rPr>
              <a:t>CE QUI MANQUE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DD89D4-CC97-4C6B-9292-A80898CE950C}"/>
              </a:ext>
            </a:extLst>
          </p:cNvPr>
          <p:cNvSpPr txBox="1"/>
          <p:nvPr/>
        </p:nvSpPr>
        <p:spPr>
          <a:xfrm>
            <a:off x="4667250" y="4114800"/>
            <a:ext cx="2857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00" i="1">
                <a:solidFill>
                  <a:srgbClr val="5B6B80"/>
                </a:solidFill>
                <a:latin typeface="Arial"/>
                <a:ea typeface="Arial"/>
              </a:rPr>
              <a:t>Rien sur la lisibilité de lettres, de chiffres ou de nombres.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F8405B5-73DA-487F-B476-429BA0A40225}"/>
              </a:ext>
            </a:extLst>
          </p:cNvPr>
          <p:cNvSpPr txBox="1"/>
          <p:nvPr/>
        </p:nvSpPr>
        <p:spPr>
          <a:xfrm>
            <a:off x="8477250" y="167640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C08A1E"/>
                </a:solidFill>
                <a:latin typeface="Arial"/>
                <a:ea typeface="Arial"/>
              </a:rPr>
              <a:t>JIANG, HUANG &amp; GUO — 2023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6D5CEC4-58C5-43F7-A6C7-7B27784CC2EB}"/>
              </a:ext>
            </a:extLst>
          </p:cNvPr>
          <p:cNvSpPr txBox="1"/>
          <p:nvPr/>
        </p:nvSpPr>
        <p:spPr>
          <a:xfrm>
            <a:off x="8477250" y="1924050"/>
            <a:ext cx="2857500" cy="628650"/>
          </a:xfrm>
        </p:spPr>
        <p:txBody>
          <a:bodyPr wrap="square" rtlCol="0" lIns="0" tIns="0" rIns="0" bIns="0" anchor="t"/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6243A"/>
                </a:solidFill>
                <a:latin typeface="Georgia"/>
                <a:ea typeface="Georgia"/>
              </a:rPr>
              <a:t>Bout en bout, plusieurs effectifs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DE7CF32-ADFF-47E2-AC04-7AE772F8CD55}"/>
              </a:ext>
            </a:extLst>
          </p:cNvPr>
          <p:cNvSpPr txBox="1"/>
          <p:nvPr/>
        </p:nvSpPr>
        <p:spPr>
          <a:xfrm>
            <a:off x="8477250" y="2647950"/>
            <a:ext cx="2857500" cy="11430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16243A"/>
                </a:solidFill>
                <a:latin typeface="Arial"/>
                <a:ea typeface="Arial"/>
              </a:rPr>
              <a:t>Formation triangulaire entraînée avec 5 robots, testée de 4 à 9 ; le LiDAR fournit des cartes locales.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5970132-6D5E-47ED-9421-CC5963665E1F}"/>
              </a:ext>
            </a:extLst>
          </p:cNvPr>
          <p:cNvSpPr txBox="1"/>
          <p:nvPr/>
        </p:nvSpPr>
        <p:spPr>
          <a:xfrm>
            <a:off x="8477250" y="390525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5B6B80"/>
                </a:solidFill>
                <a:latin typeface="Arial"/>
                <a:ea typeface="Arial"/>
              </a:rPr>
              <a:t>CE QUI MANQUE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19EEDD5-14EB-4884-8656-CA50F7AC9938}"/>
              </a:ext>
            </a:extLst>
          </p:cNvPr>
          <p:cNvSpPr txBox="1"/>
          <p:nvPr/>
        </p:nvSpPr>
        <p:spPr>
          <a:xfrm>
            <a:off x="8477250" y="4114800"/>
            <a:ext cx="2857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25000"/>
              </a:lnSpc>
            </a:pPr>
            <a:r>
              <a:rPr sz="1200" i="1">
                <a:solidFill>
                  <a:srgbClr val="5B6B80"/>
                </a:solidFill>
                <a:latin typeface="Arial"/>
                <a:ea typeface="Arial"/>
              </a:rPr>
              <a:t>Perception différente : l'écart ne revient pas à la seule architecture.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BB1E6E46-E035-4889-A485-B96052668D79}"/>
              </a:ext>
            </a:extLst>
          </p:cNvPr>
          <p:cNvSpPr/>
          <p:nvPr/>
        </p:nvSpPr>
        <p:spPr>
          <a:xfrm>
            <a:off x="666750" y="5505450"/>
            <a:ext cx="10858500" cy="66675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8FDA89F-320A-4422-B847-F53D93175666}"/>
              </a:ext>
            </a:extLst>
          </p:cNvPr>
          <p:cNvSpPr txBox="1"/>
          <p:nvPr/>
        </p:nvSpPr>
        <p:spPr>
          <a:xfrm>
            <a:off x="952500" y="5638800"/>
            <a:ext cx="10287000" cy="476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4E79"/>
                </a:solidFill>
                <a:latin typeface="Arial"/>
                <a:ea typeface="Arial"/>
              </a:rPr>
              <a:t>Comparer seulement à information de consigne comparable : sinon l'écart mesure l'information reçue, pas le contrôleur.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B343C9C-69C5-40AA-8965-30CF19E67A35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F503804-F59B-4399-82A8-B9BF7CC00B00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MODÈLE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4CF9BD-2DA0-44F7-9CD0-A01CEAB01F9E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Un essaim, un graphe reconstruit à chaque pas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A38679D-5F00-4DDC-93F0-12B3D88B23CC}"/>
              </a:ext>
            </a:extLst>
          </p:cNvPr>
          <p:cNvSpPr txBox="1"/>
          <p:nvPr/>
        </p:nvSpPr>
        <p:spPr>
          <a:xfrm>
            <a:off x="666750" y="1428750"/>
            <a:ext cx="5905500" cy="36195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N robots dans une arène de 4 × 4 ; pas de temps 0,1 ; vitesse bornée par v_max = 1.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Deux robots communiquent si leur distance reste sous la portée r_c = 1,5.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Le nombre et l'ordre des voisins varient : la fonction d'agrégation doit être symétrique.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Chaque robot ne commande que sa propre vitesse.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Aucune affectation globale robot–point n'est calculée pendant l'exécution.</a:t>
            </a:r>
          </a:p>
          <a:p>
            <a:pPr>
              <a:lnSpc>
                <a:spcPct val="122000"/>
              </a:lnSpc>
            </a:pPr>
            <a:r>
              <a:rPr sz="1300" i="1">
                <a:solidFill>
                  <a:srgbClr val="5B6B80"/>
                </a:solidFill>
                <a:latin typeface="Arial"/>
                <a:ea typeface="Arial"/>
              </a:rPr>
              <a:t>Hypothèses fortes, assumées : repère commun, positions exactes, échanges sans délai ni perte.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D602E04-5776-487A-9E8D-F7B7740C0E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0" y="1428750"/>
            <a:ext cx="3810000" cy="38100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B776B678-4260-473B-8ADE-22E84D1394DA}"/>
              </a:ext>
            </a:extLst>
          </p:cNvPr>
          <p:cNvSpPr txBox="1"/>
          <p:nvPr/>
        </p:nvSpPr>
        <p:spPr>
          <a:xfrm>
            <a:off x="7620000" y="5334000"/>
            <a:ext cx="3810000" cy="3810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Graphe de communication à portée disque : les arêtes dépendent seulement des positions.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9CFD8E-C72C-46E5-B423-73244083AD14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67405EC-5770-4ACF-9003-BAF1B4EB276B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DONNÉES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71FE98-60A8-4ECF-BF9F-2FF856D06467}"/>
              </a:ext>
            </a:extLst>
          </p:cNvPr>
          <p:cNvSpPr txBox="1"/>
          <p:nvPr/>
        </p:nvSpPr>
        <p:spPr>
          <a:xfrm>
            <a:off x="666750" y="647700"/>
            <a:ext cx="1000125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64 formes, trois résolutions, un découpage figé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F47E4B6-4469-4DAC-B4EA-A3EC3D8F4174}"/>
              </a:ext>
            </a:extLst>
          </p:cNvPr>
          <p:cNvSpPr txBox="1"/>
          <p:nvPr/>
        </p:nvSpPr>
        <p:spPr>
          <a:xfrm>
            <a:off x="666750" y="1381125"/>
            <a:ext cx="5143500" cy="2000250"/>
          </a:xfrm>
        </p:spPr>
        <p:txBody>
          <a:bodyPr wrap="square" rtlCol="0" lIns="0" tIns="0" rIns="0" bIns="0" anchor="t"/>
          <a:lstStyle/>
          <a:p>
            <a:pPr>
              <a:lnSpc>
                <a:spcPct val="124000"/>
              </a:lnSpc>
              <a:spcAft>
                <a:spcPts val="1200"/>
              </a:spcAft>
            </a:pPr>
            <a:r>
              <a:rPr sz="1350" b="1">
                <a:solidFill>
                  <a:srgbClr val="16243A"/>
                </a:solidFill>
                <a:latin typeface="Arial"/>
                <a:ea typeface="Arial"/>
              </a:rPr>
              <a:t>64 identifiants : 7 géométries, 10 chiffres, 26 lettres, 21 nombres.</a:t>
            </a:r>
          </a:p>
          <a:p>
            <a:pPr>
              <a:lnSpc>
                <a:spcPct val="124000"/>
              </a:lnSpc>
              <a:spcAft>
                <a:spcPts val="1200"/>
              </a:spcAft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Rendu sur grille 128 × 128, échantillonnage par point le plus éloigné : 20, 40 ou 50 pixels distincts.</a:t>
            </a:r>
          </a:p>
          <a:p>
            <a:pPr>
              <a:lnSpc>
                <a:spcPct val="124000"/>
              </a:lnSpc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Jamais de duplication pour atteindre le quota : un masque insuffisant est refusé.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667E4FE-437A-40B1-AD59-465323574075}"/>
              </a:ext>
            </a:extLst>
          </p:cNvPr>
          <p:cNvSpPr txBox="1"/>
          <p:nvPr/>
        </p:nvSpPr>
        <p:spPr>
          <a:xfrm>
            <a:off x="6381750" y="1381125"/>
            <a:ext cx="5143500" cy="2000250"/>
          </a:xfrm>
        </p:spPr>
        <p:txBody>
          <a:bodyPr wrap="square" rtlCol="0" lIns="0" tIns="0" rIns="0" bIns="0" anchor="t"/>
          <a:lstStyle/>
          <a:p>
            <a:pPr>
              <a:lnSpc>
                <a:spcPct val="124000"/>
              </a:lnSpc>
              <a:spcAft>
                <a:spcPts val="1200"/>
              </a:spcAft>
            </a:pPr>
            <a:r>
              <a:rPr sz="1350" b="1">
                <a:solidFill>
                  <a:srgbClr val="16243A"/>
                </a:solidFill>
                <a:latin typeface="Arial"/>
                <a:ea typeface="Arial"/>
              </a:rPr>
              <a:t>Recentrage sur le centroïde, puis normalisation à rayon maximal R = 1.</a:t>
            </a:r>
          </a:p>
          <a:p>
            <a:pPr>
              <a:lnSpc>
                <a:spcPct val="124000"/>
              </a:lnSpc>
              <a:spcAft>
                <a:spcPts val="1200"/>
              </a:spcAft>
            </a:pPr>
            <a:r>
              <a:rPr sz="1350">
                <a:solidFill>
                  <a:srgbClr val="16243A"/>
                </a:solidFill>
                <a:latin typeface="Arial"/>
                <a:ea typeface="Arial"/>
              </a:rPr>
              <a:t>Découpage fixe : entraînement, validation, test — le test ne sert ni au réglage ni au choix du modèle.</a:t>
            </a:r>
          </a:p>
          <a:p>
            <a:pPr>
              <a:lnSpc>
                <a:spcPct val="124000"/>
              </a:lnSpc>
            </a:pPr>
            <a:r>
              <a:rPr sz="1300" i="1">
                <a:solidFill>
                  <a:srgbClr val="5B6B80"/>
                </a:solidFill>
                <a:latin typeface="Arial"/>
                <a:ea typeface="Arial"/>
              </a:rPr>
              <a:t>L'échelle commune rend les distances sans dimension ; elle n'égalise pas la difficulté des formes.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B2F85911-12F6-4E69-A492-93892E9A9D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6750" y="3429000"/>
            <a:ext cx="10858500" cy="2676525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229D5D39-04B6-4DE7-B12B-438834C69FEE}"/>
              </a:ext>
            </a:extLst>
          </p:cNvPr>
          <p:cNvSpPr txBox="1"/>
          <p:nvPr/>
        </p:nvSpPr>
        <p:spPr>
          <a:xfrm>
            <a:off x="666750" y="6172200"/>
            <a:ext cx="10858500" cy="20955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Préparation d'une cible : rendu, binarisation, sélection de points, normalisation.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C4BFB8F-D76B-4207-B767-9C92163F5BD5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2B07E01-8CCC-4DD0-9222-52AEC4B72AFA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CONTRÔLEUR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5F6FC5-5C56-4B78-A9EB-28BC6D6DD218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Un seul réseau partagé, exécuté localement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F199C7-AAD9-4A10-A1E0-151B95C46FF3}"/>
              </a:ext>
            </a:extLst>
          </p:cNvPr>
          <p:cNvSpPr txBox="1"/>
          <p:nvPr/>
        </p:nvSpPr>
        <p:spPr>
          <a:xfrm>
            <a:off x="666750" y="1238250"/>
            <a:ext cx="1085850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24000"/>
              </a:lnSpc>
              <a:spcAft>
                <a:spcPts val="8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Observation : vitesse précédente + représentation apprise de l'identifiant (16 composantes) +, en variante géométrique, direction unitaire vers le point cible le plus proche.</a:t>
            </a:r>
          </a:p>
          <a:p>
            <a:pPr>
              <a:lnSpc>
                <a:spcPct val="124000"/>
              </a:lnSpc>
              <a:spcAft>
                <a:spcPts val="8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Encodage affine + ReLU (64), puis deux tours de messages agrégés par moyenne ; un seul jeu de poids pour tous les robots.</a:t>
            </a:r>
          </a:p>
          <a:p>
            <a:pPr>
              <a:lnSpc>
                <a:spcPct val="124000"/>
              </a:lnSpc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Décodeur borné : résidu directionnel, tangente hyperbolique, puis projection radiale sous v_max.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106B600-A0AF-421A-8947-0329630B44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95500" y="2533650"/>
            <a:ext cx="8001000" cy="34290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90FBA21-2E66-4029-B933-5861AF906B7D}"/>
              </a:ext>
            </a:extLst>
          </p:cNvPr>
          <p:cNvSpPr txBox="1"/>
          <p:nvPr/>
        </p:nvSpPr>
        <p:spPr>
          <a:xfrm>
            <a:off x="2095500" y="6038850"/>
            <a:ext cx="8001000" cy="20955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Architecture de l'implémentation actuelle : observation, encodage, messages, décodage.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1F68EC0-7218-4367-A390-33DAA7386072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82CF4E2-8EBB-4C04-A3B6-18BCDDBF44BC}"/>
              </a:ext>
            </a:extLst>
          </p:cNvPr>
          <p:cNvSpPr txBox="1"/>
          <p:nvPr/>
        </p:nvSpPr>
        <p:spPr>
          <a:xfrm>
            <a:off x="666750" y="438150"/>
            <a:ext cx="3238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CHOIX D'ARCHITECTURE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42BBAA-8180-4D78-A3D0-8CAEAB304C83}"/>
              </a:ext>
            </a:extLst>
          </p:cNvPr>
          <p:cNvSpPr txBox="1"/>
          <p:nvPr/>
        </p:nvSpPr>
        <p:spPr>
          <a:xfrm>
            <a:off x="666750" y="647700"/>
            <a:ext cx="108585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L'agrégation par moyenne : sobre, et assumée comme telle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6A594BC-C914-4A21-9AC1-93A4697F2196}"/>
              </a:ext>
            </a:extLst>
          </p:cNvPr>
          <p:cNvSpPr txBox="1"/>
          <p:nvPr/>
        </p:nvSpPr>
        <p:spPr>
          <a:xfrm>
            <a:off x="666750" y="1238250"/>
            <a:ext cx="10858500" cy="1333500"/>
          </a:xfrm>
        </p:spPr>
        <p:txBody>
          <a:bodyPr wrap="square" rtlCol="0" lIns="0" tIns="0" rIns="0" bIns="0" anchor="t"/>
          <a:lstStyle/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Invariance aux permutations exigée par le voisinage variable : la moyenne la satisfait (Zaheer et al., 2017).</a:t>
            </a:r>
          </a:p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Contrairement à une somme non normalisée, elle évite que l'échelle croisse avec le nombre de voisins.</a:t>
            </a:r>
          </a:p>
          <a:p>
            <a:pPr>
              <a:lnSpc>
                <a:spcPct val="124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Elle n'a pas pour autant toute la capacité de représentation d'une somme ; l'attention ajoute paramètres et coût.</a:t>
            </a:r>
          </a:p>
          <a:p>
            <a:pPr>
              <a:lnSpc>
                <a:spcPct val="124000"/>
              </a:lnSpc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Limite explicite : un voisin aberrant pèse un poids uniforme, sans filtre ; une agrégation robuste reste à comparer.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930B526-AC4B-4859-A491-0C709A2FB9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0750" y="2647950"/>
            <a:ext cx="7810500" cy="326707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32A44205-6CC4-4905-9A2F-CB4F87795A0A}"/>
              </a:ext>
            </a:extLst>
          </p:cNvPr>
          <p:cNvSpPr txBox="1"/>
          <p:nvPr/>
        </p:nvSpPr>
        <p:spPr>
          <a:xfrm>
            <a:off x="2190750" y="5981700"/>
            <a:ext cx="7810500" cy="20955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Somme, moyenne, max : la moyenne retire le facteur de degré, sans garantir la qualité de formation.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0A005D2-DCB4-4E12-9706-94090440471C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7755C3C-B1D2-459A-A3B9-A8E64352C4DD}"/>
              </a:ext>
            </a:extLst>
          </p:cNvPr>
          <p:cNvSpPr txBox="1"/>
          <p:nvPr/>
        </p:nvSpPr>
        <p:spPr>
          <a:xfrm>
            <a:off x="666750" y="438150"/>
            <a:ext cx="3238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FONCTION DE COÛT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798F6E-8B69-43CC-B97A-873737842D6D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Une perte, quatre objectifs distincts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C668F6-0A6E-4038-ADB0-9DF8D5F0CA9A}"/>
              </a:ext>
            </a:extLst>
          </p:cNvPr>
          <p:cNvSpPr txBox="1"/>
          <p:nvPr/>
        </p:nvSpPr>
        <p:spPr>
          <a:xfrm>
            <a:off x="666750" y="1381125"/>
            <a:ext cx="4953000" cy="32385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 b="1">
                <a:solidFill>
                  <a:srgbClr val="16243A"/>
                </a:solidFill>
                <a:latin typeface="Arial"/>
                <a:ea typeface="Arial"/>
              </a:rPr>
              <a:t>Chamfer non carrée, normalisée par le rayon R de la cible.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Un sens mesure la proximité des robots au contour, l'autre la couverture de la cible.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Moyenne sur les dix derniers états de la trajectoire, pas seulement l'état final.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Les dix premiers états sont exclus des collisions : le chevauchement initial ne vient d'aucune commande.</a:t>
            </a:r>
          </a:p>
          <a:p>
            <a:pPr>
              <a:lnSpc>
                <a:spcPct val="122000"/>
              </a:lnSpc>
            </a:pPr>
            <a:r>
              <a:rPr sz="1250" i="1">
                <a:solidFill>
                  <a:srgbClr val="5B6B80"/>
                </a:solidFill>
                <a:latin typeface="Arial"/>
                <a:ea typeface="Arial"/>
              </a:rPr>
              <a:t>Aucun effet causal d'une composante n'est établi sans ablation.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0024998-1AB5-4F17-8D72-E309AEB0A2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0" y="1476375"/>
            <a:ext cx="5715000" cy="317182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2C35BC8-3EF1-4559-B06E-54826CCEDC47}"/>
              </a:ext>
            </a:extLst>
          </p:cNvPr>
          <p:cNvSpPr txBox="1"/>
          <p:nvPr/>
        </p:nvSpPr>
        <p:spPr>
          <a:xfrm>
            <a:off x="5905500" y="4724400"/>
            <a:ext cx="5715000" cy="28575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Deux sens de la comparaison entre ensembles, sans affectation bijective entre robot et point.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DD86B7A-E52D-4A34-A44A-CBE25480B5B1}"/>
              </a:ext>
            </a:extLst>
          </p:cNvPr>
          <p:cNvSpPr/>
          <p:nvPr/>
        </p:nvSpPr>
        <p:spPr>
          <a:xfrm>
            <a:off x="5905500" y="5219700"/>
            <a:ext cx="5619750" cy="104775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70B25EE-4D9A-4C7D-9E08-F8AE40E5A734}"/>
              </a:ext>
            </a:extLst>
          </p:cNvPr>
          <p:cNvSpPr txBox="1"/>
          <p:nvPr/>
        </p:nvSpPr>
        <p:spPr>
          <a:xfrm>
            <a:off x="6191250" y="5391150"/>
            <a:ext cx="5048250" cy="8001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Proximité et couverture sont deux directions distinctes : un amas peut rester proche de la cible en laissant une partie du contour découvert.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86B44F3-DBB6-4A2F-B5F7-39412073F76A}"/>
              </a:ext>
            </a:extLst>
          </p:cNvPr>
          <p:cNvSpPr/>
          <p:nvPr/>
        </p:nvSpPr>
        <p:spPr>
          <a:xfrm>
            <a:off x="666750" y="4810125"/>
            <a:ext cx="1095375" cy="123825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185CF57-B438-403A-B7A9-B313AD2DF43B}"/>
              </a:ext>
            </a:extLst>
          </p:cNvPr>
          <p:cNvSpPr/>
          <p:nvPr/>
        </p:nvSpPr>
        <p:spPr>
          <a:xfrm>
            <a:off x="1952625" y="4810125"/>
            <a:ext cx="1095375" cy="123825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94C03F4-CEE4-4923-85DD-6F8A3EF28937}"/>
              </a:ext>
            </a:extLst>
          </p:cNvPr>
          <p:cNvSpPr/>
          <p:nvPr/>
        </p:nvSpPr>
        <p:spPr>
          <a:xfrm>
            <a:off x="3238500" y="4810125"/>
            <a:ext cx="1095375" cy="123825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5847E00-8CD1-410F-A541-AD2964E90B67}"/>
              </a:ext>
            </a:extLst>
          </p:cNvPr>
          <p:cNvSpPr/>
          <p:nvPr/>
        </p:nvSpPr>
        <p:spPr>
          <a:xfrm>
            <a:off x="4524375" y="4810125"/>
            <a:ext cx="1095375" cy="123825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1374302-407E-4AC9-A5AD-90770A677533}"/>
              </a:ext>
            </a:extLst>
          </p:cNvPr>
          <p:cNvSpPr txBox="1"/>
          <p:nvPr/>
        </p:nvSpPr>
        <p:spPr>
          <a:xfrm>
            <a:off x="666750" y="5067300"/>
            <a:ext cx="1095375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2600" b="1">
                <a:solidFill>
                  <a:srgbClr val="1F4E79"/>
                </a:solidFill>
                <a:latin typeface="Georgia"/>
                <a:ea typeface="Georgia"/>
              </a:rPr>
              <a:t>1,0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010A37C-D1FE-430E-A63A-968148A3ABC8}"/>
              </a:ext>
            </a:extLst>
          </p:cNvPr>
          <p:cNvSpPr txBox="1"/>
          <p:nvPr/>
        </p:nvSpPr>
        <p:spPr>
          <a:xfrm>
            <a:off x="1952625" y="5067300"/>
            <a:ext cx="1095375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2600" b="1">
                <a:solidFill>
                  <a:srgbClr val="1F4E79"/>
                </a:solidFill>
                <a:latin typeface="Georgia"/>
                <a:ea typeface="Georgia"/>
              </a:rPr>
              <a:t>1,0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1F3D46E-4351-4BAD-8EF3-009A0EEE0A99}"/>
              </a:ext>
            </a:extLst>
          </p:cNvPr>
          <p:cNvSpPr txBox="1"/>
          <p:nvPr/>
        </p:nvSpPr>
        <p:spPr>
          <a:xfrm>
            <a:off x="3238500" y="5067300"/>
            <a:ext cx="1095375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2600" b="1">
                <a:solidFill>
                  <a:srgbClr val="1F4E79"/>
                </a:solidFill>
                <a:latin typeface="Georgia"/>
                <a:ea typeface="Georgia"/>
              </a:rPr>
              <a:t>0,5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BC667E0-FE84-49EE-A503-3B78E09AB7E4}"/>
              </a:ext>
            </a:extLst>
          </p:cNvPr>
          <p:cNvSpPr txBox="1"/>
          <p:nvPr/>
        </p:nvSpPr>
        <p:spPr>
          <a:xfrm>
            <a:off x="4524375" y="5067300"/>
            <a:ext cx="1095375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2600" b="1">
                <a:solidFill>
                  <a:srgbClr val="1F4E79"/>
                </a:solidFill>
                <a:latin typeface="Georgia"/>
                <a:ea typeface="Georgia"/>
              </a:rPr>
              <a:t>0,02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28F9174-A84F-43AD-8255-4A88E0F18B46}"/>
              </a:ext>
            </a:extLst>
          </p:cNvPr>
          <p:cNvSpPr txBox="1"/>
          <p:nvPr/>
        </p:nvSpPr>
        <p:spPr>
          <a:xfrm>
            <a:off x="666750" y="5581650"/>
            <a:ext cx="1095375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000">
                <a:solidFill>
                  <a:srgbClr val="5B6B80"/>
                </a:solidFill>
                <a:latin typeface="Arial"/>
                <a:ea typeface="Arial"/>
              </a:rPr>
              <a:t>FORME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9F2C8AE-3B7F-4ECD-9D10-DFA7A0383418}"/>
              </a:ext>
            </a:extLst>
          </p:cNvPr>
          <p:cNvSpPr txBox="1"/>
          <p:nvPr/>
        </p:nvSpPr>
        <p:spPr>
          <a:xfrm>
            <a:off x="1952625" y="5581650"/>
            <a:ext cx="1095375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000">
                <a:solidFill>
                  <a:srgbClr val="5B6B80"/>
                </a:solidFill>
                <a:latin typeface="Arial"/>
                <a:ea typeface="Arial"/>
              </a:rPr>
              <a:t>COUVERTURE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BB8C45D-4B5F-428E-8549-D8BD2C11D3A9}"/>
              </a:ext>
            </a:extLst>
          </p:cNvPr>
          <p:cNvSpPr txBox="1"/>
          <p:nvPr/>
        </p:nvSpPr>
        <p:spPr>
          <a:xfrm>
            <a:off x="3238500" y="5581650"/>
            <a:ext cx="1095375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000">
                <a:solidFill>
                  <a:srgbClr val="5B6B80"/>
                </a:solidFill>
                <a:latin typeface="Arial"/>
                <a:ea typeface="Arial"/>
              </a:rPr>
              <a:t>COLLISIONS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8AD70CB-BFFA-4DC1-BAFE-09C12FDBE84B}"/>
              </a:ext>
            </a:extLst>
          </p:cNvPr>
          <p:cNvSpPr txBox="1"/>
          <p:nvPr/>
        </p:nvSpPr>
        <p:spPr>
          <a:xfrm>
            <a:off x="4524375" y="5581650"/>
            <a:ext cx="1095375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000">
                <a:solidFill>
                  <a:srgbClr val="5B6B80"/>
                </a:solidFill>
                <a:latin typeface="Arial"/>
                <a:ea typeface="Arial"/>
              </a:rPr>
              <a:t>MOUVEMENT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C1BD71-9DCE-4684-863A-3C38956C8FBA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0830623-6E23-4AD4-A760-026B8ABF6F5A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APPRENTISSAGE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C331111-CD32-4A6E-8BB3-AEB95C6A9AC9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Gradient direct à travers la simulation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D9DCB1A-C7EB-4DDA-B473-4115A31DDA5A}"/>
              </a:ext>
            </a:extLst>
          </p:cNvPr>
          <p:cNvSpPr txBox="1"/>
          <p:nvPr/>
        </p:nvSpPr>
        <p:spPr>
          <a:xfrm>
            <a:off x="666750" y="1381125"/>
            <a:ext cx="4953000" cy="32385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Pas d'expert à imiter, pas de récompense estimée par échantillonnage : le signal vient d'une perte de forme calculée en fin d'épisode.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La politique est entraînée dans l'épisode qu'elle produit elle-même, ce qui évite le décalage propre à l'imitation.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Meilleur état sélectionné sur la validation, jamais sur la dernière perte d'entraînement.</a:t>
            </a:r>
          </a:p>
          <a:p>
            <a:pPr>
              <a:lnSpc>
                <a:spcPct val="122000"/>
              </a:lnSpc>
            </a:pPr>
            <a:r>
              <a:rPr sz="1250" i="1">
                <a:solidFill>
                  <a:srgbClr val="5B6B80"/>
                </a:solidFill>
                <a:latin typeface="Arial"/>
                <a:ea typeface="Arial"/>
              </a:rPr>
              <a:t>Graphe de voisinage et choix du point le plus proche sont discrets : la simulation est différentiable par morceaux.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4CEBED16-446E-494F-9108-BB9C0E9951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0" y="1428750"/>
            <a:ext cx="5715000" cy="31242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C84409A-6FC7-4870-B458-75A9446910A3}"/>
              </a:ext>
            </a:extLst>
          </p:cNvPr>
          <p:cNvSpPr txBox="1"/>
          <p:nvPr/>
        </p:nvSpPr>
        <p:spPr>
          <a:xfrm>
            <a:off x="5905500" y="4629150"/>
            <a:ext cx="5715000" cy="359664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Déroulement des épisodes, moyenne des pertes, rétropropagation, mise à jour, sélection sur validation.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9445901-BEB3-45BE-B96E-2F68EC1A2D9E}"/>
              </a:ext>
            </a:extLst>
          </p:cNvPr>
          <p:cNvSpPr/>
          <p:nvPr/>
        </p:nvSpPr>
        <p:spPr>
          <a:xfrm>
            <a:off x="666750" y="4953000"/>
            <a:ext cx="4953000" cy="9144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3ECF56-DF73-4B05-A835-68741D0D11F8}"/>
              </a:ext>
            </a:extLst>
          </p:cNvPr>
          <p:cNvSpPr txBox="1"/>
          <p:nvPr/>
        </p:nvSpPr>
        <p:spPr>
          <a:xfrm>
            <a:off x="952500" y="5124450"/>
            <a:ext cx="4381500" cy="998525"/>
          </a:xfrm>
        </p:spPr>
        <p:txBody>
          <a:bodyPr wrap="square" rtlCol="0" lIns="0" tIns="0" rIns="0" bIns="0" anchor="t"/>
          <a:lstStyle/>
          <a:p>
            <a:pPr>
              <a:lnSpc>
                <a:spcPct val="126000"/>
              </a:lnSpc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1 200 itérations · 8 épisodes par lot</a:t>
            </a:r>
          </a:p>
          <a:p>
            <a:pPr>
              <a:lnSpc>
                <a:spcPct val="126000"/>
              </a:lnSpc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Adam 0,001 · décroissance 0,999 · gradient borné à 1</a:t>
            </a:r>
          </a:p>
          <a:p>
            <a:pPr>
              <a:lnSpc>
                <a:spcPct val="126000"/>
              </a:lnSpc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Validation toutes les 50 itérations · 5 graines d'entraînement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AA470C4-F101-4926-9875-9F42DDE5E558}"/>
              </a:ext>
            </a:extLst>
          </p:cNvPr>
          <p:cNvSpPr txBox="1"/>
          <p:nvPr/>
        </p:nvSpPr>
        <p:spPr>
          <a:xfrm>
            <a:off x="5905500" y="5334000"/>
            <a:ext cx="5715000" cy="395630"/>
          </a:xfrm>
        </p:spPr>
        <p:txBody>
          <a:bodyPr wrap="square" rtlCol="0" lIns="0" tIns="0" rIns="0" bIns="0" anchor="t"/>
          <a:lstStyle/>
          <a:p>
            <a:pPr>
              <a:lnSpc>
                <a:spcPct val="118000"/>
              </a:lnSpc>
            </a:pPr>
            <a:r>
              <a:rPr sz="1100" i="1">
                <a:solidFill>
                  <a:srgbClr val="5B6B80"/>
                </a:solidFill>
                <a:latin typeface="Arial"/>
                <a:ea typeface="Arial"/>
              </a:rPr>
              <a:t>Valeurs configurées, non des réglages optimaux : ce sont des hypothèses de travail, pas des résultats.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8FDAED9-0A1D-410A-A023-4AE3DAA2AB8F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5FF48A3-3F9B-44B2-B896-791F89E3BC62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MESURE DU SUCCÈS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07E624-59BE-4DF5-B42D-79B3D8373F7D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Le mot « succès » cache deux conventions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BCA8EF2-9303-4756-B650-D5A1330FD3CB}"/>
              </a:ext>
            </a:extLst>
          </p:cNvPr>
          <p:cNvSpPr txBox="1"/>
          <p:nvPr/>
        </p:nvSpPr>
        <p:spPr>
          <a:xfrm>
            <a:off x="666750" y="1238250"/>
            <a:ext cx="10858500" cy="13335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Actuelle : un épisode réussit si, à partir d'un pas, toutes les distances restent sous 0,15 jusqu'à la fin.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Historique, celle du pilote : premier franchissement de 0,5 avant le dernier pas, sans exigence de maintien.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Les deux ne donnent pas des pourcentages comparables : le pilote est lu avec ses propres seuils.</a:t>
            </a:r>
          </a:p>
          <a:p>
            <a:pPr>
              <a:lnSpc>
                <a:spcPct val="122000"/>
              </a:lnSpc>
            </a:pPr>
            <a:r>
              <a:rPr sz="1250" i="1">
                <a:solidFill>
                  <a:srgbClr val="5B6B80"/>
                </a:solidFill>
                <a:latin typeface="Arial"/>
                <a:ea typeface="Arial"/>
              </a:rPr>
              <a:t>Un franchissement au seul dernier pas était exclu ; une distance finale sous le seuil pouvait donc rester un échec.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7BC3424-4873-4CE8-946C-3EF7177E27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0750" y="2590800"/>
            <a:ext cx="7810500" cy="35052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BA2316C8-5867-4356-9E9E-A4D1F2E30FE0}"/>
              </a:ext>
            </a:extLst>
          </p:cNvPr>
          <p:cNvSpPr txBox="1"/>
          <p:nvPr/>
        </p:nvSpPr>
        <p:spPr>
          <a:xfrm>
            <a:off x="2190750" y="6172200"/>
            <a:ext cx="7810500" cy="20955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Même trajectoire, deux conventions : le pas rapporté et le verdict changent.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F4E6E63-61F6-4F11-8ACC-71B6545E0A18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00A2A6A-BB28-4CED-981E-542749FC9592}"/>
              </a:ext>
            </a:extLst>
          </p:cNvPr>
          <p:cNvSpPr txBox="1"/>
          <p:nvPr/>
        </p:nvSpPr>
        <p:spPr>
          <a:xfrm>
            <a:off x="666750" y="4381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RÉSULTATS — PILOTE HISTORIQUE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C7FD2C-A78D-4424-9F6B-B13FCA5C9E0D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Passage à l'échelle : 20, 40 puis 100 robots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674C6CA-2130-4B6C-952E-154E3849237C}"/>
              </a:ext>
            </a:extLst>
          </p:cNvPr>
          <p:cNvSpPr txBox="1"/>
          <p:nvPr/>
        </p:nvSpPr>
        <p:spPr>
          <a:xfrm>
            <a:off x="666750" y="125730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Chamfer moyenne, cible circulaire (rayon normalisé = 1)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093107F-3048-4E44-A8CD-48DE5B47BBAB}"/>
              </a:ext>
            </a:extLst>
          </p:cNvPr>
          <p:cNvSpPr/>
          <p:nvPr/>
        </p:nvSpPr>
        <p:spPr>
          <a:xfrm>
            <a:off x="952500" y="1581150"/>
            <a:ext cx="133350" cy="133350"/>
          </a:xfrm>
          <a:prstGeom prst="rect">
            <a:avLst/>
          </a:prstGeom>
          <a:solidFill>
            <a:srgbClr val="1F4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B67FC95-B985-41E4-AC2E-65CD98719450}"/>
              </a:ext>
            </a:extLst>
          </p:cNvPr>
          <p:cNvSpPr/>
          <p:nvPr/>
        </p:nvSpPr>
        <p:spPr>
          <a:xfrm>
            <a:off x="3238500" y="1581150"/>
            <a:ext cx="133350" cy="133350"/>
          </a:xfrm>
          <a:prstGeom prst="rect">
            <a:avLst/>
          </a:prstGeom>
          <a:solidFill>
            <a:srgbClr val="B9C4D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F24A682-FB9F-49BC-A9EF-6057203F9A03}"/>
              </a:ext>
            </a:extLst>
          </p:cNvPr>
          <p:cNvSpPr txBox="1"/>
          <p:nvPr/>
        </p:nvSpPr>
        <p:spPr>
          <a:xfrm>
            <a:off x="1181100" y="1543050"/>
            <a:ext cx="20955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16243A"/>
                </a:solidFill>
                <a:latin typeface="Arial"/>
                <a:ea typeface="Arial"/>
              </a:rPr>
              <a:t>GNN (contrôleur appris)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3428FB-12DD-4260-A22A-93969C35896B}"/>
              </a:ext>
            </a:extLst>
          </p:cNvPr>
          <p:cNvSpPr txBox="1"/>
          <p:nvPr/>
        </p:nvSpPr>
        <p:spPr>
          <a:xfrm>
            <a:off x="3467100" y="1543050"/>
            <a:ext cx="238125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16243A"/>
                </a:solidFill>
                <a:latin typeface="Arial"/>
                <a:ea typeface="Arial"/>
              </a:rPr>
              <a:t>Regroupement (règle écrite)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B8D6B85-DC2C-4E1E-A3A8-E8BE10387255}"/>
              </a:ext>
            </a:extLst>
          </p:cNvPr>
          <p:cNvSpPr/>
          <p:nvPr/>
        </p:nvSpPr>
        <p:spPr>
          <a:xfrm>
            <a:off x="1143000" y="4914900"/>
            <a:ext cx="666750" cy="419100"/>
          </a:xfrm>
          <a:prstGeom prst="rect">
            <a:avLst/>
          </a:prstGeom>
          <a:solidFill>
            <a:srgbClr val="1F4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5C5C90E-EB5F-4E1E-BB4A-3649EB4EBEC8}"/>
              </a:ext>
            </a:extLst>
          </p:cNvPr>
          <p:cNvSpPr/>
          <p:nvPr/>
        </p:nvSpPr>
        <p:spPr>
          <a:xfrm>
            <a:off x="1905000" y="2505075"/>
            <a:ext cx="666750" cy="2828925"/>
          </a:xfrm>
          <a:prstGeom prst="rect">
            <a:avLst/>
          </a:prstGeom>
          <a:solidFill>
            <a:srgbClr val="B9C4D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1B2BB35-263D-4EB9-8624-7A7AFAF706C1}"/>
              </a:ext>
            </a:extLst>
          </p:cNvPr>
          <p:cNvSpPr/>
          <p:nvPr/>
        </p:nvSpPr>
        <p:spPr>
          <a:xfrm>
            <a:off x="2857500" y="4962525"/>
            <a:ext cx="666750" cy="371475"/>
          </a:xfrm>
          <a:prstGeom prst="rect">
            <a:avLst/>
          </a:prstGeom>
          <a:solidFill>
            <a:srgbClr val="1F4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184FC80-3FC7-479B-AF8B-80BB59CEF87C}"/>
              </a:ext>
            </a:extLst>
          </p:cNvPr>
          <p:cNvSpPr/>
          <p:nvPr/>
        </p:nvSpPr>
        <p:spPr>
          <a:xfrm>
            <a:off x="3619500" y="2619375"/>
            <a:ext cx="666750" cy="2714625"/>
          </a:xfrm>
          <a:prstGeom prst="rect">
            <a:avLst/>
          </a:prstGeom>
          <a:solidFill>
            <a:srgbClr val="B9C4D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1E4BB3A-1F43-40CD-BD72-EBCBBCC2BFED}"/>
              </a:ext>
            </a:extLst>
          </p:cNvPr>
          <p:cNvSpPr/>
          <p:nvPr/>
        </p:nvSpPr>
        <p:spPr>
          <a:xfrm>
            <a:off x="4572000" y="5029200"/>
            <a:ext cx="666750" cy="304800"/>
          </a:xfrm>
          <a:prstGeom prst="rect">
            <a:avLst/>
          </a:prstGeom>
          <a:solidFill>
            <a:srgbClr val="1F4E7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9C6D1D9-797F-4B91-A4B0-0CF5BF565354}"/>
              </a:ext>
            </a:extLst>
          </p:cNvPr>
          <p:cNvSpPr/>
          <p:nvPr/>
        </p:nvSpPr>
        <p:spPr>
          <a:xfrm>
            <a:off x="5334000" y="2828925"/>
            <a:ext cx="666750" cy="2505075"/>
          </a:xfrm>
          <a:prstGeom prst="rect">
            <a:avLst/>
          </a:prstGeom>
          <a:solidFill>
            <a:srgbClr val="B9C4D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4634C24-A636-41A4-9B92-4440E0A3ED90}"/>
              </a:ext>
            </a:extLst>
          </p:cNvPr>
          <p:cNvSpPr/>
          <p:nvPr/>
        </p:nvSpPr>
        <p:spPr>
          <a:xfrm>
            <a:off x="857250" y="5334000"/>
            <a:ext cx="5429250" cy="19050"/>
          </a:xfrm>
          <a:prstGeom prst="rect">
            <a:avLst/>
          </a:prstGeom>
          <a:solidFill>
            <a:srgbClr val="C8D2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1DCDE4A-030C-4B08-9B99-E0779499B110}"/>
              </a:ext>
            </a:extLst>
          </p:cNvPr>
          <p:cNvSpPr txBox="1"/>
          <p:nvPr/>
        </p:nvSpPr>
        <p:spPr>
          <a:xfrm>
            <a:off x="1143000" y="4686300"/>
            <a:ext cx="6667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1F4E79"/>
                </a:solidFill>
                <a:latin typeface="Arial"/>
                <a:ea typeface="Arial"/>
              </a:rPr>
              <a:t>0,592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E4B9423-A163-47A6-954A-C6C4C8AB821F}"/>
              </a:ext>
            </a:extLst>
          </p:cNvPr>
          <p:cNvSpPr txBox="1"/>
          <p:nvPr/>
        </p:nvSpPr>
        <p:spPr>
          <a:xfrm>
            <a:off x="1905000" y="2276475"/>
            <a:ext cx="6667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0"/>
                </a:solidFill>
                <a:latin typeface="Arial"/>
                <a:ea typeface="Arial"/>
              </a:rPr>
              <a:t>3,956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3BF5257-3EDC-4335-BFEB-C95CC13F43AD}"/>
              </a:ext>
            </a:extLst>
          </p:cNvPr>
          <p:cNvSpPr txBox="1"/>
          <p:nvPr/>
        </p:nvSpPr>
        <p:spPr>
          <a:xfrm>
            <a:off x="2857500" y="4733925"/>
            <a:ext cx="6667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1F4E79"/>
                </a:solidFill>
                <a:latin typeface="Arial"/>
                <a:ea typeface="Arial"/>
              </a:rPr>
              <a:t>0,522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1C06FD5-7806-4426-B11A-62C63CCF3B52}"/>
              </a:ext>
            </a:extLst>
          </p:cNvPr>
          <p:cNvSpPr txBox="1"/>
          <p:nvPr/>
        </p:nvSpPr>
        <p:spPr>
          <a:xfrm>
            <a:off x="3619500" y="2390775"/>
            <a:ext cx="6667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0"/>
                </a:solidFill>
                <a:latin typeface="Arial"/>
                <a:ea typeface="Arial"/>
              </a:rPr>
              <a:t>3,799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DE230B0-E6D0-4BF0-8184-CAE722733B2D}"/>
              </a:ext>
            </a:extLst>
          </p:cNvPr>
          <p:cNvSpPr txBox="1"/>
          <p:nvPr/>
        </p:nvSpPr>
        <p:spPr>
          <a:xfrm>
            <a:off x="4572000" y="4800600"/>
            <a:ext cx="6667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1F4E79"/>
                </a:solidFill>
                <a:latin typeface="Arial"/>
                <a:ea typeface="Arial"/>
              </a:rPr>
              <a:t>0,428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D4B51D0-85A9-4E68-AEE2-73ED5AACE762}"/>
              </a:ext>
            </a:extLst>
          </p:cNvPr>
          <p:cNvSpPr txBox="1"/>
          <p:nvPr/>
        </p:nvSpPr>
        <p:spPr>
          <a:xfrm>
            <a:off x="5334000" y="2600325"/>
            <a:ext cx="6667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0"/>
                </a:solidFill>
                <a:latin typeface="Arial"/>
                <a:ea typeface="Arial"/>
              </a:rPr>
              <a:t>3,507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C467341-FA10-4775-91DE-9133745CCC93}"/>
              </a:ext>
            </a:extLst>
          </p:cNvPr>
          <p:cNvSpPr txBox="1"/>
          <p:nvPr/>
        </p:nvSpPr>
        <p:spPr>
          <a:xfrm>
            <a:off x="1143000" y="5448300"/>
            <a:ext cx="14287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20 robots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4715EC4-3C82-4AEA-9803-013464855C65}"/>
              </a:ext>
            </a:extLst>
          </p:cNvPr>
          <p:cNvSpPr txBox="1"/>
          <p:nvPr/>
        </p:nvSpPr>
        <p:spPr>
          <a:xfrm>
            <a:off x="2857500" y="5448300"/>
            <a:ext cx="14287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40 robots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C2DDEDF-512B-4863-A739-D1F2AB9CB1E7}"/>
              </a:ext>
            </a:extLst>
          </p:cNvPr>
          <p:cNvSpPr txBox="1"/>
          <p:nvPr/>
        </p:nvSpPr>
        <p:spPr>
          <a:xfrm>
            <a:off x="4572000" y="5448300"/>
            <a:ext cx="14287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100 robots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52958EE-E939-4990-9A92-7BA64B4103E3}"/>
              </a:ext>
            </a:extLst>
          </p:cNvPr>
          <p:cNvSpPr txBox="1"/>
          <p:nvPr/>
        </p:nvSpPr>
        <p:spPr>
          <a:xfrm>
            <a:off x="666750" y="5810250"/>
            <a:ext cx="5429250" cy="247650"/>
          </a:xfrm>
        </p:spPr>
        <p:txBody>
          <a:bodyPr wrap="square" rtlCol="0" lIns="0" tIns="0" rIns="0" bIns="0" anchor="t"/>
          <a:lstStyle/>
          <a:p>
            <a:r>
              <a:rPr sz="1100" i="1">
                <a:solidFill>
                  <a:srgbClr val="5B6B80"/>
                </a:solidFill>
                <a:latin typeface="Arial"/>
                <a:ea typeface="Arial"/>
              </a:rPr>
              <a:t>Succès rapporté : 10 % / 30 % / 100 % — une valeur très dépendante du seuil.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C1493B7-097A-457A-A42C-2E9BAFAD4B3A}"/>
              </a:ext>
            </a:extLst>
          </p:cNvPr>
          <p:cNvSpPr txBox="1"/>
          <p:nvPr/>
        </p:nvSpPr>
        <p:spPr>
          <a:xfrm>
            <a:off x="6667500" y="1428750"/>
            <a:ext cx="4857750" cy="400050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Dix graines par condition, pilote historique : le modèle évalué vient du curriculum réduit, pas de l'implémentation actuelle.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La même politique s'exécute à 40 et 100 robots sans changer un seul poids : propriété structurelle, à mesurer quand même.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Le regroupement ne reçoit pas la consigne de cercle : l'écart mesure aussi une asymétrie d'information.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La baisse peut venir de la densité de robots sur le contour, pas de la seule qualité de la politique.</a:t>
            </a:r>
          </a:p>
          <a:p>
            <a:pPr>
              <a:lnSpc>
                <a:spcPct val="122000"/>
              </a:lnSpc>
            </a:pPr>
            <a:r>
              <a:rPr sz="1250" i="1">
                <a:solidFill>
                  <a:srgbClr val="5B6B80"/>
                </a:solidFill>
                <a:latin typeface="Arial"/>
                <a:ea typeface="Arial"/>
              </a:rPr>
              <a:t>Une distance plus faible ne prouve ni une forme lisible, ni une robustesse générale.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BACB37B-A438-4FAC-9A84-3E61D9D4F67D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7A442A5-853C-4126-8905-EA4A239383CE}"/>
              </a:ext>
            </a:extLst>
          </p:cNvPr>
          <p:cNvSpPr txBox="1"/>
          <p:nvPr/>
        </p:nvSpPr>
        <p:spPr>
          <a:xfrm>
            <a:off x="666750" y="438150"/>
            <a:ext cx="28575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E3B341"/>
                </a:solidFill>
                <a:latin typeface="Arial"/>
                <a:ea typeface="Arial"/>
              </a:rPr>
              <a:t>ROBUSTESSE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53A05DA-4B09-4AB9-B412-044A2CE676A1}"/>
              </a:ext>
            </a:extLst>
          </p:cNvPr>
          <p:cNvSpPr txBox="1"/>
          <p:nvPr/>
        </p:nvSpPr>
        <p:spPr>
          <a:xfrm>
            <a:off x="666750" y="647700"/>
            <a:ext cx="9525000" cy="5143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Pannes simulées et dispersion entre graines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D3796FC-BDE7-467F-9F71-6C7113276891}"/>
              </a:ext>
            </a:extLst>
          </p:cNvPr>
          <p:cNvSpPr txBox="1"/>
          <p:nvPr/>
        </p:nvSpPr>
        <p:spPr>
          <a:xfrm>
            <a:off x="666750" y="1333500"/>
            <a:ext cx="5619750" cy="4095750"/>
          </a:xfrm>
        </p:spPr>
        <p:txBody>
          <a:bodyPr wrap="square" rtlCol="0" lIns="0" tIns="0" rIns="0" bIns="0" anchor="t"/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  <a:latin typeface="Arial"/>
                <a:ea typeface="Arial"/>
              </a:rPr>
              <a:t>Retraits de 5, 10 puis 20 % des robots à mi-épisode : 0,592 à 0,638, soit +8 % de distance moyenne.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Un robot retiré est figé, ses commandes sont annulées, et il sort du graphe et de la mesure : une déconnexion propre.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Le regroupement varie du même ordre en absolu, à un niveau six fois plus élevé.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Entre graines, la distance finale varie d'environ 47 % ; un seul épisode sur dix franchit le seuil avant le dernier pas.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00">
                <a:solidFill>
                  <a:srgbClr val="16243A"/>
                </a:solidFill>
                <a:latin typeface="Arial"/>
                <a:ea typeface="Arial"/>
              </a:rPr>
              <a:t>Dix épisodes par condition : aucun intervalle de confiance exploitable.</a:t>
            </a:r>
          </a:p>
          <a:p>
            <a:pPr>
              <a:lnSpc>
                <a:spcPct val="122000"/>
              </a:lnSpc>
            </a:pPr>
            <a:r>
              <a:rPr sz="1250" i="1">
                <a:solidFill>
                  <a:srgbClr val="5B6B80"/>
                </a:solidFill>
                <a:latin typeface="Arial"/>
                <a:ea typeface="Arial"/>
              </a:rPr>
              <a:t>Une panne réelle peut rester immobile, gêner physiquement ou transmettre des valeurs aberrantes : ce n'est pas le cas testé ici.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51C859C-740F-4687-9F09-401209CEDA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2250" y="1257300"/>
            <a:ext cx="5143500" cy="218122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FDA08AE-3F23-4B48-B056-BB29C163488B}"/>
              </a:ext>
            </a:extLst>
          </p:cNvPr>
          <p:cNvSpPr txBox="1"/>
          <p:nvPr/>
        </p:nvSpPr>
        <p:spPr>
          <a:xfrm>
            <a:off x="6572250" y="3486150"/>
            <a:ext cx="5143500" cy="19050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Distance moyenne selon la fraction de robots retirés à mi-épisode.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EF349B3-9E65-4CE3-A5BE-8FF9E6AF67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72250" y="3771900"/>
            <a:ext cx="5143500" cy="2524125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58A2430-C7D0-45AD-A3CF-88061C616D77}"/>
              </a:ext>
            </a:extLst>
          </p:cNvPr>
          <p:cNvSpPr txBox="1"/>
          <p:nvPr/>
        </p:nvSpPr>
        <p:spPr>
          <a:xfrm>
            <a:off x="6572250" y="6343650"/>
            <a:ext cx="4191000" cy="190500"/>
          </a:xfrm>
        </p:spPr>
        <p:txBody>
          <a:bodyPr wrap="square" rtlCol="0" lIns="0" tIns="0" rIns="0" bIns="0" anchor="t"/>
          <a:lstStyle/>
          <a:p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Dix graines, 20 robots sans retrait : seuil et moyenne rappelés.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7798AC-E0EB-402B-A1D0-4D9A5BB45126}"/>
              </a:ext>
            </a:extLst>
          </p:cNvPr>
          <p:cNvSpPr txBox="1"/>
          <p:nvPr/>
        </p:nvSpPr>
        <p:spPr>
          <a:xfrm>
            <a:off x="10953750" y="6534150"/>
            <a:ext cx="5715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12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4D941F9-5EB4-4C95-852D-431DF591AEF4}"/>
              </a:ext>
            </a:extLst>
          </p:cNvPr>
          <p:cNvSpPr txBox="1"/>
          <p:nvPr/>
        </p:nvSpPr>
        <p:spPr>
          <a:xfrm>
            <a:off x="666750" y="4381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E3B341"/>
                </a:solidFill>
                <a:latin typeface="Arial"/>
                <a:ea typeface="Arial"/>
              </a:rPr>
              <a:t>SUPPORTS D'ENTRAÎNEMENT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1D0DEDD-51F9-440A-B1FE-3EE0A26E76C4}"/>
              </a:ext>
            </a:extLst>
          </p:cNvPr>
          <p:cNvSpPr txBox="1"/>
          <p:nvPr/>
        </p:nvSpPr>
        <p:spPr>
          <a:xfrm>
            <a:off x="666750" y="647700"/>
            <a:ext cx="108585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Curriculum réduit : où s'arrête la preuve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5E1A6F1-7E6F-42B8-B88F-905C7B9DAACD}"/>
              </a:ext>
            </a:extLst>
          </p:cNvPr>
          <p:cNvSpPr txBox="1"/>
          <p:nvPr/>
        </p:nvSpPr>
        <p:spPr>
          <a:xfrm>
            <a:off x="666750" y="1428750"/>
            <a:ext cx="5143500" cy="409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Arial"/>
                <a:ea typeface="Arial"/>
              </a:rPr>
              <a:t>Quatre étapes cumulatives, sans accès au test.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16243A"/>
                </a:solidFill>
                <a:latin typeface="Arial"/>
                <a:ea typeface="Arial"/>
              </a:rPr>
              <a:t>3, puis 6, puis 9, puis 11 cibles. Chaque niveau reprend les cibles des niveaux précédents.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Arial"/>
                <a:ea typeface="Arial"/>
              </a:rPr>
              <a:t>Perte en fin d'étape : 0,362, puis 0,251, 0,240, 0,117.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5B6B80"/>
                </a:solidFill>
                <a:latin typeface="Arial"/>
                <a:ea typeface="Arial"/>
              </a:rPr>
              <a:t>Ces quatre nombres ne sont pas comparables : le jeu de cibles change à chaque étape.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Arial"/>
                <a:ea typeface="Arial"/>
              </a:rPr>
              <a:t>Le seul signal lisible : les cibles anciennes.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>
                <a:solidFill>
                  <a:srgbClr val="16243A"/>
                </a:solidFill>
                <a:latin typeface="Arial"/>
                <a:ea typeface="Arial"/>
              </a:rPr>
              <a:t>Sur les cibles vues depuis le début, la perte descend de 0,333 à 0,216 puis 0,163.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Arial"/>
                <a:ea typeface="Arial"/>
              </a:rPr>
              <a:t>Portée réelle du résultat.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16243A"/>
                </a:solidFill>
                <a:latin typeface="Arial"/>
                <a:ea typeface="Arial"/>
              </a:rPr>
              <a:t>Une graine, un budget réduit, des cibles uniquement symboliques : lettres A, B, C et nombres 010, 123. Un résultat de faisabilité, pas une mesure de capacité.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A204716-4C94-4A7D-878B-F33F5C61FBDD}"/>
              </a:ext>
            </a:extLst>
          </p:cNvPr>
          <p:cNvPicPr/>
          <p:nvPr/>
        </p:nvPicPr>
        <p:blipFill>
          <a:blip r:embed="rId2"/>
          <a:srcRect t="2969" b="2969"/>
          <a:stretch>
            <a:fillRect/>
          </a:stretch>
        </p:blipFill>
        <p:spPr>
          <a:xfrm>
            <a:off x="6286500" y="1571625"/>
            <a:ext cx="5143500" cy="260985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C2F6BE2-FE60-4586-8302-629F238A6E84}"/>
              </a:ext>
            </a:extLst>
          </p:cNvPr>
          <p:cNvSpPr txBox="1"/>
          <p:nvPr/>
        </p:nvSpPr>
        <p:spPr>
          <a:xfrm>
            <a:off x="6286500" y="4305300"/>
            <a:ext cx="5143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Perte par cible au fil des quatre étapes du curriculum (pilote historique, implémentation précédente).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FADECBD-D13D-44C8-8A48-9DF3D0AB08A1}"/>
              </a:ext>
            </a:extLst>
          </p:cNvPr>
          <p:cNvSpPr/>
          <p:nvPr/>
        </p:nvSpPr>
        <p:spPr>
          <a:xfrm>
            <a:off x="6286500" y="4724400"/>
            <a:ext cx="5143500" cy="9144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4DCE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515E4B1-15DE-4C3D-8C4A-117D01B39EE8}"/>
              </a:ext>
            </a:extLst>
          </p:cNvPr>
          <p:cNvSpPr txBox="1"/>
          <p:nvPr/>
        </p:nvSpPr>
        <p:spPr>
          <a:xfrm>
            <a:off x="6477000" y="4838700"/>
            <a:ext cx="4762500" cy="7429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E3B341"/>
                </a:solidFill>
                <a:latin typeface="Arial"/>
                <a:ea typeface="Arial"/>
              </a:rPr>
              <a:t>À RETENIR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16243A"/>
                </a:solidFill>
                <a:latin typeface="Arial"/>
                <a:ea typeface="Arial"/>
              </a:rPr>
              <a:t>Le curriculum a fonctionné : les formes anciennes restent atteintes. Pas de preuve d'un apprentissage plus rapide.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DFE6B46-9713-4616-83B6-C26D1BE8B5EA}"/>
              </a:ext>
            </a:extLst>
          </p:cNvPr>
          <p:cNvSpPr txBox="1"/>
          <p:nvPr/>
        </p:nvSpPr>
        <p:spPr>
          <a:xfrm>
            <a:off x="666750" y="5829300"/>
            <a:ext cx="9144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</a:rPr>
              <a:t>Ce que la campagne prévue ajoutera : </a:t>
            </a:r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cinq graines par niveau, un contrôle sans curriculum à budget identique, et des cibles tenues hors entraînement.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BDD0EC7-0F8A-4F5D-ACBD-4F804EFE11B2}"/>
              </a:ext>
            </a:extLst>
          </p:cNvPr>
          <p:cNvSpPr txBox="1"/>
          <p:nvPr/>
        </p:nvSpPr>
        <p:spPr>
          <a:xfrm>
            <a:off x="10001250" y="6496050"/>
            <a:ext cx="104775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13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DA95FA0-9E4D-4788-A37C-459EDB12EE29}"/>
              </a:ext>
            </a:extLst>
          </p:cNvPr>
          <p:cNvSpPr txBox="1"/>
          <p:nvPr/>
        </p:nvSpPr>
        <p:spPr>
          <a:xfrm>
            <a:off x="666750" y="4381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E3B341"/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E660CC-4BAF-4AAB-89DE-6A95E93B06F1}"/>
              </a:ext>
            </a:extLst>
          </p:cNvPr>
          <p:cNvSpPr txBox="1"/>
          <p:nvPr/>
        </p:nvSpPr>
        <p:spPr>
          <a:xfrm>
            <a:off x="666750" y="647700"/>
            <a:ext cx="108585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  <a:ea typeface="Georgia"/>
              </a:rPr>
              <a:t>Bilan : ce qui est établi, ce qui reste à conduire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620BF48-DAC6-4402-B9E3-F6D1FD562AC1}"/>
              </a:ext>
            </a:extLst>
          </p:cNvPr>
          <p:cNvSpPr/>
          <p:nvPr/>
        </p:nvSpPr>
        <p:spPr>
          <a:xfrm>
            <a:off x="666750" y="1428750"/>
            <a:ext cx="5286375" cy="3238500"/>
          </a:xfrm>
          <a:prstGeom prst="roundRect">
            <a:avLst/>
          </a:prstGeom>
          <a:solidFill>
            <a:srgbClr val="17304A"/>
          </a:solidFill>
          <a:ln w="12700">
            <a:solidFill>
              <a:srgbClr val="2A476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67B60AB-A290-4D7B-AE9B-14642B5CCB94}"/>
              </a:ext>
            </a:extLst>
          </p:cNvPr>
          <p:cNvSpPr/>
          <p:nvPr/>
        </p:nvSpPr>
        <p:spPr>
          <a:xfrm>
            <a:off x="6238875" y="1428750"/>
            <a:ext cx="5286375" cy="3238500"/>
          </a:xfrm>
          <a:prstGeom prst="roundRect">
            <a:avLst/>
          </a:prstGeom>
          <a:solidFill>
            <a:srgbClr val="17304A"/>
          </a:solidFill>
          <a:ln w="12700">
            <a:solidFill>
              <a:srgbClr val="2A476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5C03BF-E94A-4E6A-ACDE-64613AD286CF}"/>
              </a:ext>
            </a:extLst>
          </p:cNvPr>
          <p:cNvSpPr txBox="1"/>
          <p:nvPr/>
        </p:nvSpPr>
        <p:spPr>
          <a:xfrm>
            <a:off x="933450" y="1638300"/>
            <a:ext cx="4762500" cy="29276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300" b="1">
                <a:solidFill>
                  <a:srgbClr val="E3B341"/>
                </a:solidFill>
                <a:latin typeface="Arial"/>
                <a:ea typeface="Arial"/>
              </a:rPr>
              <a:t>CE QUI EST ÉTABLI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Une commande décentralisée, sans coordinateur ni identifiant de forme global.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Un apprentissage différentiable sur simulation complète, sélectionné sur validation.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Une chaîne d'évaluation, de robustesse et de lisibilité prête à l'emploi.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Un pilote dont l'échec est diagnostiqué : décroissance du pas trop rapide et politique gelée.</a:t>
            </a:r>
          </a:p>
          <a:p>
            <a:pPr marL="228600" indent="-228600" algn="l">
              <a:lnSpc>
                <a:spcPct val="122000"/>
              </a:lnSpc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Correctifs appliqués et vérifiés sur un run court.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15E806-CF80-4B45-B0AD-3B043D59D2BF}"/>
              </a:ext>
            </a:extLst>
          </p:cNvPr>
          <p:cNvSpPr txBox="1"/>
          <p:nvPr/>
        </p:nvSpPr>
        <p:spPr>
          <a:xfrm>
            <a:off x="6505575" y="1638300"/>
            <a:ext cx="4762500" cy="2476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300" b="1">
                <a:solidFill>
                  <a:srgbClr val="E3B341"/>
                </a:solidFill>
                <a:latin typeface="Arial"/>
                <a:ea typeface="Arial"/>
              </a:rPr>
              <a:t>CE QUI RESTE À CONDUIRE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Au moins 50 départs par condition et cinq graines d'entraînement.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La comparaison prioritaire : la même consigne, sans message.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Bruit d'observation, suppression d'arêtes, portée réduite.</a:t>
            </a:r>
          </a:p>
          <a:p>
            <a:pPr marL="228600" indent="-228600" algn="l">
              <a:lnSpc>
                <a:spcPct val="122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Un questionnaire aveugle sur la lisibilité des figures.</a:t>
            </a:r>
          </a:p>
          <a:p>
            <a:pPr marL="228600" indent="-228600" algn="l">
              <a:lnSpc>
                <a:spcPct val="122000"/>
              </a:lnSpc>
              <a:buChar char="•"/>
            </a:pPr>
            <a:r>
              <a:rPr sz="1200">
                <a:solidFill>
                  <a:srgbClr val="E6EDF5"/>
                </a:solidFill>
                <a:latin typeface="Arial"/>
                <a:ea typeface="Arial"/>
              </a:rPr>
              <a:t>Aucun résultat d'entraînement accepté pour l'implémentation actuelle.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1C67F4F-8649-4903-B443-2EF94D0F2FE3}"/>
              </a:ext>
            </a:extLst>
          </p:cNvPr>
          <p:cNvSpPr/>
          <p:nvPr/>
        </p:nvSpPr>
        <p:spPr>
          <a:xfrm>
            <a:off x="2762250" y="5010150"/>
            <a:ext cx="6667500" cy="990600"/>
          </a:xfrm>
          <a:prstGeom prst="roundRect">
            <a:avLst/>
          </a:prstGeom>
          <a:solidFill>
            <a:srgbClr val="17304A"/>
          </a:solidFill>
          <a:ln w="12700">
            <a:solidFill>
              <a:srgbClr val="2A476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E6DC2D7-885D-4DAC-9F31-8C788C5CBBF5}"/>
              </a:ext>
            </a:extLst>
          </p:cNvPr>
          <p:cNvSpPr txBox="1"/>
          <p:nvPr/>
        </p:nvSpPr>
        <p:spPr>
          <a:xfrm>
            <a:off x="2762250" y="5162550"/>
            <a:ext cx="6667500" cy="729437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8000"/>
              </a:lnSpc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  <a:ea typeface="Georgia"/>
              </a:rPr>
              <a:t>Merci de votre attention</a:t>
            </a:r>
          </a:p>
          <a:p>
            <a:pPr algn="ctr">
              <a:lnSpc>
                <a:spcPct val="118000"/>
              </a:lnSpc>
            </a:pPr>
            <a:r>
              <a:rPr sz="1150">
                <a:solidFill>
                  <a:srgbClr val="A9B8CB"/>
                </a:solidFill>
                <a:latin typeface="Arial"/>
                <a:ea typeface="Arial"/>
              </a:rPr>
              <a:t>Laurent MWANAMPUTU LABEYA — Soutenance de mémoire, UNIKIN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5921804-B037-4BD6-9A23-CBD0C5E49322}"/>
              </a:ext>
            </a:extLst>
          </p:cNvPr>
          <p:cNvSpPr txBox="1"/>
          <p:nvPr/>
        </p:nvSpPr>
        <p:spPr>
          <a:xfrm>
            <a:off x="10001250" y="6496050"/>
            <a:ext cx="104775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C8098"/>
                </a:solidFill>
                <a:latin typeface="Arial"/>
                <a:ea typeface="Arial"/>
              </a:rPr>
              <a:t>15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B65C71-42E1-45B0-9480-181243A8DA2D}"/>
              </a:ext>
            </a:extLst>
          </p:cNvPr>
          <p:cNvSpPr txBox="1"/>
          <p:nvPr/>
        </p:nvSpPr>
        <p:spPr>
          <a:xfrm>
            <a:off x="666750" y="4381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E3B341"/>
                </a:solidFill>
                <a:latin typeface="Arial"/>
                <a:ea typeface="Arial"/>
              </a:rPr>
              <a:t>DISCUSSION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1BD0CBD-1BA7-424A-A479-016AFE301A09}"/>
              </a:ext>
            </a:extLst>
          </p:cNvPr>
          <p:cNvSpPr txBox="1"/>
          <p:nvPr/>
        </p:nvSpPr>
        <p:spPr>
          <a:xfrm>
            <a:off x="666750" y="647700"/>
            <a:ext cx="1085850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16243A"/>
                </a:solidFill>
                <a:latin typeface="Georgia"/>
                <a:ea typeface="Georgia"/>
              </a:rPr>
              <a:t>Menaces à la validité : ce qui n'est pas revendiqué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75D9C63-2E0F-465D-8BD7-919CB9FBD5A8}"/>
              </a:ext>
            </a:extLst>
          </p:cNvPr>
          <p:cNvSpPr txBox="1"/>
          <p:nvPr/>
        </p:nvSpPr>
        <p:spPr>
          <a:xfrm>
            <a:off x="666750" y="1428750"/>
            <a:ext cx="51435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</a:rPr>
              <a:t>VALIDITÉ INTERNE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Dix épisodes par condition et une seule graine pilotée. Le couplage entre curriculum et architecture n'est pas séparé ; aucune ligne de base apprise sans communication n'est évaluée.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</a:rPr>
              <a:t>VALIDITÉ EXTERNE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Repère commun entre robots, positions exactes sans capteur bruité, aucun délai ni perte de message, panne propre, arène finie, vingt pas d'horizon seulement.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</a:rPr>
              <a:t>CE QUE LA MESURE NE DIT PAS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La distance de forme est aveugle à la lisibilité de la figure ; le seuil de succès est un choix opérationnel ; un taux de collisions n'est pas un impact mécanique.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29F75F1-AF53-4564-9A05-FCB2090F90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91250" y="1428750"/>
            <a:ext cx="5334000" cy="3086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010A47B-350A-4188-A1A0-05C3652F45A3}"/>
              </a:ext>
            </a:extLst>
          </p:cNvPr>
          <p:cNvSpPr txBox="1"/>
          <p:nvPr/>
        </p:nvSpPr>
        <p:spPr>
          <a:xfrm>
            <a:off x="6191250" y="4648200"/>
            <a:ext cx="5334000" cy="7315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Information reçue par chaque contrôleur : voisinage, identifiant de forme, géométrie cible, poids ajustables.</a:t>
            </a:r>
          </a:p>
          <a:p>
            <a:pPr algn="l">
              <a:lnSpc>
                <a:spcPct val="120000"/>
              </a:lnSpc>
            </a:pPr>
            <a:r>
              <a:rPr sz="1000" i="1">
                <a:solidFill>
                  <a:srgbClr val="5B6B80"/>
                </a:solidFill>
                <a:latin typeface="Arial"/>
                <a:ea typeface="Arial"/>
              </a:rPr>
              <a:t>La matrice décrit ce qui est préparé, pas des performances : quatre variantes attendent encore un entraînement.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1DB1CF4-CF48-404F-9207-F39CDBCFC99E}"/>
              </a:ext>
            </a:extLst>
          </p:cNvPr>
          <p:cNvSpPr txBox="1"/>
          <p:nvPr/>
        </p:nvSpPr>
        <p:spPr>
          <a:xfrm>
            <a:off x="666750" y="5715000"/>
            <a:ext cx="9144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</a:rPr>
              <a:t>Ce que le mémoire revendique : </a:t>
            </a:r>
            <a:r>
              <a:rPr sz="1200">
                <a:solidFill>
                  <a:srgbClr val="16243A"/>
                </a:solidFill>
                <a:latin typeface="Arial"/>
                <a:ea typeface="Arial"/>
              </a:rPr>
              <a:t>une chaîne complète et vérifiable, des instruments prêts à l'emploi, et un pilote dont l'échec est expliqué puis corrigé.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5AA0C2-D2FB-402A-BB6B-6B4F95565251}"/>
              </a:ext>
            </a:extLst>
          </p:cNvPr>
          <p:cNvSpPr txBox="1"/>
          <p:nvPr/>
        </p:nvSpPr>
        <p:spPr>
          <a:xfrm>
            <a:off x="10001250" y="6496050"/>
            <a:ext cx="104775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8895A6"/>
                </a:solidFill>
                <a:latin typeface="Arial"/>
                <a:ea typeface="Arial"/>
              </a:rPr>
              <a:t>14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