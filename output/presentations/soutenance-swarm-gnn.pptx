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3fc103b9b341cd" /><Relationship Type="http://schemas.openxmlformats.org/officeDocument/2006/relationships/extended-properties" Target="/docProps/app.xml" Id="Rac89ba40f7d846f3" /><Relationship Type="http://schemas.openxmlformats.org/officeDocument/2006/relationships/officeDocument" Target="/ppt/presentation.xml" Id="Rbed1ff5f44b745b6" /></Relationships>
</file>

<file path=ppt/presentation.xml><?xml version="1.0" encoding="utf-8"?>
<p:presentation xmlns:p="http://schemas.openxmlformats.org/presentationml/2006/main">
  <p:sldMasterIdLst>
    <p:sldMasterId xmlns:r="http://schemas.openxmlformats.org/officeDocument/2006/relationships" id="2147483648" r:id="Rd1db55634f454730"/>
  </p:sldMasterIdLst>
  <p:notesMasterIdLst>
    <p:notesMasterId xmlns:r="http://schemas.openxmlformats.org/officeDocument/2006/relationships" r:id="R208b87a7707b4152"/>
  </p:notesMasterIdLst>
  <p:sldIdLst>
    <p:sldId xmlns:r="http://schemas.openxmlformats.org/officeDocument/2006/relationships" id="256" r:id="Rbc8ed47a48c247f5"/>
    <p:sldId xmlns:r="http://schemas.openxmlformats.org/officeDocument/2006/relationships" id="257" r:id="R740f6a1ed6ff442d"/>
    <p:sldId xmlns:r="http://schemas.openxmlformats.org/officeDocument/2006/relationships" id="258" r:id="R8281cfee81b44759"/>
    <p:sldId xmlns:r="http://schemas.openxmlformats.org/officeDocument/2006/relationships" id="259" r:id="R7a792b67ab0d4d2c"/>
    <p:sldId xmlns:r="http://schemas.openxmlformats.org/officeDocument/2006/relationships" id="260" r:id="Ref31409ee5e54bd0"/>
    <p:sldId xmlns:r="http://schemas.openxmlformats.org/officeDocument/2006/relationships" id="261" r:id="R3619515278cf4acf"/>
    <p:sldId xmlns:r="http://schemas.openxmlformats.org/officeDocument/2006/relationships" id="262" r:id="R49953ac03d184269"/>
    <p:sldId xmlns:r="http://schemas.openxmlformats.org/officeDocument/2006/relationships" id="263" r:id="R4d7f5f5318fb48b5"/>
    <p:sldId xmlns:r="http://schemas.openxmlformats.org/officeDocument/2006/relationships" id="264" r:id="R0f56225d5d4e409b"/>
    <p:sldId xmlns:r="http://schemas.openxmlformats.org/officeDocument/2006/relationships" id="265" r:id="R9e0d1f35f8d243d7"/>
    <p:sldId xmlns:r="http://schemas.openxmlformats.org/officeDocument/2006/relationships" id="266" r:id="R89025d1e7c4e42bd"/>
    <p:sldId xmlns:r="http://schemas.openxmlformats.org/officeDocument/2006/relationships" id="267" r:id="R680f542bf1694c5e"/>
    <p:sldId xmlns:r="http://schemas.openxmlformats.org/officeDocument/2006/relationships" id="268" r:id="R1873cb253a2b44f3"/>
    <p:sldId xmlns:r="http://schemas.openxmlformats.org/officeDocument/2006/relationships" id="269" r:id="R2f1d4e3e1ac84238"/>
    <p:sldId xmlns:r="http://schemas.openxmlformats.org/officeDocument/2006/relationships" id="270" r:id="R71137a4d584f44f1"/>
    <p:sldId xmlns:r="http://schemas.openxmlformats.org/officeDocument/2006/relationships" id="271" r:id="R5b7c79642abf4fb6"/>
    <p:sldId xmlns:r="http://schemas.openxmlformats.org/officeDocument/2006/relationships" id="272" r:id="Rfb869a1e3b934822"/>
    <p:sldId xmlns:r="http://schemas.openxmlformats.org/officeDocument/2006/relationships" id="273" r:id="R64ab09db05b74d67"/>
    <p:sldId xmlns:r="http://schemas.openxmlformats.org/officeDocument/2006/relationships" id="274" r:id="Rf5c9c85218944c39"/>
    <p:sldId xmlns:r="http://schemas.openxmlformats.org/officeDocument/2006/relationships" id="275" r:id="Rf36c5497af7449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42ad6b5f56443c" /><Relationship Type="http://schemas.openxmlformats.org/officeDocument/2006/relationships/slideMaster" Target="/ppt/slideMasters/slideMaster1.xml" Id="Rd1db55634f454730" /><Relationship Type="http://schemas.openxmlformats.org/officeDocument/2006/relationships/notesMaster" Target="/ppt/notesMasters/notesMaster1.xml" Id="R208b87a7707b4152" /><Relationship Type="http://schemas.openxmlformats.org/officeDocument/2006/relationships/presProps" Target="/ppt/presProps.xml" Id="R2d5081ddaa854171" /><Relationship Type="http://schemas.openxmlformats.org/officeDocument/2006/relationships/tableStyles" Target="/ppt/tableStyles.xml" Id="Rcb38826c8d0b4cf1" /><Relationship Type="http://schemas.openxmlformats.org/officeDocument/2006/relationships/slide" Target="/ppt/slides/slide1.xml" Id="Rbc8ed47a48c247f5" /><Relationship Type="http://schemas.openxmlformats.org/officeDocument/2006/relationships/slide" Target="/ppt/slides/slide2.xml" Id="R740f6a1ed6ff442d" /><Relationship Type="http://schemas.openxmlformats.org/officeDocument/2006/relationships/slide" Target="/ppt/slides/slide3.xml" Id="R8281cfee81b44759" /><Relationship Type="http://schemas.openxmlformats.org/officeDocument/2006/relationships/slide" Target="/ppt/slides/slide4.xml" Id="R7a792b67ab0d4d2c" /><Relationship Type="http://schemas.openxmlformats.org/officeDocument/2006/relationships/slide" Target="/ppt/slides/slide5.xml" Id="Ref31409ee5e54bd0" /><Relationship Type="http://schemas.openxmlformats.org/officeDocument/2006/relationships/slide" Target="/ppt/slides/slide6.xml" Id="R3619515278cf4acf" /><Relationship Type="http://schemas.openxmlformats.org/officeDocument/2006/relationships/slide" Target="/ppt/slides/slide7.xml" Id="R49953ac03d184269" /><Relationship Type="http://schemas.openxmlformats.org/officeDocument/2006/relationships/slide" Target="/ppt/slides/slide8.xml" Id="R4d7f5f5318fb48b5" /><Relationship Type="http://schemas.openxmlformats.org/officeDocument/2006/relationships/slide" Target="/ppt/slides/slide9.xml" Id="R0f56225d5d4e409b" /><Relationship Type="http://schemas.openxmlformats.org/officeDocument/2006/relationships/slide" Target="/ppt/slides/slide10.xml" Id="R9e0d1f35f8d243d7" /><Relationship Type="http://schemas.openxmlformats.org/officeDocument/2006/relationships/slide" Target="/ppt/slides/slide11.xml" Id="R89025d1e7c4e42bd" /><Relationship Type="http://schemas.openxmlformats.org/officeDocument/2006/relationships/slide" Target="/ppt/slides/slide12.xml" Id="R680f542bf1694c5e" /><Relationship Type="http://schemas.openxmlformats.org/officeDocument/2006/relationships/slide" Target="/ppt/slides/slide13.xml" Id="R1873cb253a2b44f3" /><Relationship Type="http://schemas.openxmlformats.org/officeDocument/2006/relationships/slide" Target="/ppt/slides/slide14.xml" Id="R2f1d4e3e1ac84238" /><Relationship Type="http://schemas.openxmlformats.org/officeDocument/2006/relationships/slide" Target="/ppt/slides/slide15.xml" Id="R71137a4d584f44f1" /><Relationship Type="http://schemas.openxmlformats.org/officeDocument/2006/relationships/slide" Target="/ppt/slides/slide16.xml" Id="R5b7c79642abf4fb6" /><Relationship Type="http://schemas.openxmlformats.org/officeDocument/2006/relationships/slide" Target="/ppt/slides/slide17.xml" Id="Rfb869a1e3b934822" /><Relationship Type="http://schemas.openxmlformats.org/officeDocument/2006/relationships/slide" Target="/ppt/slides/slide18.xml" Id="R64ab09db05b74d67" /><Relationship Type="http://schemas.openxmlformats.org/officeDocument/2006/relationships/slide" Target="/ppt/slides/slide19.xml" Id="Rf5c9c85218944c39" /><Relationship Type="http://schemas.openxmlformats.org/officeDocument/2006/relationships/slide" Target="/ppt/slides/slide20.xml" Id="Rf36c5497af7449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562c000bfd44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9959f203a944ad" /><Relationship Type="http://schemas.openxmlformats.org/officeDocument/2006/relationships/notesMaster" Target="/ppt/notesMasters/notesMaster1.xml" Id="R06be4f5df0b346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f6ce50aa7f4dc8" /><Relationship Type="http://schemas.openxmlformats.org/officeDocument/2006/relationships/notesMaster" Target="/ppt/notesMasters/notesMaster1.xml" Id="R2c3e1da774044d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b81996a9934b29" /><Relationship Type="http://schemas.openxmlformats.org/officeDocument/2006/relationships/notesMaster" Target="/ppt/notesMasters/notesMaster1.xml" Id="Rcf5c9807b45d48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5199cd0ecd4aeb" /><Relationship Type="http://schemas.openxmlformats.org/officeDocument/2006/relationships/notesMaster" Target="/ppt/notesMasters/notesMaster1.xml" Id="R0e68011af9014d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192e495be24b58" /><Relationship Type="http://schemas.openxmlformats.org/officeDocument/2006/relationships/notesMaster" Target="/ppt/notesMasters/notesMaster1.xml" Id="R0e68d776936249e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057a2b05274d8b" /><Relationship Type="http://schemas.openxmlformats.org/officeDocument/2006/relationships/notesMaster" Target="/ppt/notesMasters/notesMaster1.xml" Id="Rd383ef82a14b4e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a3015d6a2d4a39" /><Relationship Type="http://schemas.openxmlformats.org/officeDocument/2006/relationships/notesMaster" Target="/ppt/notesMasters/notesMaster1.xml" Id="R24a5c235fae846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e07be86618447d" /><Relationship Type="http://schemas.openxmlformats.org/officeDocument/2006/relationships/notesMaster" Target="/ppt/notesMasters/notesMaster1.xml" Id="R8be7ae2e4d224a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787dbe5d6c4805" /><Relationship Type="http://schemas.openxmlformats.org/officeDocument/2006/relationships/notesMaster" Target="/ppt/notesMasters/notesMaster1.xml" Id="Re136c1fa43ec41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78468ce89d45da" /><Relationship Type="http://schemas.openxmlformats.org/officeDocument/2006/relationships/notesMaster" Target="/ppt/notesMasters/notesMaster1.xml" Id="R9e7a6bbee72c40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f580ebfde84ef0" /><Relationship Type="http://schemas.openxmlformats.org/officeDocument/2006/relationships/notesMaster" Target="/ppt/notesMasters/notesMaster1.xml" Id="Rc3605d658ef64d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27d78c89a3493f" /><Relationship Type="http://schemas.openxmlformats.org/officeDocument/2006/relationships/notesMaster" Target="/ppt/notesMasters/notesMaster1.xml" Id="R04704c1389bd43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e65621298047f3" /><Relationship Type="http://schemas.openxmlformats.org/officeDocument/2006/relationships/notesMaster" Target="/ppt/notesMasters/notesMaster1.xml" Id="R340d727714b84e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2fda1d0deb042b6" /><Relationship Type="http://schemas.openxmlformats.org/officeDocument/2006/relationships/notesMaster" Target="/ppt/notesMasters/notesMaster1.xml" Id="R36c9b59a0d1c4cf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daecaaaae614834" /><Relationship Type="http://schemas.openxmlformats.org/officeDocument/2006/relationships/notesMaster" Target="/ppt/notesMasters/notesMaster1.xml" Id="Rd77ca382cca04c6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d90781c03043d4" /><Relationship Type="http://schemas.openxmlformats.org/officeDocument/2006/relationships/notesMaster" Target="/ppt/notesMasters/notesMaster1.xml" Id="R29e073ebee2046f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155df1cdf44477" /><Relationship Type="http://schemas.openxmlformats.org/officeDocument/2006/relationships/notesMaster" Target="/ppt/notesMasters/notesMaster1.xml" Id="R966a43d53a184b6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88675420d30483b" /><Relationship Type="http://schemas.openxmlformats.org/officeDocument/2006/relationships/notesMaster" Target="/ppt/notesMasters/notesMaster1.xml" Id="R8d6198be77614ae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f69231311e64f4d" /><Relationship Type="http://schemas.openxmlformats.org/officeDocument/2006/relationships/notesMaster" Target="/ppt/notesMasters/notesMaster1.xml" Id="R855c1d68cb234b0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e906e8d9a104aa0" /><Relationship Type="http://schemas.openxmlformats.org/officeDocument/2006/relationships/notesMaster" Target="/ppt/notesMasters/notesMaster1.xml" Id="R8978e954c38947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le sujet. Il s’agit d’une étude en simulation 2D, avec apprentissage supervisé par imitation. Annoncer une présentation de 15 à 20 minutes, hors questions. Source : page de garde et introduction du mémoire.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Distinguer la commande locale du calcul de la mission partagée. La navigation utilise une carte connue et un planificateur classique. Ne pas présenter toute la chaîne comme apprise. Source : introduction et méthodologie.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résultat attendu est une évaluation mesurée, avec ses limites. Les tests du code et les essais du modèle répondent à deux questions différentes. Source : introduction, objectifs et méthodes.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Aucun mouvement vertical ni modèle physique 3D. Les observations viennent des états simulés, sans caméra ni LiDAR réel. Figure du graphe calculée à partir du programme. Source : méthodologie, paramètres physiques ; latex/images/current_graph.png.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cercle est programmé. Il n’est pas une décision spontanée du réseau. L’attribution classe les places par distance ; les identifiants départagent les conflits. Les numéros ne sont pas des entrées du réseau. Source : protocole, guide des expériences.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GAT est un Graph Attention Network. L’attention pondère les informations des voisins. Le modèle ne choisit pas les places à la place du protocole. Le planificateur de navigation est également classique. Source : méthodologie, architecture et commande finale.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Ces nombres concernent le GAT initial. Les fichiers d’entraînement sont 185, validation 20, test 9. Beaucoup d’observations d’une même trajectoire ne représentent pas autant d’essais indépendants. Le test initial réutilise un départ sur neuf formes. Source : run.json initial et méthodologie.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MSE signifie erreur quadratique moyenne. Pas de matrice de confusion pour cette sortie continue. Le GAT initial est retenu à l’époque 11, après arrêt à l’époque 23. Ne pas comparer directement l’échelle de la MSE à celle de la perte composite structurée. Source : journaux d’entraînement et Figure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Formation : erreur de couverture bidirectionnelle entre robots et places, pas seulement une distance moyenne. Les contacts sont vérifiés sur les déplacements entre états enregistrés. Les durées sont simulées. Source : section 3.11 du mémoire.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Résultats du rapport 008d-local-target-expanded-test.json. Le taux porte sur neuf cas, pas sur toutes les formes ni tous les départs. La préparation est classique. Le modèle protégé ne prouve pas la réussite du réseau seul.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rapport 008d, cas geometries_ellipse graine 7300 et archives NPZ associées. Le graphe montre l’erreur et la séparation minimale. Le seuil de contact est 0,20 m entre centres. Le tracé logarithmique borne les très petites erreurs à 10⁻¹² m pour l’affichage seulement.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014-vector-fresh-test.json et audit final. Six cas par effectif : trois formes fois deux graines. Les départs sont proches d’un rendez-vous contrôlé ; il ne s’agit pas de départs arbitraires. La préparation et l’attribution restent classiques.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résultats structurés 014, Figure de décomposition des durées. À 12 robots, stabilisation moyenne 29,43 s ; à 24, 85,23 s. Ne pas confondre temps simulé et temps d’attente réel devant l’ordinateur.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019-near-targets-evaluation.json et audit. Les huit cas comprennent les nombres 5 à 10, un second départ à 10 et une régression à un obstacle. Le visuel illustre le cas à dix obstacles. Le GAT structuré brut n’est pas évalué en navigation.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catalogue du programme et Figure du mémoire. O et cercle partagent une géométrie ; V et la figure en V également. La génération d’une cible ne prouve pas la réussite du modèle sur cette cible.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ces limites clairement. Le graphe local n’annule pas les hypothèses de préparation et de mission partagée. Les résultats obtenus valent pour les conditions enregistrées. Source : discussion, validité interne, externe et de construit.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Conclure sur ce que les essais établissent réellement. Le réseau structuré est prometteur dans son domaine contrôlé. Les perspectives ne sont pas des résultats déjà obtenus. Source : conclusion générale.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Avant la soutenance, lancer le serveur puis ouvrir http://127.0.0.1:8765/. Préparer un résultat enregistré en cas d’indisponibilité de l’application. La démonstration illustre les résultats ; elle ne remplace pas la campagne d’évaluation. Slides 19 et 20 sont des compléments pour les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Exemple oral : les robots 2 et 5 demandent la même place. Le 2 conserve la demande prioritaire ; le 5 choisit la suivante. Un robot qui traverse une place ne devient pas automatiquement son propriétaire. Le réseau apprend la commande, pas cette réservation. Source : protocole d’attribution et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rappel et la matrice de confusion conviennent à une tâche de classification avec catégories annotées. Ils ne sont pas nécessaires pour évaluer directement les accélérations continues de ce modèle. Succès/échec est un verdict de simulation, pas la sortie apprise. Source : concepts et critères d’évaluation.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a392491b4d47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5df1d2bde44c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9395236fb84f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5ecb69083b49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fff213aa0644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abb7dbda8745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E23AB9-8619-4326-96AF-7585D9B6ABD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6F9A4D0-4EF9-4402-8B7E-B19C3E300EC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265FD22-EBF1-4DCE-8D19-CF50084794F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BE3AA5-CA83-407A-BB03-7D92C100D5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B31D948-2E19-40BC-B8AA-F13D1A37117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6B491AA-6EC2-4146-9E7A-8BFDBB81A1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BAC730-4DF0-4F91-B82A-53353E2936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A02C2A6-3EC8-47B0-BEDF-9D7CA883EE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7A962A-E281-42BE-B121-92E33A44F3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0A29F4-CAB0-4AE5-83A3-9BB277287A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644280f8034518" /><Relationship Type="http://schemas.openxmlformats.org/officeDocument/2006/relationships/slideLayout" Target="/ppt/slideLayouts/slideLayout1.xml" Id="R1a48185b01dd4dcd" /><Relationship Type="http://schemas.openxmlformats.org/officeDocument/2006/relationships/slideLayout" Target="/ppt/slideLayouts/slideLayout2.xml" Id="Rd71ed5e81c624909" /><Relationship Type="http://schemas.openxmlformats.org/officeDocument/2006/relationships/slideLayout" Target="/ppt/slideLayouts/slideLayout3.xml" Id="Rf2cc2a7a68e543fb" /><Relationship Type="http://schemas.openxmlformats.org/officeDocument/2006/relationships/slideLayout" Target="/ppt/slideLayouts/slideLayout4.xml" Id="R680217a4b0ef4c24" /><Relationship Type="http://schemas.openxmlformats.org/officeDocument/2006/relationships/slideLayout" Target="/ppt/slideLayouts/slideLayout5.xml" Id="R12fec7f275874fbb" /><Relationship Type="http://schemas.openxmlformats.org/officeDocument/2006/relationships/slideLayout" Target="/ppt/slideLayouts/slideLayout6.xml" Id="Rc16e1cffcc9e40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48185b01dd4dcd"/>
    <p:sldLayoutId xmlns:r="http://schemas.openxmlformats.org/officeDocument/2006/relationships" id="2147483650" r:id="Rd71ed5e81c624909"/>
    <p:sldLayoutId xmlns:r="http://schemas.openxmlformats.org/officeDocument/2006/relationships" id="2147483651" r:id="Rf2cc2a7a68e543fb"/>
    <p:sldLayoutId xmlns:r="http://schemas.openxmlformats.org/officeDocument/2006/relationships" id="2147483652" r:id="R680217a4b0ef4c24"/>
    <p:sldLayoutId xmlns:r="http://schemas.openxmlformats.org/officeDocument/2006/relationships" id="2147483653" r:id="R12fec7f275874fbb"/>
    <p:sldLayoutId xmlns:r="http://schemas.openxmlformats.org/officeDocument/2006/relationships" id="2147483654" r:id="Rc16e1cffcc9e40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236ffb7e794a84" /><Relationship Type="http://schemas.openxmlformats.org/officeDocument/2006/relationships/notesSlide" Target="/ppt/notesSlides/notesSlide1.xml" Id="Rbc75bad5655c40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8d40b3ec60a4979" /><Relationship Type="http://schemas.openxmlformats.org/officeDocument/2006/relationships/notesSlide" Target="/ppt/notesSlides/notesSlide2.xml" Id="R2227cb94ea7a49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c003791b9ff4c8f" /><Relationship Type="http://schemas.openxmlformats.org/officeDocument/2006/relationships/notesSlide" Target="/ppt/notesSlides/notesSlide3.xml" Id="R6d1a1df29abc4b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15e4965ac0412c" /><Relationship Type="http://schemas.openxmlformats.org/officeDocument/2006/relationships/image" Target="/ppt/media/image.png" Id="Rc4f9149985e2417f" /><Relationship Type="http://schemas.openxmlformats.org/officeDocument/2006/relationships/notesSlide" Target="/ppt/notesSlides/notesSlide4.xml" Id="R5ab04367cf7140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8ec8539320b4f82" /><Relationship Type="http://schemas.openxmlformats.org/officeDocument/2006/relationships/notesSlide" Target="/ppt/notesSlides/notesSlide5.xml" Id="R3809d5b69d5a4e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48c9dfcd2084256" /><Relationship Type="http://schemas.openxmlformats.org/officeDocument/2006/relationships/notesSlide" Target="/ppt/notesSlides/notesSlide6.xml" Id="Rfebe4fdf0f5642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a0a230b377147a3" /><Relationship Type="http://schemas.openxmlformats.org/officeDocument/2006/relationships/notesSlide" Target="/ppt/notesSlides/notesSlide7.xml" Id="R2f44f311428540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9e452ec750e4280" /><Relationship Type="http://schemas.openxmlformats.org/officeDocument/2006/relationships/notesSlide" Target="/ppt/notesSlides/notesSlide8.xml" Id="R85b26e7582e44c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a6f7e10d0c5409e" /><Relationship Type="http://schemas.openxmlformats.org/officeDocument/2006/relationships/notesSlide" Target="/ppt/notesSlides/notesSlide9.xml" Id="R925932d594f444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da488060e1f4f40" /><Relationship Type="http://schemas.openxmlformats.org/officeDocument/2006/relationships/notesSlide" Target="/ppt/notesSlides/notesSlide10.xml" Id="Reee882a0ff154c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8b0a1f430244ca8" /><Relationship Type="http://schemas.openxmlformats.org/officeDocument/2006/relationships/image" Target="/ppt/media/image2.png" Id="R79d7d7a5baa94eaf" /><Relationship Type="http://schemas.openxmlformats.org/officeDocument/2006/relationships/notesSlide" Target="/ppt/notesSlides/notesSlide11.xml" Id="R6c07a711ac3b441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ae3cad7746546dd" /><Relationship Type="http://schemas.openxmlformats.org/officeDocument/2006/relationships/notesSlide" Target="/ppt/notesSlides/notesSlide12.xml" Id="R00fcc8ae5e4d4e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2fa019b11c64b58" /><Relationship Type="http://schemas.openxmlformats.org/officeDocument/2006/relationships/image" Target="/ppt/media/image3.png" Id="R0361ee56158d41a1" /><Relationship Type="http://schemas.openxmlformats.org/officeDocument/2006/relationships/notesSlide" Target="/ppt/notesSlides/notesSlide13.xml" Id="R9aaf6b804bec48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821492fc82d4a44" /><Relationship Type="http://schemas.openxmlformats.org/officeDocument/2006/relationships/image" Target="/ppt/media/image4.png" Id="Rb727d68915e64cf7" /><Relationship Type="http://schemas.openxmlformats.org/officeDocument/2006/relationships/notesSlide" Target="/ppt/notesSlides/notesSlide14.xml" Id="Rc4413f28262240f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f1930c9c145468e" /><Relationship Type="http://schemas.openxmlformats.org/officeDocument/2006/relationships/image" Target="/ppt/media/image5.png" Id="R0662b8f51124481c" /><Relationship Type="http://schemas.openxmlformats.org/officeDocument/2006/relationships/notesSlide" Target="/ppt/notesSlides/notesSlide15.xml" Id="R57e3c1a26a0f4ae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d56ed99d87f4fbc" /><Relationship Type="http://schemas.openxmlformats.org/officeDocument/2006/relationships/notesSlide" Target="/ppt/notesSlides/notesSlide16.xml" Id="R92cc8e0940fc447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7fc415610694167" /><Relationship Type="http://schemas.openxmlformats.org/officeDocument/2006/relationships/notesSlide" Target="/ppt/notesSlides/notesSlide17.xml" Id="Rccf85a943a7e457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61132efa59144a0" /><Relationship Type="http://schemas.openxmlformats.org/officeDocument/2006/relationships/notesSlide" Target="/ppt/notesSlides/notesSlide18.xml" Id="Ra1bdf9f988c74f0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c420d3fa7f24276" /><Relationship Type="http://schemas.openxmlformats.org/officeDocument/2006/relationships/notesSlide" Target="/ppt/notesSlides/notesSlide19.xml" Id="R9cf97b035de64c7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83bf356315e44e4" /><Relationship Type="http://schemas.openxmlformats.org/officeDocument/2006/relationships/notesSlide" Target="/ppt/notesSlides/notesSlide20.xml" Id="R8878ae1b33d04f6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3426FDB-097D-4A6C-A347-3944A08FC1A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9707B8-BE05-4864-B978-2CB2FF86A4AA}"/>
              </a:ext>
            </a:extLst>
          </p:cNvPr>
          <p:cNvSpPr>
            <a:spLocks xmlns:a="http://schemas.openxmlformats.org/drawingml/2006/main" noGrp="1"/>
          </p:cNvSpPr>
          <p:nvPr/>
        </p:nvSpPr>
        <p:spPr>
          <a:xfrm xmlns:a="http://schemas.openxmlformats.org/drawingml/2006/main">
            <a:off x="552450" y="6858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3B50"/>
                </a:solidFill>
                <a:latin typeface="Arial"/>
                <a:ea typeface="Arial"/>
                <a:cs typeface="Arial"/>
              </a:defRPr>
            </a:defPPr>
            <a:lvl1pPr>
              <a:defRPr sz="3450" b="1">
                <a:solidFill>
                  <a:srgbClr val="103B50"/>
                </a:solidFill>
                <a:latin typeface="Arial"/>
                <a:ea typeface="Arial"/>
                <a:cs typeface="Arial"/>
              </a:defRPr>
            </a:lvl1pPr>
            <a:lvl2pPr>
              <a:defRPr sz="3450" b="1">
                <a:solidFill>
                  <a:srgbClr val="103B50"/>
                </a:solidFill>
                <a:latin typeface="Arial"/>
                <a:ea typeface="Arial"/>
                <a:cs typeface="Arial"/>
              </a:defRPr>
            </a:lvl2pPr>
            <a:lvl3pPr>
              <a:defRPr sz="3450" b="1">
                <a:solidFill>
                  <a:srgbClr val="103B50"/>
                </a:solidFill>
                <a:latin typeface="Arial"/>
                <a:ea typeface="Arial"/>
                <a:cs typeface="Arial"/>
              </a:defRPr>
            </a:lvl3pPr>
            <a:lvl4pPr>
              <a:defRPr sz="3450" b="1">
                <a:solidFill>
                  <a:srgbClr val="103B50"/>
                </a:solidFill>
                <a:latin typeface="Arial"/>
                <a:ea typeface="Arial"/>
                <a:cs typeface="Arial"/>
              </a:defRPr>
            </a:lvl4pPr>
            <a:lvl5pPr>
              <a:defRPr sz="3450" b="1">
                <a:solidFill>
                  <a:srgbClr val="103B50"/>
                </a:solidFill>
                <a:latin typeface="Arial"/>
                <a:ea typeface="Arial"/>
                <a:cs typeface="Arial"/>
              </a:defRPr>
            </a:lvl5pPr>
            <a:lvl6pPr>
              <a:defRPr sz="3450" b="1">
                <a:solidFill>
                  <a:srgbClr val="103B50"/>
                </a:solidFill>
                <a:latin typeface="Arial"/>
                <a:ea typeface="Arial"/>
                <a:cs typeface="Arial"/>
              </a:defRPr>
            </a:lvl6pPr>
            <a:lvl7pPr>
              <a:defRPr sz="3450" b="1">
                <a:solidFill>
                  <a:srgbClr val="103B50"/>
                </a:solidFill>
                <a:latin typeface="Arial"/>
                <a:ea typeface="Arial"/>
                <a:cs typeface="Arial"/>
              </a:defRPr>
            </a:lvl7pPr>
            <a:lvl8pPr>
              <a:defRPr sz="3450" b="1">
                <a:solidFill>
                  <a:srgbClr val="103B50"/>
                </a:solidFill>
                <a:latin typeface="Arial"/>
                <a:ea typeface="Arial"/>
                <a:cs typeface="Arial"/>
              </a:defRPr>
            </a:lvl8pPr>
            <a:lvl9pPr>
              <a:defRPr sz="3450" b="1">
                <a:solidFill>
                  <a:srgbClr val="103B50"/>
                </a:solidFill>
                <a:latin typeface="Arial"/>
                <a:ea typeface="Arial"/>
                <a:cs typeface="Arial"/>
              </a:defRPr>
            </a:lvl9pPr>
          </a:lstStyle>
          <a:p xmlns:a="http://schemas.openxmlformats.org/drawingml/2006/main">
            <a:pPr>
              <a:defRPr sz="3450" b="1">
                <a:solidFill>
                  <a:srgbClr val="103B50"/>
                </a:solidFill>
                <a:latin typeface="Arial"/>
                <a:ea typeface="Arial"/>
                <a:cs typeface="Arial"/>
              </a:defRPr>
            </a:pPr>
            <a:r>
              <a:rPr sz="3450" b="1">
                <a:solidFill>
                  <a:srgbClr val="103B50"/>
                </a:solidFill>
                <a:latin typeface="Arial"/>
                <a:ea typeface="Arial"/>
                <a:cs typeface="Arial"/>
              </a:rPr>
              <a:t>Contrôle décentralisé d’un essaim de robots</a:t>
            </a:r>
          </a:p>
        </p:txBody>
      </p:sp>
      <p:sp>
        <p:nvSpPr>
          <p:cNvPr id="3" name="">
            <a:extLst xmlns:a="http://schemas.openxmlformats.org/drawingml/2006/main">
              <a:ext uri="{FF2B5EF4-FFF2-40B4-BE49-F238E27FC236}">
                <a16:creationId xmlns:a16="http://schemas.microsoft.com/office/drawing/2014/main" id="{D048CFA3-5FEB-4FE6-BF44-420498753D27}"/>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1 / 20</a:t>
            </a:r>
          </a:p>
        </p:txBody>
      </p:sp>
      <p:sp>
        <p:nvSpPr>
          <p:cNvPr id="4" name="">
            <a:extLst xmlns:a="http://schemas.openxmlformats.org/drawingml/2006/main">
              <a:ext uri="{FF2B5EF4-FFF2-40B4-BE49-F238E27FC236}">
                <a16:creationId xmlns:a16="http://schemas.microsoft.com/office/drawing/2014/main" id="{96A36719-53E8-43AC-9223-9BB72EF075A4}"/>
              </a:ext>
            </a:extLst>
          </p:cNvPr>
          <p:cNvSpPr>
            <a:spLocks xmlns:a="http://schemas.openxmlformats.org/drawingml/2006/main" noGrp="1"/>
          </p:cNvSpPr>
          <p:nvPr/>
        </p:nvSpPr>
        <p:spPr>
          <a:xfrm xmlns:a="http://schemas.openxmlformats.org/drawingml/2006/main">
            <a:off x="590550" y="21431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33747"/>
                </a:solidFill>
                <a:latin typeface="Arial"/>
                <a:ea typeface="Arial"/>
                <a:cs typeface="Arial"/>
              </a:defRPr>
            </a:defPPr>
            <a:lvl1pPr>
              <a:defRPr sz="2325" b="0">
                <a:solidFill>
                  <a:srgbClr val="233747"/>
                </a:solidFill>
                <a:latin typeface="Arial"/>
                <a:ea typeface="Arial"/>
                <a:cs typeface="Arial"/>
              </a:defRPr>
            </a:lvl1pPr>
            <a:lvl2pPr>
              <a:defRPr sz="2325" b="0">
                <a:solidFill>
                  <a:srgbClr val="233747"/>
                </a:solidFill>
                <a:latin typeface="Arial"/>
                <a:ea typeface="Arial"/>
                <a:cs typeface="Arial"/>
              </a:defRPr>
            </a:lvl2pPr>
            <a:lvl3pPr>
              <a:defRPr sz="2325" b="0">
                <a:solidFill>
                  <a:srgbClr val="233747"/>
                </a:solidFill>
                <a:latin typeface="Arial"/>
                <a:ea typeface="Arial"/>
                <a:cs typeface="Arial"/>
              </a:defRPr>
            </a:lvl3pPr>
            <a:lvl4pPr>
              <a:defRPr sz="2325" b="0">
                <a:solidFill>
                  <a:srgbClr val="233747"/>
                </a:solidFill>
                <a:latin typeface="Arial"/>
                <a:ea typeface="Arial"/>
                <a:cs typeface="Arial"/>
              </a:defRPr>
            </a:lvl4pPr>
            <a:lvl5pPr>
              <a:defRPr sz="2325" b="0">
                <a:solidFill>
                  <a:srgbClr val="233747"/>
                </a:solidFill>
                <a:latin typeface="Arial"/>
                <a:ea typeface="Arial"/>
                <a:cs typeface="Arial"/>
              </a:defRPr>
            </a:lvl5pPr>
            <a:lvl6pPr>
              <a:defRPr sz="2325" b="0">
                <a:solidFill>
                  <a:srgbClr val="233747"/>
                </a:solidFill>
                <a:latin typeface="Arial"/>
                <a:ea typeface="Arial"/>
                <a:cs typeface="Arial"/>
              </a:defRPr>
            </a:lvl6pPr>
            <a:lvl7pPr>
              <a:defRPr sz="2325" b="0">
                <a:solidFill>
                  <a:srgbClr val="233747"/>
                </a:solidFill>
                <a:latin typeface="Arial"/>
                <a:ea typeface="Arial"/>
                <a:cs typeface="Arial"/>
              </a:defRPr>
            </a:lvl7pPr>
            <a:lvl8pPr>
              <a:defRPr sz="2325" b="0">
                <a:solidFill>
                  <a:srgbClr val="233747"/>
                </a:solidFill>
                <a:latin typeface="Arial"/>
                <a:ea typeface="Arial"/>
                <a:cs typeface="Arial"/>
              </a:defRPr>
            </a:lvl8pPr>
            <a:lvl9pPr>
              <a:defRPr sz="2325" b="0">
                <a:solidFill>
                  <a:srgbClr val="233747"/>
                </a:solidFill>
                <a:latin typeface="Arial"/>
                <a:ea typeface="Arial"/>
                <a:cs typeface="Arial"/>
              </a:defRPr>
            </a:lvl9pPr>
          </a:lstStyle>
          <a:p xmlns:a="http://schemas.openxmlformats.org/drawingml/2006/main">
            <a:pPr>
              <a:defRPr sz="2325" b="0">
                <a:solidFill>
                  <a:srgbClr val="233747"/>
                </a:solidFill>
                <a:latin typeface="Arial"/>
                <a:ea typeface="Arial"/>
                <a:cs typeface="Arial"/>
              </a:defRPr>
            </a:pPr>
            <a:r>
              <a:rPr sz="2325" b="0">
                <a:solidFill>
                  <a:srgbClr val="233747"/>
                </a:solidFill>
                <a:latin typeface="Arial"/>
                <a:ea typeface="Arial"/>
                <a:cs typeface="Arial"/>
              </a:rPr>
              <a:t>Réseaux de neurones sur graphe</a:t>
            </a:r>
          </a:p>
        </p:txBody>
      </p:sp>
      <p:sp>
        <p:nvSpPr>
          <p:cNvPr id="5" name="">
            <a:extLst xmlns:a="http://schemas.openxmlformats.org/drawingml/2006/main">
              <a:ext uri="{FF2B5EF4-FFF2-40B4-BE49-F238E27FC236}">
                <a16:creationId xmlns:a16="http://schemas.microsoft.com/office/drawing/2014/main" id="{2D3D42F9-D1E2-4D3F-9DA9-EBE7788C9766}"/>
              </a:ext>
            </a:extLst>
          </p:cNvPr>
          <p:cNvSpPr>
            <a:spLocks xmlns:a="http://schemas.openxmlformats.org/drawingml/2006/main" noGrp="1"/>
          </p:cNvSpPr>
          <p:nvPr/>
        </p:nvSpPr>
        <p:spPr>
          <a:xfrm xmlns:a="http://schemas.openxmlformats.org/drawingml/2006/main">
            <a:off x="590550" y="2695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33747"/>
                </a:solidFill>
                <a:latin typeface="Arial"/>
                <a:ea typeface="Arial"/>
                <a:cs typeface="Arial"/>
              </a:defRPr>
            </a:defPPr>
            <a:lvl1pPr>
              <a:defRPr sz="1875" b="0">
                <a:solidFill>
                  <a:srgbClr val="233747"/>
                </a:solidFill>
                <a:latin typeface="Arial"/>
                <a:ea typeface="Arial"/>
                <a:cs typeface="Arial"/>
              </a:defRPr>
            </a:lvl1pPr>
            <a:lvl2pPr>
              <a:defRPr sz="1875" b="0">
                <a:solidFill>
                  <a:srgbClr val="233747"/>
                </a:solidFill>
                <a:latin typeface="Arial"/>
                <a:ea typeface="Arial"/>
                <a:cs typeface="Arial"/>
              </a:defRPr>
            </a:lvl2pPr>
            <a:lvl3pPr>
              <a:defRPr sz="1875" b="0">
                <a:solidFill>
                  <a:srgbClr val="233747"/>
                </a:solidFill>
                <a:latin typeface="Arial"/>
                <a:ea typeface="Arial"/>
                <a:cs typeface="Arial"/>
              </a:defRPr>
            </a:lvl3pPr>
            <a:lvl4pPr>
              <a:defRPr sz="1875" b="0">
                <a:solidFill>
                  <a:srgbClr val="233747"/>
                </a:solidFill>
                <a:latin typeface="Arial"/>
                <a:ea typeface="Arial"/>
                <a:cs typeface="Arial"/>
              </a:defRPr>
            </a:lvl4pPr>
            <a:lvl5pPr>
              <a:defRPr sz="1875" b="0">
                <a:solidFill>
                  <a:srgbClr val="233747"/>
                </a:solidFill>
                <a:latin typeface="Arial"/>
                <a:ea typeface="Arial"/>
                <a:cs typeface="Arial"/>
              </a:defRPr>
            </a:lvl5pPr>
            <a:lvl6pPr>
              <a:defRPr sz="1875" b="0">
                <a:solidFill>
                  <a:srgbClr val="233747"/>
                </a:solidFill>
                <a:latin typeface="Arial"/>
                <a:ea typeface="Arial"/>
                <a:cs typeface="Arial"/>
              </a:defRPr>
            </a:lvl6pPr>
            <a:lvl7pPr>
              <a:defRPr sz="1875" b="0">
                <a:solidFill>
                  <a:srgbClr val="233747"/>
                </a:solidFill>
                <a:latin typeface="Arial"/>
                <a:ea typeface="Arial"/>
                <a:cs typeface="Arial"/>
              </a:defRPr>
            </a:lvl7pPr>
            <a:lvl8pPr>
              <a:defRPr sz="1875" b="0">
                <a:solidFill>
                  <a:srgbClr val="233747"/>
                </a:solidFill>
                <a:latin typeface="Arial"/>
                <a:ea typeface="Arial"/>
                <a:cs typeface="Arial"/>
              </a:defRPr>
            </a:lvl8pPr>
            <a:lvl9pPr>
              <a:defRPr sz="1875" b="0">
                <a:solidFill>
                  <a:srgbClr val="233747"/>
                </a:solidFill>
                <a:latin typeface="Arial"/>
                <a:ea typeface="Arial"/>
                <a:cs typeface="Arial"/>
              </a:defRPr>
            </a:lvl9pPr>
          </a:lstStyle>
          <a:p xmlns:a="http://schemas.openxmlformats.org/drawingml/2006/main">
            <a:pPr>
              <a:defRPr sz="1875" b="0">
                <a:solidFill>
                  <a:srgbClr val="233747"/>
                </a:solidFill>
                <a:latin typeface="Arial"/>
                <a:ea typeface="Arial"/>
                <a:cs typeface="Arial"/>
              </a:defRPr>
            </a:pPr>
            <a:r>
              <a:rPr sz="1875" b="0">
                <a:solidFill>
                  <a:srgbClr val="233747"/>
                </a:solidFill>
                <a:latin typeface="Arial"/>
                <a:ea typeface="Arial"/>
                <a:cs typeface="Arial"/>
              </a:rPr>
              <a:t>Mémoire de Master · Informatique</a:t>
            </a:r>
          </a:p>
        </p:txBody>
      </p:sp>
      <p:sp>
        <p:nvSpPr>
          <p:cNvPr id="6" name="">
            <a:extLst xmlns:a="http://schemas.openxmlformats.org/drawingml/2006/main">
              <a:ext uri="{FF2B5EF4-FFF2-40B4-BE49-F238E27FC236}">
                <a16:creationId xmlns:a16="http://schemas.microsoft.com/office/drawing/2014/main" id="{F20116B4-1606-4622-9087-284B6C359837}"/>
              </a:ext>
            </a:extLst>
          </p:cNvPr>
          <p:cNvSpPr>
            <a:spLocks xmlns:a="http://schemas.openxmlformats.org/drawingml/2006/main" noGrp="1"/>
          </p:cNvSpPr>
          <p:nvPr/>
        </p:nvSpPr>
        <p:spPr>
          <a:xfrm xmlns:a="http://schemas.openxmlformats.org/drawingml/2006/main">
            <a:off x="590550" y="32480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33747"/>
                </a:solidFill>
                <a:latin typeface="Arial"/>
                <a:ea typeface="Arial"/>
                <a:cs typeface="Arial"/>
              </a:defRPr>
            </a:defPPr>
            <a:lvl1pPr>
              <a:defRPr sz="1875" b="0">
                <a:solidFill>
                  <a:srgbClr val="233747"/>
                </a:solidFill>
                <a:latin typeface="Arial"/>
                <a:ea typeface="Arial"/>
                <a:cs typeface="Arial"/>
              </a:defRPr>
            </a:lvl1pPr>
            <a:lvl2pPr>
              <a:defRPr sz="1875" b="0">
                <a:solidFill>
                  <a:srgbClr val="233747"/>
                </a:solidFill>
                <a:latin typeface="Arial"/>
                <a:ea typeface="Arial"/>
                <a:cs typeface="Arial"/>
              </a:defRPr>
            </a:lvl2pPr>
            <a:lvl3pPr>
              <a:defRPr sz="1875" b="0">
                <a:solidFill>
                  <a:srgbClr val="233747"/>
                </a:solidFill>
                <a:latin typeface="Arial"/>
                <a:ea typeface="Arial"/>
                <a:cs typeface="Arial"/>
              </a:defRPr>
            </a:lvl3pPr>
            <a:lvl4pPr>
              <a:defRPr sz="1875" b="0">
                <a:solidFill>
                  <a:srgbClr val="233747"/>
                </a:solidFill>
                <a:latin typeface="Arial"/>
                <a:ea typeface="Arial"/>
                <a:cs typeface="Arial"/>
              </a:defRPr>
            </a:lvl4pPr>
            <a:lvl5pPr>
              <a:defRPr sz="1875" b="0">
                <a:solidFill>
                  <a:srgbClr val="233747"/>
                </a:solidFill>
                <a:latin typeface="Arial"/>
                <a:ea typeface="Arial"/>
                <a:cs typeface="Arial"/>
              </a:defRPr>
            </a:lvl5pPr>
            <a:lvl6pPr>
              <a:defRPr sz="1875" b="0">
                <a:solidFill>
                  <a:srgbClr val="233747"/>
                </a:solidFill>
                <a:latin typeface="Arial"/>
                <a:ea typeface="Arial"/>
                <a:cs typeface="Arial"/>
              </a:defRPr>
            </a:lvl6pPr>
            <a:lvl7pPr>
              <a:defRPr sz="1875" b="0">
                <a:solidFill>
                  <a:srgbClr val="233747"/>
                </a:solidFill>
                <a:latin typeface="Arial"/>
                <a:ea typeface="Arial"/>
                <a:cs typeface="Arial"/>
              </a:defRPr>
            </a:lvl7pPr>
            <a:lvl8pPr>
              <a:defRPr sz="1875" b="0">
                <a:solidFill>
                  <a:srgbClr val="233747"/>
                </a:solidFill>
                <a:latin typeface="Arial"/>
                <a:ea typeface="Arial"/>
                <a:cs typeface="Arial"/>
              </a:defRPr>
            </a:lvl8pPr>
            <a:lvl9pPr>
              <a:defRPr sz="1875" b="0">
                <a:solidFill>
                  <a:srgbClr val="233747"/>
                </a:solidFill>
                <a:latin typeface="Arial"/>
                <a:ea typeface="Arial"/>
                <a:cs typeface="Arial"/>
              </a:defRPr>
            </a:lvl9pPr>
          </a:lstStyle>
          <a:p xmlns:a="http://schemas.openxmlformats.org/drawingml/2006/main">
            <a:pPr>
              <a:defRPr sz="1875" b="0">
                <a:solidFill>
                  <a:srgbClr val="233747"/>
                </a:solidFill>
                <a:latin typeface="Arial"/>
                <a:ea typeface="Arial"/>
                <a:cs typeface="Arial"/>
              </a:defRPr>
            </a:pPr>
            <a:r>
              <a:rPr sz="1875" b="0">
                <a:solidFill>
                  <a:srgbClr val="233747"/>
                </a:solidFill>
                <a:latin typeface="Arial"/>
                <a:ea typeface="Arial"/>
                <a:cs typeface="Arial"/>
              </a:rPr>
              <a:t>Intelligence artificielle et Sciences des données</a:t>
            </a:r>
          </a:p>
        </p:txBody>
      </p:sp>
      <p:sp>
        <p:nvSpPr>
          <p:cNvPr id="7" name="">
            <a:extLst xmlns:a="http://schemas.openxmlformats.org/drawingml/2006/main">
              <a:ext uri="{FF2B5EF4-FFF2-40B4-BE49-F238E27FC236}">
                <a16:creationId xmlns:a16="http://schemas.microsoft.com/office/drawing/2014/main" id="{E05DB625-6B34-4A5A-B780-FA9E5DD95C6C}"/>
              </a:ext>
            </a:extLst>
          </p:cNvPr>
          <p:cNvSpPr>
            <a:spLocks xmlns:a="http://schemas.openxmlformats.org/drawingml/2006/main" noGrp="1"/>
          </p:cNvSpPr>
          <p:nvPr/>
        </p:nvSpPr>
        <p:spPr>
          <a:xfrm xmlns:a="http://schemas.openxmlformats.org/drawingml/2006/main">
            <a:off x="590550" y="38004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7F8C"/>
                </a:solidFill>
                <a:latin typeface="Arial"/>
                <a:ea typeface="Arial"/>
                <a:cs typeface="Arial"/>
              </a:defRPr>
            </a:defPPr>
            <a:lvl1pPr>
              <a:defRPr sz="1875" b="1">
                <a:solidFill>
                  <a:srgbClr val="087F8C"/>
                </a:solidFill>
                <a:latin typeface="Arial"/>
                <a:ea typeface="Arial"/>
                <a:cs typeface="Arial"/>
              </a:defRPr>
            </a:lvl1pPr>
            <a:lvl2pPr>
              <a:defRPr sz="1875" b="1">
                <a:solidFill>
                  <a:srgbClr val="087F8C"/>
                </a:solidFill>
                <a:latin typeface="Arial"/>
                <a:ea typeface="Arial"/>
                <a:cs typeface="Arial"/>
              </a:defRPr>
            </a:lvl2pPr>
            <a:lvl3pPr>
              <a:defRPr sz="1875" b="1">
                <a:solidFill>
                  <a:srgbClr val="087F8C"/>
                </a:solidFill>
                <a:latin typeface="Arial"/>
                <a:ea typeface="Arial"/>
                <a:cs typeface="Arial"/>
              </a:defRPr>
            </a:lvl3pPr>
            <a:lvl4pPr>
              <a:defRPr sz="1875" b="1">
                <a:solidFill>
                  <a:srgbClr val="087F8C"/>
                </a:solidFill>
                <a:latin typeface="Arial"/>
                <a:ea typeface="Arial"/>
                <a:cs typeface="Arial"/>
              </a:defRPr>
            </a:lvl4pPr>
            <a:lvl5pPr>
              <a:defRPr sz="1875" b="1">
                <a:solidFill>
                  <a:srgbClr val="087F8C"/>
                </a:solidFill>
                <a:latin typeface="Arial"/>
                <a:ea typeface="Arial"/>
                <a:cs typeface="Arial"/>
              </a:defRPr>
            </a:lvl5pPr>
            <a:lvl6pPr>
              <a:defRPr sz="1875" b="1">
                <a:solidFill>
                  <a:srgbClr val="087F8C"/>
                </a:solidFill>
                <a:latin typeface="Arial"/>
                <a:ea typeface="Arial"/>
                <a:cs typeface="Arial"/>
              </a:defRPr>
            </a:lvl6pPr>
            <a:lvl7pPr>
              <a:defRPr sz="1875" b="1">
                <a:solidFill>
                  <a:srgbClr val="087F8C"/>
                </a:solidFill>
                <a:latin typeface="Arial"/>
                <a:ea typeface="Arial"/>
                <a:cs typeface="Arial"/>
              </a:defRPr>
            </a:lvl7pPr>
            <a:lvl8pPr>
              <a:defRPr sz="1875" b="1">
                <a:solidFill>
                  <a:srgbClr val="087F8C"/>
                </a:solidFill>
                <a:latin typeface="Arial"/>
                <a:ea typeface="Arial"/>
                <a:cs typeface="Arial"/>
              </a:defRPr>
            </a:lvl8pPr>
            <a:lvl9pPr>
              <a:defRPr sz="1875" b="1">
                <a:solidFill>
                  <a:srgbClr val="087F8C"/>
                </a:solidFill>
                <a:latin typeface="Arial"/>
                <a:ea typeface="Arial"/>
                <a:cs typeface="Arial"/>
              </a:defRPr>
            </a:lvl9pPr>
          </a:lstStyle>
          <a:p xmlns:a="http://schemas.openxmlformats.org/drawingml/2006/main">
            <a:pPr>
              <a:defRPr sz="1875" b="1">
                <a:solidFill>
                  <a:srgbClr val="087F8C"/>
                </a:solidFill>
                <a:latin typeface="Arial"/>
                <a:ea typeface="Arial"/>
                <a:cs typeface="Arial"/>
              </a:defRPr>
            </a:pPr>
            <a:r>
              <a:rPr sz="1875" b="1">
                <a:solidFill>
                  <a:srgbClr val="087F8C"/>
                </a:solidFill>
                <a:latin typeface="Arial"/>
                <a:ea typeface="Arial"/>
                <a:cs typeface="Arial"/>
              </a:rPr>
              <a:t>MWANAMPUTU LABEYA Laurent</a:t>
            </a:r>
          </a:p>
        </p:txBody>
      </p:sp>
      <p:sp>
        <p:nvSpPr>
          <p:cNvPr id="8" name="">
            <a:extLst xmlns:a="http://schemas.openxmlformats.org/drawingml/2006/main">
              <a:ext uri="{FF2B5EF4-FFF2-40B4-BE49-F238E27FC236}">
                <a16:creationId xmlns:a16="http://schemas.microsoft.com/office/drawing/2014/main" id="{209BB416-81A6-4C38-808F-F4906EBAE8F4}"/>
              </a:ext>
            </a:extLst>
          </p:cNvPr>
          <p:cNvSpPr>
            <a:spLocks xmlns:a="http://schemas.openxmlformats.org/drawingml/2006/main" noGrp="1"/>
          </p:cNvSpPr>
          <p:nvPr/>
        </p:nvSpPr>
        <p:spPr>
          <a:xfrm xmlns:a="http://schemas.openxmlformats.org/drawingml/2006/main">
            <a:off x="590550" y="43529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33747"/>
                </a:solidFill>
                <a:latin typeface="Arial"/>
                <a:ea typeface="Arial"/>
                <a:cs typeface="Arial"/>
              </a:defRPr>
            </a:defPPr>
            <a:lvl1pPr>
              <a:defRPr sz="1875" b="0">
                <a:solidFill>
                  <a:srgbClr val="233747"/>
                </a:solidFill>
                <a:latin typeface="Arial"/>
                <a:ea typeface="Arial"/>
                <a:cs typeface="Arial"/>
              </a:defRPr>
            </a:lvl1pPr>
            <a:lvl2pPr>
              <a:defRPr sz="1875" b="0">
                <a:solidFill>
                  <a:srgbClr val="233747"/>
                </a:solidFill>
                <a:latin typeface="Arial"/>
                <a:ea typeface="Arial"/>
                <a:cs typeface="Arial"/>
              </a:defRPr>
            </a:lvl2pPr>
            <a:lvl3pPr>
              <a:defRPr sz="1875" b="0">
                <a:solidFill>
                  <a:srgbClr val="233747"/>
                </a:solidFill>
                <a:latin typeface="Arial"/>
                <a:ea typeface="Arial"/>
                <a:cs typeface="Arial"/>
              </a:defRPr>
            </a:lvl3pPr>
            <a:lvl4pPr>
              <a:defRPr sz="1875" b="0">
                <a:solidFill>
                  <a:srgbClr val="233747"/>
                </a:solidFill>
                <a:latin typeface="Arial"/>
                <a:ea typeface="Arial"/>
                <a:cs typeface="Arial"/>
              </a:defRPr>
            </a:lvl4pPr>
            <a:lvl5pPr>
              <a:defRPr sz="1875" b="0">
                <a:solidFill>
                  <a:srgbClr val="233747"/>
                </a:solidFill>
                <a:latin typeface="Arial"/>
                <a:ea typeface="Arial"/>
                <a:cs typeface="Arial"/>
              </a:defRPr>
            </a:lvl5pPr>
            <a:lvl6pPr>
              <a:defRPr sz="1875" b="0">
                <a:solidFill>
                  <a:srgbClr val="233747"/>
                </a:solidFill>
                <a:latin typeface="Arial"/>
                <a:ea typeface="Arial"/>
                <a:cs typeface="Arial"/>
              </a:defRPr>
            </a:lvl6pPr>
            <a:lvl7pPr>
              <a:defRPr sz="1875" b="0">
                <a:solidFill>
                  <a:srgbClr val="233747"/>
                </a:solidFill>
                <a:latin typeface="Arial"/>
                <a:ea typeface="Arial"/>
                <a:cs typeface="Arial"/>
              </a:defRPr>
            </a:lvl7pPr>
            <a:lvl8pPr>
              <a:defRPr sz="1875" b="0">
                <a:solidFill>
                  <a:srgbClr val="233747"/>
                </a:solidFill>
                <a:latin typeface="Arial"/>
                <a:ea typeface="Arial"/>
                <a:cs typeface="Arial"/>
              </a:defRPr>
            </a:lvl8pPr>
            <a:lvl9pPr>
              <a:defRPr sz="1875" b="0">
                <a:solidFill>
                  <a:srgbClr val="233747"/>
                </a:solidFill>
                <a:latin typeface="Arial"/>
                <a:ea typeface="Arial"/>
                <a:cs typeface="Arial"/>
              </a:defRPr>
            </a:lvl9pPr>
          </a:lstStyle>
          <a:p xmlns:a="http://schemas.openxmlformats.org/drawingml/2006/main">
            <a:pPr>
              <a:defRPr sz="1875" b="0">
                <a:solidFill>
                  <a:srgbClr val="233747"/>
                </a:solidFill>
                <a:latin typeface="Arial"/>
                <a:ea typeface="Arial"/>
                <a:cs typeface="Arial"/>
              </a:defRPr>
            </a:pPr>
            <a:r>
              <a:rPr sz="1875" b="0">
                <a:solidFill>
                  <a:srgbClr val="233747"/>
                </a:solidFill>
                <a:latin typeface="Arial"/>
                <a:ea typeface="Arial"/>
                <a:cs typeface="Arial"/>
              </a:rPr>
              <a:t>Université de Kinshasa · 2025–2026</a:t>
            </a:r>
          </a:p>
        </p:txBody>
      </p:sp>
      <p:sp>
        <p:nvSpPr>
          <p:cNvPr id="9" name="">
            <a:extLst xmlns:a="http://schemas.openxmlformats.org/drawingml/2006/main">
              <a:ext uri="{FF2B5EF4-FFF2-40B4-BE49-F238E27FC236}">
                <a16:creationId xmlns:a16="http://schemas.microsoft.com/office/drawing/2014/main" id="{DA1B5BE1-302E-403C-AAD6-32ECA817B663}"/>
              </a:ext>
            </a:extLst>
          </p:cNvPr>
          <p:cNvSpPr>
            <a:spLocks xmlns:a="http://schemas.openxmlformats.org/drawingml/2006/main" noGrp="1"/>
          </p:cNvSpPr>
          <p:nvPr/>
        </p:nvSpPr>
        <p:spPr>
          <a:xfrm xmlns:a="http://schemas.openxmlformats.org/drawingml/2006/main">
            <a:off x="590550" y="49053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33747"/>
                </a:solidFill>
                <a:latin typeface="Arial"/>
                <a:ea typeface="Arial"/>
                <a:cs typeface="Arial"/>
              </a:defRPr>
            </a:defPPr>
            <a:lvl1pPr>
              <a:defRPr sz="1875" b="0">
                <a:solidFill>
                  <a:srgbClr val="233747"/>
                </a:solidFill>
                <a:latin typeface="Arial"/>
                <a:ea typeface="Arial"/>
                <a:cs typeface="Arial"/>
              </a:defRPr>
            </a:lvl1pPr>
            <a:lvl2pPr>
              <a:defRPr sz="1875" b="0">
                <a:solidFill>
                  <a:srgbClr val="233747"/>
                </a:solidFill>
                <a:latin typeface="Arial"/>
                <a:ea typeface="Arial"/>
                <a:cs typeface="Arial"/>
              </a:defRPr>
            </a:lvl2pPr>
            <a:lvl3pPr>
              <a:defRPr sz="1875" b="0">
                <a:solidFill>
                  <a:srgbClr val="233747"/>
                </a:solidFill>
                <a:latin typeface="Arial"/>
                <a:ea typeface="Arial"/>
                <a:cs typeface="Arial"/>
              </a:defRPr>
            </a:lvl3pPr>
            <a:lvl4pPr>
              <a:defRPr sz="1875" b="0">
                <a:solidFill>
                  <a:srgbClr val="233747"/>
                </a:solidFill>
                <a:latin typeface="Arial"/>
                <a:ea typeface="Arial"/>
                <a:cs typeface="Arial"/>
              </a:defRPr>
            </a:lvl4pPr>
            <a:lvl5pPr>
              <a:defRPr sz="1875" b="0">
                <a:solidFill>
                  <a:srgbClr val="233747"/>
                </a:solidFill>
                <a:latin typeface="Arial"/>
                <a:ea typeface="Arial"/>
                <a:cs typeface="Arial"/>
              </a:defRPr>
            </a:lvl5pPr>
            <a:lvl6pPr>
              <a:defRPr sz="1875" b="0">
                <a:solidFill>
                  <a:srgbClr val="233747"/>
                </a:solidFill>
                <a:latin typeface="Arial"/>
                <a:ea typeface="Arial"/>
                <a:cs typeface="Arial"/>
              </a:defRPr>
            </a:lvl6pPr>
            <a:lvl7pPr>
              <a:defRPr sz="1875" b="0">
                <a:solidFill>
                  <a:srgbClr val="233747"/>
                </a:solidFill>
                <a:latin typeface="Arial"/>
                <a:ea typeface="Arial"/>
                <a:cs typeface="Arial"/>
              </a:defRPr>
            </a:lvl7pPr>
            <a:lvl8pPr>
              <a:defRPr sz="1875" b="0">
                <a:solidFill>
                  <a:srgbClr val="233747"/>
                </a:solidFill>
                <a:latin typeface="Arial"/>
                <a:ea typeface="Arial"/>
                <a:cs typeface="Arial"/>
              </a:defRPr>
            </a:lvl8pPr>
            <a:lvl9pPr>
              <a:defRPr sz="1875" b="0">
                <a:solidFill>
                  <a:srgbClr val="233747"/>
                </a:solidFill>
                <a:latin typeface="Arial"/>
                <a:ea typeface="Arial"/>
                <a:cs typeface="Arial"/>
              </a:defRPr>
            </a:lvl9pPr>
          </a:lstStyle>
          <a:p xmlns:a="http://schemas.openxmlformats.org/drawingml/2006/main">
            <a:pPr>
              <a:defRPr sz="1875" b="0">
                <a:solidFill>
                  <a:srgbClr val="233747"/>
                </a:solidFill>
                <a:latin typeface="Arial"/>
                <a:ea typeface="Arial"/>
                <a:cs typeface="Arial"/>
              </a:defRPr>
            </a:pPr>
            <a:r>
              <a:rPr sz="1875" b="0">
                <a:solidFill>
                  <a:srgbClr val="233747"/>
                </a:solidFill>
                <a:latin typeface="Arial"/>
                <a:ea typeface="Arial"/>
                <a:cs typeface="Arial"/>
              </a:rPr>
              <a:t>Directeur · Prof. Dr Selain KASEREKA KABUNGA</a:t>
            </a:r>
          </a:p>
        </p:txBody>
      </p:sp>
    </p:spTree>
    <p:extLst>
      <p:ext uri="{BB962C8B-B14F-4D97-AF65-F5344CB8AC3E}">
        <p14:creationId xmlns:p14="http://schemas.microsoft.com/office/powerpoint/2010/main" val="19968149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0B059E-E677-4B19-8136-2CD66441C7B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3266D1-4EF4-46D4-8E35-A56D64E7C7A0}"/>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Coordonner des décisions locales</a:t>
            </a:r>
          </a:p>
        </p:txBody>
      </p:sp>
      <p:sp>
        <p:nvSpPr>
          <p:cNvPr id="3" name="">
            <a:extLst xmlns:a="http://schemas.openxmlformats.org/drawingml/2006/main">
              <a:ext uri="{FF2B5EF4-FFF2-40B4-BE49-F238E27FC236}">
                <a16:creationId xmlns:a16="http://schemas.microsoft.com/office/drawing/2014/main" id="{77E9086A-76C0-4C16-A9DB-EC83AC069925}"/>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2 / 20</a:t>
            </a:r>
          </a:p>
        </p:txBody>
      </p:sp>
      <p:sp>
        <p:nvSpPr>
          <p:cNvPr id="4" name="">
            <a:extLst xmlns:a="http://schemas.openxmlformats.org/drawingml/2006/main">
              <a:ext uri="{FF2B5EF4-FFF2-40B4-BE49-F238E27FC236}">
                <a16:creationId xmlns:a16="http://schemas.microsoft.com/office/drawing/2014/main" id="{A8512928-9B58-426E-A135-DBF012905E19}"/>
              </a:ext>
            </a:extLst>
          </p:cNvPr>
          <p:cNvSpPr>
            <a:spLocks xmlns:a="http://schemas.openxmlformats.org/drawingml/2006/main" noGrp="1"/>
          </p:cNvSpPr>
          <p:nvPr/>
        </p:nvSpPr>
        <p:spPr>
          <a:xfrm xmlns:a="http://schemas.openxmlformats.org/drawingml/2006/main">
            <a:off x="742950" y="15049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Chaque robot observe son état et ses voisins à portée</a:t>
            </a:r>
          </a:p>
        </p:txBody>
      </p:sp>
      <p:sp>
        <p:nvSpPr>
          <p:cNvPr id="5" name="">
            <a:extLst xmlns:a="http://schemas.openxmlformats.org/drawingml/2006/main">
              <a:ext uri="{FF2B5EF4-FFF2-40B4-BE49-F238E27FC236}">
                <a16:creationId xmlns:a16="http://schemas.microsoft.com/office/drawing/2014/main" id="{9E7B15B2-9ED6-4410-8A61-FB6EB7A06BD3}"/>
              </a:ext>
            </a:extLst>
          </p:cNvPr>
          <p:cNvSpPr>
            <a:spLocks xmlns:a="http://schemas.openxmlformats.org/drawingml/2006/main" noGrp="1"/>
          </p:cNvSpPr>
          <p:nvPr/>
        </p:nvSpPr>
        <p:spPr>
          <a:xfrm xmlns:a="http://schemas.openxmlformats.org/drawingml/2006/main">
            <a:off x="485775" y="16287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8D66855-F36C-4739-AA79-3E127A8C562A}"/>
              </a:ext>
            </a:extLst>
          </p:cNvPr>
          <p:cNvSpPr>
            <a:spLocks xmlns:a="http://schemas.openxmlformats.org/drawingml/2006/main" noGrp="1"/>
          </p:cNvSpPr>
          <p:nvPr/>
        </p:nvSpPr>
        <p:spPr>
          <a:xfrm xmlns:a="http://schemas.openxmlformats.org/drawingml/2006/main">
            <a:off x="742950" y="233362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Le groupe doit former une figure et éviter les contacts</a:t>
            </a:r>
          </a:p>
        </p:txBody>
      </p:sp>
      <p:sp>
        <p:nvSpPr>
          <p:cNvPr id="7" name="">
            <a:extLst xmlns:a="http://schemas.openxmlformats.org/drawingml/2006/main">
              <a:ext uri="{FF2B5EF4-FFF2-40B4-BE49-F238E27FC236}">
                <a16:creationId xmlns:a16="http://schemas.microsoft.com/office/drawing/2014/main" id="{238A4559-5F31-4D12-B831-4AB31564D1C6}"/>
              </a:ext>
            </a:extLst>
          </p:cNvPr>
          <p:cNvSpPr>
            <a:spLocks xmlns:a="http://schemas.openxmlformats.org/drawingml/2006/main" noGrp="1"/>
          </p:cNvSpPr>
          <p:nvPr/>
        </p:nvSpPr>
        <p:spPr>
          <a:xfrm xmlns:a="http://schemas.openxmlformats.org/drawingml/2006/main">
            <a:off x="485775" y="245745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4CD4F93-AC2C-487E-B7D3-E235E6B4223D}"/>
              </a:ext>
            </a:extLst>
          </p:cNvPr>
          <p:cNvSpPr>
            <a:spLocks xmlns:a="http://schemas.openxmlformats.org/drawingml/2006/main" noGrp="1"/>
          </p:cNvSpPr>
          <p:nvPr/>
        </p:nvSpPr>
        <p:spPr>
          <a:xfrm xmlns:a="http://schemas.openxmlformats.org/drawingml/2006/main">
            <a:off x="742950" y="316230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La difficulté augmente avec l’effectif et les obstacles</a:t>
            </a:r>
          </a:p>
        </p:txBody>
      </p:sp>
      <p:sp>
        <p:nvSpPr>
          <p:cNvPr id="9" name="">
            <a:extLst xmlns:a="http://schemas.openxmlformats.org/drawingml/2006/main">
              <a:ext uri="{FF2B5EF4-FFF2-40B4-BE49-F238E27FC236}">
                <a16:creationId xmlns:a16="http://schemas.microsoft.com/office/drawing/2014/main" id="{87AB3555-424C-4BF8-A50F-940C2F3573AB}"/>
              </a:ext>
            </a:extLst>
          </p:cNvPr>
          <p:cNvSpPr>
            <a:spLocks xmlns:a="http://schemas.openxmlformats.org/drawingml/2006/main" noGrp="1"/>
          </p:cNvSpPr>
          <p:nvPr/>
        </p:nvSpPr>
        <p:spPr>
          <a:xfrm xmlns:a="http://schemas.openxmlformats.org/drawingml/2006/main">
            <a:off x="485775" y="328612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2057CED-CBFB-4D1E-A9C2-8133C737568E}"/>
              </a:ext>
            </a:extLst>
          </p:cNvPr>
          <p:cNvSpPr>
            <a:spLocks xmlns:a="http://schemas.openxmlformats.org/drawingml/2006/main" noGrp="1"/>
          </p:cNvSpPr>
          <p:nvPr/>
        </p:nvSpPr>
        <p:spPr>
          <a:xfrm xmlns:a="http://schemas.openxmlformats.org/drawingml/2006/main">
            <a:off x="742950" y="399097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Question étudiée : un GAT peut-il apprendre une commande locale utile ?</a:t>
            </a:r>
          </a:p>
        </p:txBody>
      </p:sp>
      <p:sp>
        <p:nvSpPr>
          <p:cNvPr id="11" name="">
            <a:extLst xmlns:a="http://schemas.openxmlformats.org/drawingml/2006/main">
              <a:ext uri="{FF2B5EF4-FFF2-40B4-BE49-F238E27FC236}">
                <a16:creationId xmlns:a16="http://schemas.microsoft.com/office/drawing/2014/main" id="{D337A111-B217-49B1-AB53-952D47299286}"/>
              </a:ext>
            </a:extLst>
          </p:cNvPr>
          <p:cNvSpPr>
            <a:spLocks xmlns:a="http://schemas.openxmlformats.org/drawingml/2006/main" noGrp="1"/>
          </p:cNvSpPr>
          <p:nvPr/>
        </p:nvSpPr>
        <p:spPr>
          <a:xfrm xmlns:a="http://schemas.openxmlformats.org/drawingml/2006/main">
            <a:off x="485775" y="411480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Tree>
    <p:extLst>
      <p:ext uri="{BB962C8B-B14F-4D97-AF65-F5344CB8AC3E}">
        <p14:creationId xmlns:p14="http://schemas.microsoft.com/office/powerpoint/2010/main" val="207702111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1DB36C-39B6-4A10-9AA2-39304BD2D7D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4DCA06-BE38-4C08-BE10-49F6D857E335}"/>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Objectifs et démarche</a:t>
            </a:r>
          </a:p>
        </p:txBody>
      </p:sp>
      <p:sp>
        <p:nvSpPr>
          <p:cNvPr id="3" name="">
            <a:extLst xmlns:a="http://schemas.openxmlformats.org/drawingml/2006/main">
              <a:ext uri="{FF2B5EF4-FFF2-40B4-BE49-F238E27FC236}">
                <a16:creationId xmlns:a16="http://schemas.microsoft.com/office/drawing/2014/main" id="{898B3656-2C20-4A60-B04F-4F8095050598}"/>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3 / 20</a:t>
            </a:r>
          </a:p>
        </p:txBody>
      </p:sp>
      <p:sp>
        <p:nvSpPr>
          <p:cNvPr id="4" name="">
            <a:extLst xmlns:a="http://schemas.openxmlformats.org/drawingml/2006/main">
              <a:ext uri="{FF2B5EF4-FFF2-40B4-BE49-F238E27FC236}">
                <a16:creationId xmlns:a16="http://schemas.microsoft.com/office/drawing/2014/main" id="{1BDFB3AB-4A61-447A-A997-95FD450FC0CF}"/>
              </a:ext>
            </a:extLst>
          </p:cNvPr>
          <p:cNvSpPr>
            <a:spLocks xmlns:a="http://schemas.openxmlformats.org/drawingml/2006/main" noGrp="1"/>
          </p:cNvSpPr>
          <p:nvPr/>
        </p:nvSpPr>
        <p:spPr>
          <a:xfrm xmlns:a="http://schemas.openxmlformats.org/drawingml/2006/main">
            <a:off x="742950" y="15049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Construire un simulateur physique 2D</a:t>
            </a:r>
          </a:p>
        </p:txBody>
      </p:sp>
      <p:sp>
        <p:nvSpPr>
          <p:cNvPr id="5" name="">
            <a:extLst xmlns:a="http://schemas.openxmlformats.org/drawingml/2006/main">
              <a:ext uri="{FF2B5EF4-FFF2-40B4-BE49-F238E27FC236}">
                <a16:creationId xmlns:a16="http://schemas.microsoft.com/office/drawing/2014/main" id="{164AFF85-4324-46F7-B2EB-E11F0C42329D}"/>
              </a:ext>
            </a:extLst>
          </p:cNvPr>
          <p:cNvSpPr>
            <a:spLocks xmlns:a="http://schemas.openxmlformats.org/drawingml/2006/main" noGrp="1"/>
          </p:cNvSpPr>
          <p:nvPr/>
        </p:nvSpPr>
        <p:spPr>
          <a:xfrm xmlns:a="http://schemas.openxmlformats.org/drawingml/2006/main">
            <a:off x="485775" y="16287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45CBB03-75E0-4247-87D2-A2EF307F37AB}"/>
              </a:ext>
            </a:extLst>
          </p:cNvPr>
          <p:cNvSpPr>
            <a:spLocks xmlns:a="http://schemas.openxmlformats.org/drawingml/2006/main" noGrp="1"/>
          </p:cNvSpPr>
          <p:nvPr/>
        </p:nvSpPr>
        <p:spPr>
          <a:xfrm xmlns:a="http://schemas.openxmlformats.org/drawingml/2006/main">
            <a:off x="742950" y="233362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Attribuer les places par échanges locaux</a:t>
            </a:r>
          </a:p>
        </p:txBody>
      </p:sp>
      <p:sp>
        <p:nvSpPr>
          <p:cNvPr id="7" name="">
            <a:extLst xmlns:a="http://schemas.openxmlformats.org/drawingml/2006/main">
              <a:ext uri="{FF2B5EF4-FFF2-40B4-BE49-F238E27FC236}">
                <a16:creationId xmlns:a16="http://schemas.microsoft.com/office/drawing/2014/main" id="{D341DBD5-A148-48BD-9A50-8CF6F7A2056D}"/>
              </a:ext>
            </a:extLst>
          </p:cNvPr>
          <p:cNvSpPr>
            <a:spLocks xmlns:a="http://schemas.openxmlformats.org/drawingml/2006/main" noGrp="1"/>
          </p:cNvSpPr>
          <p:nvPr/>
        </p:nvSpPr>
        <p:spPr>
          <a:xfrm xmlns:a="http://schemas.openxmlformats.org/drawingml/2006/main">
            <a:off x="485775" y="245745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FA3C127-90C1-4A41-93E1-A23EF7AF073F}"/>
              </a:ext>
            </a:extLst>
          </p:cNvPr>
          <p:cNvSpPr>
            <a:spLocks xmlns:a="http://schemas.openxmlformats.org/drawingml/2006/main" noGrp="1"/>
          </p:cNvSpPr>
          <p:nvPr/>
        </p:nvSpPr>
        <p:spPr>
          <a:xfrm xmlns:a="http://schemas.openxmlformats.org/drawingml/2006/main">
            <a:off x="742950" y="316230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Apprendre les accélérations à partir d’exemples</a:t>
            </a:r>
          </a:p>
        </p:txBody>
      </p:sp>
      <p:sp>
        <p:nvSpPr>
          <p:cNvPr id="9" name="">
            <a:extLst xmlns:a="http://schemas.openxmlformats.org/drawingml/2006/main">
              <a:ext uri="{FF2B5EF4-FFF2-40B4-BE49-F238E27FC236}">
                <a16:creationId xmlns:a16="http://schemas.microsoft.com/office/drawing/2014/main" id="{59D360A3-A6F6-4B91-9287-1B67E74F99EE}"/>
              </a:ext>
            </a:extLst>
          </p:cNvPr>
          <p:cNvSpPr>
            <a:spLocks xmlns:a="http://schemas.openxmlformats.org/drawingml/2006/main" noGrp="1"/>
          </p:cNvSpPr>
          <p:nvPr/>
        </p:nvSpPr>
        <p:spPr>
          <a:xfrm xmlns:a="http://schemas.openxmlformats.org/drawingml/2006/main">
            <a:off x="485775" y="328612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03E7839-C39B-43FC-9885-8F77AEC45483}"/>
              </a:ext>
            </a:extLst>
          </p:cNvPr>
          <p:cNvSpPr>
            <a:spLocks xmlns:a="http://schemas.openxmlformats.org/drawingml/2006/main" noGrp="1"/>
          </p:cNvSpPr>
          <p:nvPr/>
        </p:nvSpPr>
        <p:spPr>
          <a:xfrm xmlns:a="http://schemas.openxmlformats.org/drawingml/2006/main">
            <a:off x="742950" y="399097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Comparer aux règles classiques sur des essais réservés</a:t>
            </a:r>
          </a:p>
        </p:txBody>
      </p:sp>
      <p:sp>
        <p:nvSpPr>
          <p:cNvPr id="11" name="">
            <a:extLst xmlns:a="http://schemas.openxmlformats.org/drawingml/2006/main">
              <a:ext uri="{FF2B5EF4-FFF2-40B4-BE49-F238E27FC236}">
                <a16:creationId xmlns:a16="http://schemas.microsoft.com/office/drawing/2014/main" id="{3ABBF28C-B81F-41D7-AA86-32D4783AC94C}"/>
              </a:ext>
            </a:extLst>
          </p:cNvPr>
          <p:cNvSpPr>
            <a:spLocks xmlns:a="http://schemas.openxmlformats.org/drawingml/2006/main" noGrp="1"/>
          </p:cNvSpPr>
          <p:nvPr/>
        </p:nvSpPr>
        <p:spPr>
          <a:xfrm xmlns:a="http://schemas.openxmlformats.org/drawingml/2006/main">
            <a:off x="485775" y="411480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Tree>
    <p:extLst>
      <p:ext uri="{BB962C8B-B14F-4D97-AF65-F5344CB8AC3E}">
        <p14:creationId xmlns:p14="http://schemas.microsoft.com/office/powerpoint/2010/main" val="4741798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F80014-F902-4D3C-81A5-31A814FE597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5BA2AC-A6F5-4CCE-AA05-1451C4586970}"/>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Un simulateur dans un plan 2D</a:t>
            </a:r>
          </a:p>
        </p:txBody>
      </p:sp>
      <p:sp>
        <p:nvSpPr>
          <p:cNvPr id="3" name="">
            <a:extLst xmlns:a="http://schemas.openxmlformats.org/drawingml/2006/main">
              <a:ext uri="{FF2B5EF4-FFF2-40B4-BE49-F238E27FC236}">
                <a16:creationId xmlns:a16="http://schemas.microsoft.com/office/drawing/2014/main" id="{3598403E-D221-4683-A593-EBA7C2827B44}"/>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4 / 20</a:t>
            </a:r>
          </a:p>
        </p:txBody>
      </p:sp>
      <p:sp>
        <p:nvSpPr>
          <p:cNvPr id="4" name="">
            <a:extLst xmlns:a="http://schemas.openxmlformats.org/drawingml/2006/main">
              <a:ext uri="{FF2B5EF4-FFF2-40B4-BE49-F238E27FC236}">
                <a16:creationId xmlns:a16="http://schemas.microsoft.com/office/drawing/2014/main" id="{613F859B-021F-4C28-9485-B577A7356445}"/>
              </a:ext>
            </a:extLst>
          </p:cNvPr>
          <p:cNvSpPr>
            <a:spLocks xmlns:a="http://schemas.openxmlformats.org/drawingml/2006/main" noGrp="1"/>
          </p:cNvSpPr>
          <p:nvPr/>
        </p:nvSpPr>
        <p:spPr>
          <a:xfrm xmlns:a="http://schemas.openxmlformats.org/drawingml/2006/main">
            <a:off x="571500" y="1457325"/>
            <a:ext cx="5095875"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7"/>
                </a:solidFill>
                <a:latin typeface="Arial"/>
                <a:ea typeface="Arial"/>
                <a:cs typeface="Arial"/>
              </a:defRPr>
            </a:defPPr>
            <a:lvl1pPr>
              <a:defRPr sz="2025" b="0">
                <a:solidFill>
                  <a:srgbClr val="233747"/>
                </a:solidFill>
                <a:latin typeface="Arial"/>
                <a:ea typeface="Arial"/>
                <a:cs typeface="Arial"/>
              </a:defRPr>
            </a:lvl1pPr>
            <a:lvl2pPr>
              <a:defRPr sz="2025" b="0">
                <a:solidFill>
                  <a:srgbClr val="233747"/>
                </a:solidFill>
                <a:latin typeface="Arial"/>
                <a:ea typeface="Arial"/>
                <a:cs typeface="Arial"/>
              </a:defRPr>
            </a:lvl2pPr>
            <a:lvl3pPr>
              <a:defRPr sz="2025" b="0">
                <a:solidFill>
                  <a:srgbClr val="233747"/>
                </a:solidFill>
                <a:latin typeface="Arial"/>
                <a:ea typeface="Arial"/>
                <a:cs typeface="Arial"/>
              </a:defRPr>
            </a:lvl3pPr>
            <a:lvl4pPr>
              <a:defRPr sz="2025" b="0">
                <a:solidFill>
                  <a:srgbClr val="233747"/>
                </a:solidFill>
                <a:latin typeface="Arial"/>
                <a:ea typeface="Arial"/>
                <a:cs typeface="Arial"/>
              </a:defRPr>
            </a:lvl4pPr>
            <a:lvl5pPr>
              <a:defRPr sz="2025" b="0">
                <a:solidFill>
                  <a:srgbClr val="233747"/>
                </a:solidFill>
                <a:latin typeface="Arial"/>
                <a:ea typeface="Arial"/>
                <a:cs typeface="Arial"/>
              </a:defRPr>
            </a:lvl5pPr>
            <a:lvl6pPr>
              <a:defRPr sz="2025" b="0">
                <a:solidFill>
                  <a:srgbClr val="233747"/>
                </a:solidFill>
                <a:latin typeface="Arial"/>
                <a:ea typeface="Arial"/>
                <a:cs typeface="Arial"/>
              </a:defRPr>
            </a:lvl6pPr>
            <a:lvl7pPr>
              <a:defRPr sz="2025" b="0">
                <a:solidFill>
                  <a:srgbClr val="233747"/>
                </a:solidFill>
                <a:latin typeface="Arial"/>
                <a:ea typeface="Arial"/>
                <a:cs typeface="Arial"/>
              </a:defRPr>
            </a:lvl7pPr>
            <a:lvl8pPr>
              <a:defRPr sz="2025" b="0">
                <a:solidFill>
                  <a:srgbClr val="233747"/>
                </a:solidFill>
                <a:latin typeface="Arial"/>
                <a:ea typeface="Arial"/>
                <a:cs typeface="Arial"/>
              </a:defRPr>
            </a:lvl8pPr>
            <a:lvl9pPr>
              <a:defRPr sz="2025" b="0">
                <a:solidFill>
                  <a:srgbClr val="233747"/>
                </a:solidFill>
                <a:latin typeface="Arial"/>
                <a:ea typeface="Arial"/>
                <a:cs typeface="Arial"/>
              </a:defRPr>
            </a:lvl9pPr>
          </a:lstStyle>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Position (x, y), vitesse et accélération</a:t>
            </a:r>
          </a:p>
          <a:p xmlns:a="http://schemas.openxmlformats.org/drawingml/2006/main">
            <a:r>
              <a:t/>
            </a:r>
          </a:p>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Robots représentés par des disques de rayon 0,10 m</a:t>
            </a:r>
          </a:p>
          <a:p xmlns:a="http://schemas.openxmlformats.org/drawingml/2006/main">
            <a:r>
              <a:t/>
            </a:r>
          </a:p>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Pas de temps 0,10 s · portée de communication 3 m</a:t>
            </a:r>
          </a:p>
          <a:p xmlns:a="http://schemas.openxmlformats.org/drawingml/2006/main">
            <a:r>
              <a:t/>
            </a:r>
          </a:p>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Vitesse ≤ 1 m/s · accélération ≤ 2 m/s²</a:t>
            </a:r>
          </a:p>
        </p:txBody>
      </p:sp>
      <p:pic>
        <p:nvPicPr>
          <p:cNvPr id="5" name="">
            <a:extLst xmlns:a="http://schemas.openxmlformats.org/drawingml/2006/main">
              <a:ext uri="{FF2B5EF4-FFF2-40B4-BE49-F238E27FC236}">
                <a16:creationId xmlns:a16="http://schemas.microsoft.com/office/drawing/2014/main" id="{8BB0FF0A-8F24-4E53-951F-ED13713C3AB9}"/>
              </a:ext>
            </a:extLst>
          </p:cNvPr>
          <p:cNvPicPr>
            <a:picLocks xmlns:a="http://schemas.openxmlformats.org/drawingml/2006/main" noChangeAspect="1"/>
          </p:cNvPicPr>
          <p:nvPr/>
        </p:nvPicPr>
        <p:blipFill>
          <a:blip xmlns:r="http://schemas.openxmlformats.org/officeDocument/2006/relationships" xmlns:a="http://schemas.openxmlformats.org/drawingml/2006/main" r:embed="Rc4f9149985e2417f"/>
          <a:stretch xmlns:a="http://schemas.openxmlformats.org/drawingml/2006/main"/>
        </p:blipFill>
        <p:spPr>
          <a:xfrm xmlns:a="http://schemas.openxmlformats.org/drawingml/2006/main">
            <a:off x="6468332" y="1352550"/>
            <a:ext cx="4684586" cy="4762500"/>
          </a:xfrm>
          <a:prstGeom xmlns:a="http://schemas.openxmlformats.org/drawingml/2006/main" prst="rect">
            <a:avLst/>
          </a:prstGeom>
        </p:spPr>
      </p:pic>
    </p:spTree>
    <p:extLst>
      <p:ext uri="{BB962C8B-B14F-4D97-AF65-F5344CB8AC3E}">
        <p14:creationId xmlns:p14="http://schemas.microsoft.com/office/powerpoint/2010/main" val="16983060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952BADD-07C3-4308-B290-D2C460E05C3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75ADCC-F4BC-4FB5-BF00-48140A3DEB43}"/>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Préparer, attribuer, puis construire</a:t>
            </a:r>
          </a:p>
        </p:txBody>
      </p:sp>
      <p:sp>
        <p:nvSpPr>
          <p:cNvPr id="3" name="">
            <a:extLst xmlns:a="http://schemas.openxmlformats.org/drawingml/2006/main">
              <a:ext uri="{FF2B5EF4-FFF2-40B4-BE49-F238E27FC236}">
                <a16:creationId xmlns:a16="http://schemas.microsoft.com/office/drawing/2014/main" id="{527AF716-490A-4C1A-9876-558277080B42}"/>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5 / 20</a:t>
            </a:r>
          </a:p>
        </p:txBody>
      </p:sp>
      <p:sp>
        <p:nvSpPr>
          <p:cNvPr id="4" name="">
            <a:extLst xmlns:a="http://schemas.openxmlformats.org/drawingml/2006/main">
              <a:ext uri="{FF2B5EF4-FFF2-40B4-BE49-F238E27FC236}">
                <a16:creationId xmlns:a16="http://schemas.microsoft.com/office/drawing/2014/main" id="{C9F4BDE7-1675-489B-A3F9-10ACFCE021D6}"/>
              </a:ext>
            </a:extLst>
          </p:cNvPr>
          <p:cNvSpPr>
            <a:spLocks xmlns:a="http://schemas.openxmlformats.org/drawingml/2006/main" noGrp="1"/>
          </p:cNvSpPr>
          <p:nvPr/>
        </p:nvSpPr>
        <p:spPr>
          <a:xfrm xmlns:a="http://schemas.openxmlformats.org/drawingml/2006/main">
            <a:off x="742950" y="15049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1  Rejoindre le cercle de rendez-vous</a:t>
            </a:r>
          </a:p>
        </p:txBody>
      </p:sp>
      <p:sp>
        <p:nvSpPr>
          <p:cNvPr id="5" name="">
            <a:extLst xmlns:a="http://schemas.openxmlformats.org/drawingml/2006/main">
              <a:ext uri="{FF2B5EF4-FFF2-40B4-BE49-F238E27FC236}">
                <a16:creationId xmlns:a16="http://schemas.microsoft.com/office/drawing/2014/main" id="{17ACA0D3-6433-469E-95B2-CE493DFB459D}"/>
              </a:ext>
            </a:extLst>
          </p:cNvPr>
          <p:cNvSpPr>
            <a:spLocks xmlns:a="http://schemas.openxmlformats.org/drawingml/2006/main" noGrp="1"/>
          </p:cNvSpPr>
          <p:nvPr/>
        </p:nvSpPr>
        <p:spPr>
          <a:xfrm xmlns:a="http://schemas.openxmlformats.org/drawingml/2006/main">
            <a:off x="485775" y="16287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27F24CE-9342-4E90-B8C5-A588371567E2}"/>
              </a:ext>
            </a:extLst>
          </p:cNvPr>
          <p:cNvSpPr>
            <a:spLocks xmlns:a="http://schemas.openxmlformats.org/drawingml/2006/main" noGrp="1"/>
          </p:cNvSpPr>
          <p:nvPr/>
        </p:nvSpPr>
        <p:spPr>
          <a:xfrm xmlns:a="http://schemas.openxmlformats.org/drawingml/2006/main">
            <a:off x="742950" y="233362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2  Freiner et échanger les demandes de places</a:t>
            </a:r>
          </a:p>
        </p:txBody>
      </p:sp>
      <p:sp>
        <p:nvSpPr>
          <p:cNvPr id="7" name="">
            <a:extLst xmlns:a="http://schemas.openxmlformats.org/drawingml/2006/main">
              <a:ext uri="{FF2B5EF4-FFF2-40B4-BE49-F238E27FC236}">
                <a16:creationId xmlns:a16="http://schemas.microsoft.com/office/drawing/2014/main" id="{852141E2-096F-4B56-A6AD-64F61090766C}"/>
              </a:ext>
            </a:extLst>
          </p:cNvPr>
          <p:cNvSpPr>
            <a:spLocks xmlns:a="http://schemas.openxmlformats.org/drawingml/2006/main" noGrp="1"/>
          </p:cNvSpPr>
          <p:nvPr/>
        </p:nvSpPr>
        <p:spPr>
          <a:xfrm xmlns:a="http://schemas.openxmlformats.org/drawingml/2006/main">
            <a:off x="485775" y="245745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05FFF3F-9DEB-4A2E-B101-A2552A63D754}"/>
              </a:ext>
            </a:extLst>
          </p:cNvPr>
          <p:cNvSpPr>
            <a:spLocks xmlns:a="http://schemas.openxmlformats.org/drawingml/2006/main" noGrp="1"/>
          </p:cNvSpPr>
          <p:nvPr/>
        </p:nvSpPr>
        <p:spPr>
          <a:xfrm xmlns:a="http://schemas.openxmlformats.org/drawingml/2006/main">
            <a:off x="742950" y="316230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3  Résoudre les conflits de réservation</a:t>
            </a:r>
          </a:p>
        </p:txBody>
      </p:sp>
      <p:sp>
        <p:nvSpPr>
          <p:cNvPr id="9" name="">
            <a:extLst xmlns:a="http://schemas.openxmlformats.org/drawingml/2006/main">
              <a:ext uri="{FF2B5EF4-FFF2-40B4-BE49-F238E27FC236}">
                <a16:creationId xmlns:a16="http://schemas.microsoft.com/office/drawing/2014/main" id="{B7967D62-7F21-4B65-91AA-C934ECA72B53}"/>
              </a:ext>
            </a:extLst>
          </p:cNvPr>
          <p:cNvSpPr>
            <a:spLocks xmlns:a="http://schemas.openxmlformats.org/drawingml/2006/main" noGrp="1"/>
          </p:cNvSpPr>
          <p:nvPr/>
        </p:nvSpPr>
        <p:spPr>
          <a:xfrm xmlns:a="http://schemas.openxmlformats.org/drawingml/2006/main">
            <a:off x="485775" y="328612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A80F753-50E9-4B6F-9B64-F00DABE9B0FA}"/>
              </a:ext>
            </a:extLst>
          </p:cNvPr>
          <p:cNvSpPr>
            <a:spLocks xmlns:a="http://schemas.openxmlformats.org/drawingml/2006/main" noGrp="1"/>
          </p:cNvSpPr>
          <p:nvPr/>
        </p:nvSpPr>
        <p:spPr>
          <a:xfrm xmlns:a="http://schemas.openxmlformats.org/drawingml/2006/main">
            <a:off x="742950" y="399097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4  Rejoindre la figure choisie</a:t>
            </a:r>
          </a:p>
        </p:txBody>
      </p:sp>
      <p:sp>
        <p:nvSpPr>
          <p:cNvPr id="11" name="">
            <a:extLst xmlns:a="http://schemas.openxmlformats.org/drawingml/2006/main">
              <a:ext uri="{FF2B5EF4-FFF2-40B4-BE49-F238E27FC236}">
                <a16:creationId xmlns:a16="http://schemas.microsoft.com/office/drawing/2014/main" id="{BBC22739-E1B3-4520-BF97-405C2A26C4E6}"/>
              </a:ext>
            </a:extLst>
          </p:cNvPr>
          <p:cNvSpPr>
            <a:spLocks xmlns:a="http://schemas.openxmlformats.org/drawingml/2006/main" noGrp="1"/>
          </p:cNvSpPr>
          <p:nvPr/>
        </p:nvSpPr>
        <p:spPr>
          <a:xfrm xmlns:a="http://schemas.openxmlformats.org/drawingml/2006/main">
            <a:off x="485775" y="411480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B1E8188-5A00-479E-9328-93CADCF8DA5C}"/>
              </a:ext>
            </a:extLst>
          </p:cNvPr>
          <p:cNvSpPr>
            <a:spLocks xmlns:a="http://schemas.openxmlformats.org/drawingml/2006/main" noGrp="1"/>
          </p:cNvSpPr>
          <p:nvPr/>
        </p:nvSpPr>
        <p:spPr>
          <a:xfrm xmlns:a="http://schemas.openxmlformats.org/drawingml/2006/main">
            <a:off x="742950" y="48196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5  Transporter la formation si la mission le demande</a:t>
            </a:r>
          </a:p>
        </p:txBody>
      </p:sp>
      <p:sp>
        <p:nvSpPr>
          <p:cNvPr id="13" name="">
            <a:extLst xmlns:a="http://schemas.openxmlformats.org/drawingml/2006/main">
              <a:ext uri="{FF2B5EF4-FFF2-40B4-BE49-F238E27FC236}">
                <a16:creationId xmlns:a16="http://schemas.microsoft.com/office/drawing/2014/main" id="{9634230E-8049-4B05-B354-7AAB56D0B045}"/>
              </a:ext>
            </a:extLst>
          </p:cNvPr>
          <p:cNvSpPr>
            <a:spLocks xmlns:a="http://schemas.openxmlformats.org/drawingml/2006/main" noGrp="1"/>
          </p:cNvSpPr>
          <p:nvPr/>
        </p:nvSpPr>
        <p:spPr>
          <a:xfrm xmlns:a="http://schemas.openxmlformats.org/drawingml/2006/main">
            <a:off x="485775" y="49434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Tree>
    <p:extLst>
      <p:ext uri="{BB962C8B-B14F-4D97-AF65-F5344CB8AC3E}">
        <p14:creationId xmlns:p14="http://schemas.microsoft.com/office/powerpoint/2010/main" val="18435095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422022A-36A6-44F7-A4AB-B7B0D057D07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87D80C-8416-42CD-8C57-CC0C71BFAAB5}"/>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Le réseau propose une accélération</a:t>
            </a:r>
          </a:p>
        </p:txBody>
      </p:sp>
      <p:sp>
        <p:nvSpPr>
          <p:cNvPr id="3" name="">
            <a:extLst xmlns:a="http://schemas.openxmlformats.org/drawingml/2006/main">
              <a:ext uri="{FF2B5EF4-FFF2-40B4-BE49-F238E27FC236}">
                <a16:creationId xmlns:a16="http://schemas.microsoft.com/office/drawing/2014/main" id="{09BA9C2F-6A29-4D19-9C09-05CD91523EE1}"/>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6 / 20</a:t>
            </a:r>
          </a:p>
        </p:txBody>
      </p:sp>
      <p:sp>
        <p:nvSpPr>
          <p:cNvPr id="4" name="">
            <a:extLst xmlns:a="http://schemas.openxmlformats.org/drawingml/2006/main">
              <a:ext uri="{FF2B5EF4-FFF2-40B4-BE49-F238E27FC236}">
                <a16:creationId xmlns:a16="http://schemas.microsoft.com/office/drawing/2014/main" id="{542E4B53-BD17-4E9F-A0D5-B55CE231FA8E}"/>
              </a:ext>
            </a:extLst>
          </p:cNvPr>
          <p:cNvSpPr>
            <a:spLocks xmlns:a="http://schemas.openxmlformats.org/drawingml/2006/main" noGrp="1"/>
          </p:cNvSpPr>
          <p:nvPr/>
        </p:nvSpPr>
        <p:spPr>
          <a:xfrm xmlns:a="http://schemas.openxmlformats.org/drawingml/2006/main">
            <a:off x="742950" y="15049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État propre et cible locale → encodage</a:t>
            </a:r>
          </a:p>
        </p:txBody>
      </p:sp>
      <p:sp>
        <p:nvSpPr>
          <p:cNvPr id="5" name="">
            <a:extLst xmlns:a="http://schemas.openxmlformats.org/drawingml/2006/main">
              <a:ext uri="{FF2B5EF4-FFF2-40B4-BE49-F238E27FC236}">
                <a16:creationId xmlns:a16="http://schemas.microsoft.com/office/drawing/2014/main" id="{6EBE8D60-E6E5-4F5F-85C3-7C8354750381}"/>
              </a:ext>
            </a:extLst>
          </p:cNvPr>
          <p:cNvSpPr>
            <a:spLocks xmlns:a="http://schemas.openxmlformats.org/drawingml/2006/main" noGrp="1"/>
          </p:cNvSpPr>
          <p:nvPr/>
        </p:nvSpPr>
        <p:spPr>
          <a:xfrm xmlns:a="http://schemas.openxmlformats.org/drawingml/2006/main">
            <a:off x="485775" y="16287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9A6936-9826-4F95-A7FF-BF74B171D13C}"/>
              </a:ext>
            </a:extLst>
          </p:cNvPr>
          <p:cNvSpPr>
            <a:spLocks xmlns:a="http://schemas.openxmlformats.org/drawingml/2006/main" noGrp="1"/>
          </p:cNvSpPr>
          <p:nvPr/>
        </p:nvSpPr>
        <p:spPr>
          <a:xfrm xmlns:a="http://schemas.openxmlformats.org/drawingml/2006/main">
            <a:off x="742950" y="233362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États relatifs des voisins → attention et agrégation</a:t>
            </a:r>
          </a:p>
        </p:txBody>
      </p:sp>
      <p:sp>
        <p:nvSpPr>
          <p:cNvPr id="7" name="">
            <a:extLst xmlns:a="http://schemas.openxmlformats.org/drawingml/2006/main">
              <a:ext uri="{FF2B5EF4-FFF2-40B4-BE49-F238E27FC236}">
                <a16:creationId xmlns:a16="http://schemas.microsoft.com/office/drawing/2014/main" id="{8B5293D8-623E-4A08-B3CC-5C22EEF60C39}"/>
              </a:ext>
            </a:extLst>
          </p:cNvPr>
          <p:cNvSpPr>
            <a:spLocks xmlns:a="http://schemas.openxmlformats.org/drawingml/2006/main" noGrp="1"/>
          </p:cNvSpPr>
          <p:nvPr/>
        </p:nvSpPr>
        <p:spPr>
          <a:xfrm xmlns:a="http://schemas.openxmlformats.org/drawingml/2006/main">
            <a:off x="485775" y="245745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6DD4A96-F88C-4839-A396-4335D76D4507}"/>
              </a:ext>
            </a:extLst>
          </p:cNvPr>
          <p:cNvSpPr>
            <a:spLocks xmlns:a="http://schemas.openxmlformats.org/drawingml/2006/main" noGrp="1"/>
          </p:cNvSpPr>
          <p:nvPr/>
        </p:nvSpPr>
        <p:spPr>
          <a:xfrm xmlns:a="http://schemas.openxmlformats.org/drawingml/2006/main">
            <a:off x="742950" y="316230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Le même réseau est utilisé par tous les robots</a:t>
            </a:r>
          </a:p>
        </p:txBody>
      </p:sp>
      <p:sp>
        <p:nvSpPr>
          <p:cNvPr id="9" name="">
            <a:extLst xmlns:a="http://schemas.openxmlformats.org/drawingml/2006/main">
              <a:ext uri="{FF2B5EF4-FFF2-40B4-BE49-F238E27FC236}">
                <a16:creationId xmlns:a16="http://schemas.microsoft.com/office/drawing/2014/main" id="{6059C107-477C-4656-9958-ED57067E3F96}"/>
              </a:ext>
            </a:extLst>
          </p:cNvPr>
          <p:cNvSpPr>
            <a:spLocks xmlns:a="http://schemas.openxmlformats.org/drawingml/2006/main" noGrp="1"/>
          </p:cNvSpPr>
          <p:nvPr/>
        </p:nvSpPr>
        <p:spPr>
          <a:xfrm xmlns:a="http://schemas.openxmlformats.org/drawingml/2006/main">
            <a:off x="485775" y="328612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0381533-22D6-4A7A-9F0A-CF611AD87186}"/>
              </a:ext>
            </a:extLst>
          </p:cNvPr>
          <p:cNvSpPr>
            <a:spLocks xmlns:a="http://schemas.openxmlformats.org/drawingml/2006/main" noGrp="1"/>
          </p:cNvSpPr>
          <p:nvPr/>
        </p:nvSpPr>
        <p:spPr>
          <a:xfrm xmlns:a="http://schemas.openxmlformats.org/drawingml/2006/main">
            <a:off x="742950" y="399097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GAT protégé : un filtre classique vérifie la commande</a:t>
            </a:r>
          </a:p>
        </p:txBody>
      </p:sp>
      <p:sp>
        <p:nvSpPr>
          <p:cNvPr id="11" name="">
            <a:extLst xmlns:a="http://schemas.openxmlformats.org/drawingml/2006/main">
              <a:ext uri="{FF2B5EF4-FFF2-40B4-BE49-F238E27FC236}">
                <a16:creationId xmlns:a16="http://schemas.microsoft.com/office/drawing/2014/main" id="{E41351BC-03A9-4238-BCC2-9337278ADC33}"/>
              </a:ext>
            </a:extLst>
          </p:cNvPr>
          <p:cNvSpPr>
            <a:spLocks xmlns:a="http://schemas.openxmlformats.org/drawingml/2006/main" noGrp="1"/>
          </p:cNvSpPr>
          <p:nvPr/>
        </p:nvSpPr>
        <p:spPr>
          <a:xfrm xmlns:a="http://schemas.openxmlformats.org/drawingml/2006/main">
            <a:off x="485775" y="411480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374BC38-EA66-4810-85EF-05C3388C4EDA}"/>
              </a:ext>
            </a:extLst>
          </p:cNvPr>
          <p:cNvSpPr>
            <a:spLocks xmlns:a="http://schemas.openxmlformats.org/drawingml/2006/main" noGrp="1"/>
          </p:cNvSpPr>
          <p:nvPr/>
        </p:nvSpPr>
        <p:spPr>
          <a:xfrm xmlns:a="http://schemas.openxmlformats.org/drawingml/2006/main">
            <a:off x="742950" y="48196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GAT structuré : base attractive et corrections apprises</a:t>
            </a:r>
          </a:p>
        </p:txBody>
      </p:sp>
      <p:sp>
        <p:nvSpPr>
          <p:cNvPr id="13" name="">
            <a:extLst xmlns:a="http://schemas.openxmlformats.org/drawingml/2006/main">
              <a:ext uri="{FF2B5EF4-FFF2-40B4-BE49-F238E27FC236}">
                <a16:creationId xmlns:a16="http://schemas.microsoft.com/office/drawing/2014/main" id="{34E95FB2-E877-4A47-B23A-C8BF494069C1}"/>
              </a:ext>
            </a:extLst>
          </p:cNvPr>
          <p:cNvSpPr>
            <a:spLocks xmlns:a="http://schemas.openxmlformats.org/drawingml/2006/main" noGrp="1"/>
          </p:cNvSpPr>
          <p:nvPr/>
        </p:nvSpPr>
        <p:spPr>
          <a:xfrm xmlns:a="http://schemas.openxmlformats.org/drawingml/2006/main">
            <a:off x="485775" y="49434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Tree>
    <p:extLst>
      <p:ext uri="{BB962C8B-B14F-4D97-AF65-F5344CB8AC3E}">
        <p14:creationId xmlns:p14="http://schemas.microsoft.com/office/powerpoint/2010/main" val="3313667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CA1DD5E-6809-499E-96B1-4614003279F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782C96-7CB7-40A5-82E7-27626950CC3F}"/>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Des données synthétiques pour l’imitation</a:t>
            </a:r>
          </a:p>
        </p:txBody>
      </p:sp>
      <p:sp>
        <p:nvSpPr>
          <p:cNvPr id="3" name="">
            <a:extLst xmlns:a="http://schemas.openxmlformats.org/drawingml/2006/main">
              <a:ext uri="{FF2B5EF4-FFF2-40B4-BE49-F238E27FC236}">
                <a16:creationId xmlns:a16="http://schemas.microsoft.com/office/drawing/2014/main" id="{F5AB5D01-738D-4791-B517-190A895C32E3}"/>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7 / 20</a:t>
            </a:r>
          </a:p>
        </p:txBody>
      </p:sp>
      <p:sp>
        <p:nvSpPr>
          <p:cNvPr id="4" name="">
            <a:extLst xmlns:a="http://schemas.openxmlformats.org/drawingml/2006/main">
              <a:ext uri="{FF2B5EF4-FFF2-40B4-BE49-F238E27FC236}">
                <a16:creationId xmlns:a16="http://schemas.microsoft.com/office/drawing/2014/main" id="{DAE5E99F-95D7-4F70-83CD-397E51A152ED}"/>
              </a:ext>
            </a:extLst>
          </p:cNvPr>
          <p:cNvSpPr>
            <a:spLocks xmlns:a="http://schemas.openxmlformats.org/drawingml/2006/main" noGrp="1"/>
          </p:cNvSpPr>
          <p:nvPr/>
        </p:nvSpPr>
        <p:spPr>
          <a:xfrm xmlns:a="http://schemas.openxmlformats.org/drawingml/2006/main">
            <a:off x="742950" y="15049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Le simulateur produit des situations et leurs observations</a:t>
            </a:r>
          </a:p>
        </p:txBody>
      </p:sp>
      <p:sp>
        <p:nvSpPr>
          <p:cNvPr id="5" name="">
            <a:extLst xmlns:a="http://schemas.openxmlformats.org/drawingml/2006/main">
              <a:ext uri="{FF2B5EF4-FFF2-40B4-BE49-F238E27FC236}">
                <a16:creationId xmlns:a16="http://schemas.microsoft.com/office/drawing/2014/main" id="{793D20AF-6732-4DFD-9081-F0786D7B666A}"/>
              </a:ext>
            </a:extLst>
          </p:cNvPr>
          <p:cNvSpPr>
            <a:spLocks xmlns:a="http://schemas.openxmlformats.org/drawingml/2006/main" noGrp="1"/>
          </p:cNvSpPr>
          <p:nvPr/>
        </p:nvSpPr>
        <p:spPr>
          <a:xfrm xmlns:a="http://schemas.openxmlformats.org/drawingml/2006/main">
            <a:off x="485775" y="16287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4941D25-6506-448D-AFFB-A30213230A62}"/>
              </a:ext>
            </a:extLst>
          </p:cNvPr>
          <p:cNvSpPr>
            <a:spLocks xmlns:a="http://schemas.openxmlformats.org/drawingml/2006/main" noGrp="1"/>
          </p:cNvSpPr>
          <p:nvPr/>
        </p:nvSpPr>
        <p:spPr>
          <a:xfrm xmlns:a="http://schemas.openxmlformats.org/drawingml/2006/main">
            <a:off x="742950" y="233362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Le contrôleur de référence fournit l’accélération attendue</a:t>
            </a:r>
          </a:p>
        </p:txBody>
      </p:sp>
      <p:sp>
        <p:nvSpPr>
          <p:cNvPr id="7" name="">
            <a:extLst xmlns:a="http://schemas.openxmlformats.org/drawingml/2006/main">
              <a:ext uri="{FF2B5EF4-FFF2-40B4-BE49-F238E27FC236}">
                <a16:creationId xmlns:a16="http://schemas.microsoft.com/office/drawing/2014/main" id="{46EDCE3F-11A2-4D7B-A3DD-8DD0078575A2}"/>
              </a:ext>
            </a:extLst>
          </p:cNvPr>
          <p:cNvSpPr>
            <a:spLocks xmlns:a="http://schemas.openxmlformats.org/drawingml/2006/main" noGrp="1"/>
          </p:cNvSpPr>
          <p:nvPr/>
        </p:nvSpPr>
        <p:spPr>
          <a:xfrm xmlns:a="http://schemas.openxmlformats.org/drawingml/2006/main">
            <a:off x="485775" y="245745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105DE94-8E24-4214-9432-374D0AC009D4}"/>
              </a:ext>
            </a:extLst>
          </p:cNvPr>
          <p:cNvSpPr>
            <a:spLocks xmlns:a="http://schemas.openxmlformats.org/drawingml/2006/main" noGrp="1"/>
          </p:cNvSpPr>
          <p:nvPr/>
        </p:nvSpPr>
        <p:spPr>
          <a:xfrm xmlns:a="http://schemas.openxmlformats.org/drawingml/2006/main">
            <a:off x="742950" y="316230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531 360 observations locales pour l’entraînement initial</a:t>
            </a:r>
          </a:p>
        </p:txBody>
      </p:sp>
      <p:sp>
        <p:nvSpPr>
          <p:cNvPr id="9" name="">
            <a:extLst xmlns:a="http://schemas.openxmlformats.org/drawingml/2006/main">
              <a:ext uri="{FF2B5EF4-FFF2-40B4-BE49-F238E27FC236}">
                <a16:creationId xmlns:a16="http://schemas.microsoft.com/office/drawing/2014/main" id="{5907DE63-F1AB-4D08-97E0-4205C1E8592B}"/>
              </a:ext>
            </a:extLst>
          </p:cNvPr>
          <p:cNvSpPr>
            <a:spLocks xmlns:a="http://schemas.openxmlformats.org/drawingml/2006/main" noGrp="1"/>
          </p:cNvSpPr>
          <p:nvPr/>
        </p:nvSpPr>
        <p:spPr>
          <a:xfrm xmlns:a="http://schemas.openxmlformats.org/drawingml/2006/main">
            <a:off x="485775" y="328612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81BB2C4-E767-4AF8-A701-302626FA9343}"/>
              </a:ext>
            </a:extLst>
          </p:cNvPr>
          <p:cNvSpPr>
            <a:spLocks xmlns:a="http://schemas.openxmlformats.org/drawingml/2006/main" noGrp="1"/>
          </p:cNvSpPr>
          <p:nvPr/>
        </p:nvSpPr>
        <p:spPr>
          <a:xfrm xmlns:a="http://schemas.openxmlformats.org/drawingml/2006/main">
            <a:off x="742950" y="399097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53 136 observations pour la validation</a:t>
            </a:r>
          </a:p>
        </p:txBody>
      </p:sp>
      <p:sp>
        <p:nvSpPr>
          <p:cNvPr id="11" name="">
            <a:extLst xmlns:a="http://schemas.openxmlformats.org/drawingml/2006/main">
              <a:ext uri="{FF2B5EF4-FFF2-40B4-BE49-F238E27FC236}">
                <a16:creationId xmlns:a16="http://schemas.microsoft.com/office/drawing/2014/main" id="{750A8E61-35B7-4EC9-9E78-23D1D733D6A4}"/>
              </a:ext>
            </a:extLst>
          </p:cNvPr>
          <p:cNvSpPr>
            <a:spLocks xmlns:a="http://schemas.openxmlformats.org/drawingml/2006/main" noGrp="1"/>
          </p:cNvSpPr>
          <p:nvPr/>
        </p:nvSpPr>
        <p:spPr>
          <a:xfrm xmlns:a="http://schemas.openxmlformats.org/drawingml/2006/main">
            <a:off x="485775" y="411480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A016257-9DA4-4AA6-B444-3C51352735CC}"/>
              </a:ext>
            </a:extLst>
          </p:cNvPr>
          <p:cNvSpPr>
            <a:spLocks xmlns:a="http://schemas.openxmlformats.org/drawingml/2006/main" noGrp="1"/>
          </p:cNvSpPr>
          <p:nvPr/>
        </p:nvSpPr>
        <p:spPr>
          <a:xfrm xmlns:a="http://schemas.openxmlformats.org/drawingml/2006/main">
            <a:off x="742950" y="48196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Séparation des fichiers et des départs à examiner</a:t>
            </a:r>
          </a:p>
        </p:txBody>
      </p:sp>
      <p:sp>
        <p:nvSpPr>
          <p:cNvPr id="13" name="">
            <a:extLst xmlns:a="http://schemas.openxmlformats.org/drawingml/2006/main">
              <a:ext uri="{FF2B5EF4-FFF2-40B4-BE49-F238E27FC236}">
                <a16:creationId xmlns:a16="http://schemas.microsoft.com/office/drawing/2014/main" id="{A82E8AF9-B3EB-4242-831F-37CD73E2C9C4}"/>
              </a:ext>
            </a:extLst>
          </p:cNvPr>
          <p:cNvSpPr>
            <a:spLocks xmlns:a="http://schemas.openxmlformats.org/drawingml/2006/main" noGrp="1"/>
          </p:cNvSpPr>
          <p:nvPr/>
        </p:nvSpPr>
        <p:spPr>
          <a:xfrm xmlns:a="http://schemas.openxmlformats.org/drawingml/2006/main">
            <a:off x="485775" y="49434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Tree>
    <p:extLst>
      <p:ext uri="{BB962C8B-B14F-4D97-AF65-F5344CB8AC3E}">
        <p14:creationId xmlns:p14="http://schemas.microsoft.com/office/powerpoint/2010/main" val="17500152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D9B4B73-1E7B-4798-B17C-8023AE09526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D5501A-8FB3-4487-8CB5-4C2DCDB8C1F7}"/>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Entraîner ne garantit pas la mission</a:t>
            </a:r>
          </a:p>
        </p:txBody>
      </p:sp>
      <p:sp>
        <p:nvSpPr>
          <p:cNvPr id="3" name="">
            <a:extLst xmlns:a="http://schemas.openxmlformats.org/drawingml/2006/main">
              <a:ext uri="{FF2B5EF4-FFF2-40B4-BE49-F238E27FC236}">
                <a16:creationId xmlns:a16="http://schemas.microsoft.com/office/drawing/2014/main" id="{0013720F-E1AD-4327-94CC-02645302F2A2}"/>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8 / 20</a:t>
            </a:r>
          </a:p>
        </p:txBody>
      </p:sp>
      <p:sp>
        <p:nvSpPr>
          <p:cNvPr id="4" name="">
            <a:extLst xmlns:a="http://schemas.openxmlformats.org/drawingml/2006/main">
              <a:ext uri="{FF2B5EF4-FFF2-40B4-BE49-F238E27FC236}">
                <a16:creationId xmlns:a16="http://schemas.microsoft.com/office/drawing/2014/main" id="{378EBC28-702D-4FE3-9D27-E7B9BBFBD668}"/>
              </a:ext>
            </a:extLst>
          </p:cNvPr>
          <p:cNvSpPr>
            <a:spLocks xmlns:a="http://schemas.openxmlformats.org/drawingml/2006/main" noGrp="1"/>
          </p:cNvSpPr>
          <p:nvPr/>
        </p:nvSpPr>
        <p:spPr>
          <a:xfrm xmlns:a="http://schemas.openxmlformats.org/drawingml/2006/main">
            <a:off x="742950" y="15049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Apprentissage supervisé par régression</a:t>
            </a:r>
          </a:p>
        </p:txBody>
      </p:sp>
      <p:sp>
        <p:nvSpPr>
          <p:cNvPr id="5" name="">
            <a:extLst xmlns:a="http://schemas.openxmlformats.org/drawingml/2006/main">
              <a:ext uri="{FF2B5EF4-FFF2-40B4-BE49-F238E27FC236}">
                <a16:creationId xmlns:a16="http://schemas.microsoft.com/office/drawing/2014/main" id="{E0A32D4B-63E6-41A0-9104-77AAC2543E27}"/>
              </a:ext>
            </a:extLst>
          </p:cNvPr>
          <p:cNvSpPr>
            <a:spLocks xmlns:a="http://schemas.openxmlformats.org/drawingml/2006/main" noGrp="1"/>
          </p:cNvSpPr>
          <p:nvPr/>
        </p:nvSpPr>
        <p:spPr>
          <a:xfrm xmlns:a="http://schemas.openxmlformats.org/drawingml/2006/main">
            <a:off x="485775" y="16287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396DBA0-160B-401D-B84E-6879047740F1}"/>
              </a:ext>
            </a:extLst>
          </p:cNvPr>
          <p:cNvSpPr>
            <a:spLocks xmlns:a="http://schemas.openxmlformats.org/drawingml/2006/main" noGrp="1"/>
          </p:cNvSpPr>
          <p:nvPr/>
        </p:nvSpPr>
        <p:spPr>
          <a:xfrm xmlns:a="http://schemas.openxmlformats.org/drawingml/2006/main">
            <a:off x="742950" y="233362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MSE entre accélération prédite et accélération attendue</a:t>
            </a:r>
          </a:p>
        </p:txBody>
      </p:sp>
      <p:sp>
        <p:nvSpPr>
          <p:cNvPr id="7" name="">
            <a:extLst xmlns:a="http://schemas.openxmlformats.org/drawingml/2006/main">
              <a:ext uri="{FF2B5EF4-FFF2-40B4-BE49-F238E27FC236}">
                <a16:creationId xmlns:a16="http://schemas.microsoft.com/office/drawing/2014/main" id="{61403D25-2334-4BE4-A1BB-3D4E346B2515}"/>
              </a:ext>
            </a:extLst>
          </p:cNvPr>
          <p:cNvSpPr>
            <a:spLocks xmlns:a="http://schemas.openxmlformats.org/drawingml/2006/main" noGrp="1"/>
          </p:cNvSpPr>
          <p:nvPr/>
        </p:nvSpPr>
        <p:spPr>
          <a:xfrm xmlns:a="http://schemas.openxmlformats.org/drawingml/2006/main">
            <a:off x="485775" y="245745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AE6F257-A867-4B28-8652-C10E48D894A9}"/>
              </a:ext>
            </a:extLst>
          </p:cNvPr>
          <p:cNvSpPr>
            <a:spLocks xmlns:a="http://schemas.openxmlformats.org/drawingml/2006/main" noGrp="1"/>
          </p:cNvSpPr>
          <p:nvPr/>
        </p:nvSpPr>
        <p:spPr>
          <a:xfrm xmlns:a="http://schemas.openxmlformats.org/drawingml/2006/main">
            <a:off x="742950" y="316230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La validation sert à choisir le modèle conservé</a:t>
            </a:r>
          </a:p>
        </p:txBody>
      </p:sp>
      <p:sp>
        <p:nvSpPr>
          <p:cNvPr id="9" name="">
            <a:extLst xmlns:a="http://schemas.openxmlformats.org/drawingml/2006/main">
              <a:ext uri="{FF2B5EF4-FFF2-40B4-BE49-F238E27FC236}">
                <a16:creationId xmlns:a16="http://schemas.microsoft.com/office/drawing/2014/main" id="{45FA659F-121E-4BB8-A92C-D3EB4DF2B217}"/>
              </a:ext>
            </a:extLst>
          </p:cNvPr>
          <p:cNvSpPr>
            <a:spLocks xmlns:a="http://schemas.openxmlformats.org/drawingml/2006/main" noGrp="1"/>
          </p:cNvSpPr>
          <p:nvPr/>
        </p:nvSpPr>
        <p:spPr>
          <a:xfrm xmlns:a="http://schemas.openxmlformats.org/drawingml/2006/main">
            <a:off x="485775" y="328612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A4ACC48-988A-47F7-965F-9E3FE4099671}"/>
              </a:ext>
            </a:extLst>
          </p:cNvPr>
          <p:cNvSpPr>
            <a:spLocks xmlns:a="http://schemas.openxmlformats.org/drawingml/2006/main" noGrp="1"/>
          </p:cNvSpPr>
          <p:nvPr/>
        </p:nvSpPr>
        <p:spPr>
          <a:xfrm xmlns:a="http://schemas.openxmlformats.org/drawingml/2006/main">
            <a:off x="742950" y="399097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Le test réservé évalue le comportement complet</a:t>
            </a:r>
          </a:p>
        </p:txBody>
      </p:sp>
      <p:sp>
        <p:nvSpPr>
          <p:cNvPr id="11" name="">
            <a:extLst xmlns:a="http://schemas.openxmlformats.org/drawingml/2006/main">
              <a:ext uri="{FF2B5EF4-FFF2-40B4-BE49-F238E27FC236}">
                <a16:creationId xmlns:a16="http://schemas.microsoft.com/office/drawing/2014/main" id="{EF7D98EA-D6FA-4844-B9D2-B7BA720BF80B}"/>
              </a:ext>
            </a:extLst>
          </p:cNvPr>
          <p:cNvSpPr>
            <a:spLocks xmlns:a="http://schemas.openxmlformats.org/drawingml/2006/main" noGrp="1"/>
          </p:cNvSpPr>
          <p:nvPr/>
        </p:nvSpPr>
        <p:spPr>
          <a:xfrm xmlns:a="http://schemas.openxmlformats.org/drawingml/2006/main">
            <a:off x="485775" y="411480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3FE3D6F-5EA0-4EE5-AF5B-FE24A0C3D844}"/>
              </a:ext>
            </a:extLst>
          </p:cNvPr>
          <p:cNvSpPr>
            <a:spLocks xmlns:a="http://schemas.openxmlformats.org/drawingml/2006/main" noGrp="1"/>
          </p:cNvSpPr>
          <p:nvPr/>
        </p:nvSpPr>
        <p:spPr>
          <a:xfrm xmlns:a="http://schemas.openxmlformats.org/drawingml/2006/main">
            <a:off x="742950" y="48196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Une MSE faible ne garantit pas zéro contact</a:t>
            </a:r>
          </a:p>
        </p:txBody>
      </p:sp>
      <p:sp>
        <p:nvSpPr>
          <p:cNvPr id="13" name="">
            <a:extLst xmlns:a="http://schemas.openxmlformats.org/drawingml/2006/main">
              <a:ext uri="{FF2B5EF4-FFF2-40B4-BE49-F238E27FC236}">
                <a16:creationId xmlns:a16="http://schemas.microsoft.com/office/drawing/2014/main" id="{19AB2360-BE1A-4033-94CA-3EFBFE2B34D1}"/>
              </a:ext>
            </a:extLst>
          </p:cNvPr>
          <p:cNvSpPr>
            <a:spLocks xmlns:a="http://schemas.openxmlformats.org/drawingml/2006/main" noGrp="1"/>
          </p:cNvSpPr>
          <p:nvPr/>
        </p:nvSpPr>
        <p:spPr>
          <a:xfrm xmlns:a="http://schemas.openxmlformats.org/drawingml/2006/main">
            <a:off x="485775" y="49434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Tree>
    <p:extLst>
      <p:ext uri="{BB962C8B-B14F-4D97-AF65-F5344CB8AC3E}">
        <p14:creationId xmlns:p14="http://schemas.microsoft.com/office/powerpoint/2010/main" val="1055738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BA76BF-C7F6-4535-9C7B-6B72F392894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0B8B4A-7606-449E-9D5A-6C075A552BAE}"/>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Des critères pour une mission complète</a:t>
            </a:r>
          </a:p>
        </p:txBody>
      </p:sp>
      <p:sp>
        <p:nvSpPr>
          <p:cNvPr id="3" name="">
            <a:extLst xmlns:a="http://schemas.openxmlformats.org/drawingml/2006/main">
              <a:ext uri="{FF2B5EF4-FFF2-40B4-BE49-F238E27FC236}">
                <a16:creationId xmlns:a16="http://schemas.microsoft.com/office/drawing/2014/main" id="{E815525E-B216-4643-BD88-37BE6BE476DD}"/>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9 / 20</a:t>
            </a:r>
          </a:p>
        </p:txBody>
      </p:sp>
      <p:graphicFrame>
        <p:nvGraphicFramePr>
          <p:cNvPr id="4" name="">
            <a:extLst xmlns:a="http://schemas.openxmlformats.org/drawingml/2006/main">
              <a:ext uri="{FF2B5EF4-FFF2-40B4-BE49-F238E27FC236}">
                <a16:creationId xmlns:a16="http://schemas.microsoft.com/office/drawing/2014/main" id="{48F31E9C-6241-4727-BB0C-0EC23CACAC29}"/>
              </a:ext>
            </a:extLst>
          </p:cNvPr>
          <p:cNvGraphicFramePr/>
          <p:nvPr/>
        </p:nvGraphicFramePr>
        <p:xfrm>
          <a:off xmlns:a="http://schemas.openxmlformats.org/drawingml/2006/main" x="571500" y="1476375"/>
          <a:ext xmlns:a="http://schemas.openxmlformats.org/drawingml/2006/main" cx="10953750" cy="3257550"/>
        </p:xfrm>
        <a:graphic xmlns:a="http://schemas.openxmlformats.org/drawingml/2006/main">
          <a:graphicData uri="http://schemas.openxmlformats.org/drawingml/2006/table">
            <a:tbl>
              <a:tblPr/>
              <a:tblGrid>
                <a:gridCol w="3333750"/>
                <a:gridCol w="7620000"/>
              </a:tblGrid>
              <a:tr h="542925">
                <a:tc>
                  <a:txBody>
                    <a:bodyPr/>
                    <a:lstStyle/>
                    <a:p>
                      <a:r>
                        <a:rPr sz="1875" b="1">
                          <a:solidFill>
                            <a:srgbClr val="FFFFFF"/>
                          </a:solidFill>
                          <a:latin typeface="Arial"/>
                          <a:ea typeface="Arial"/>
                          <a:cs typeface="Arial"/>
                        </a:rPr>
                        <a:t>Mesure</a:t>
                      </a:r>
                    </a:p>
                  </a:txBody>
                  <a:tcPr marL="91440" marR="91440" marT="45720" marB="45720">
                    <a:solidFill>
                      <a:srgbClr val="103B50"/>
                    </a:solidFill>
                  </a:tcPr>
                </a:tc>
                <a:tc>
                  <a:txBody>
                    <a:bodyPr/>
                    <a:lstStyle/>
                    <a:p>
                      <a:r>
                        <a:rPr sz="1875" b="1">
                          <a:solidFill>
                            <a:srgbClr val="FFFFFF"/>
                          </a:solidFill>
                          <a:latin typeface="Arial"/>
                          <a:ea typeface="Arial"/>
                          <a:cs typeface="Arial"/>
                        </a:rPr>
                        <a:t>Condition ou usage</a:t>
                      </a:r>
                    </a:p>
                  </a:txBody>
                  <a:tcPr marL="91440" marR="91440" marT="45720" marB="45720">
                    <a:solidFill>
                      <a:srgbClr val="103B50"/>
                    </a:solidFill>
                  </a:tcPr>
                </a:tc>
              </a:tr>
              <a:tr h="542925">
                <a:tc>
                  <a:txBody>
                    <a:bodyPr/>
                    <a:lstStyle/>
                    <a:p>
                      <a:r>
                        <a:rPr sz="1950" b="0">
                          <a:solidFill>
                            <a:srgbClr val="233747"/>
                          </a:solidFill>
                          <a:latin typeface="Arial"/>
                          <a:ea typeface="Arial"/>
                          <a:cs typeface="Arial"/>
                        </a:rPr>
                        <a:t>Erreur de formation</a:t>
                      </a:r>
                    </a:p>
                  </a:txBody>
                  <a:tcPr marL="91440" marR="91440" marT="45720" marB="45720">
                    <a:solidFill>
                      <a:srgbClr val="FFFFFF"/>
                    </a:solidFill>
                  </a:tcPr>
                </a:tc>
                <a:tc>
                  <a:txBody>
                    <a:bodyPr/>
                    <a:lstStyle/>
                    <a:p>
                      <a:r>
                        <a:rPr sz="1950" b="0">
                          <a:solidFill>
                            <a:srgbClr val="233747"/>
                          </a:solidFill>
                          <a:latin typeface="Arial"/>
                          <a:ea typeface="Arial"/>
                          <a:cs typeface="Arial"/>
                        </a:rPr>
                        <a:t>Au plus 0,10 m pour stabiliser</a:t>
                      </a:r>
                    </a:p>
                  </a:txBody>
                  <a:tcPr marL="91440" marR="91440" marT="45720" marB="45720">
                    <a:solidFill>
                      <a:srgbClr val="FFFFFF"/>
                    </a:solidFill>
                  </a:tcPr>
                </a:tc>
              </a:tr>
              <a:tr h="542925">
                <a:tc>
                  <a:txBody>
                    <a:bodyPr/>
                    <a:lstStyle/>
                    <a:p>
                      <a:r>
                        <a:rPr sz="1950" b="0">
                          <a:solidFill>
                            <a:srgbClr val="233747"/>
                          </a:solidFill>
                          <a:latin typeface="Arial"/>
                          <a:ea typeface="Arial"/>
                          <a:cs typeface="Arial"/>
                        </a:rPr>
                        <a:t>Vitesse résiduelle</a:t>
                      </a:r>
                    </a:p>
                  </a:txBody>
                  <a:tcPr marL="91440" marR="91440" marT="45720" marB="45720">
                    <a:solidFill>
                      <a:srgbClr val="EFF5F6"/>
                    </a:solidFill>
                  </a:tcPr>
                </a:tc>
                <a:tc>
                  <a:txBody>
                    <a:bodyPr/>
                    <a:lstStyle/>
                    <a:p>
                      <a:r>
                        <a:rPr sz="1950" b="0">
                          <a:solidFill>
                            <a:srgbClr val="233747"/>
                          </a:solidFill>
                          <a:latin typeface="Arial"/>
                          <a:ea typeface="Arial"/>
                          <a:cs typeface="Arial"/>
                        </a:rPr>
                        <a:t>Au plus 0,05 m/s pendant 1 s</a:t>
                      </a:r>
                    </a:p>
                  </a:txBody>
                  <a:tcPr marL="91440" marR="91440" marT="45720" marB="45720">
                    <a:solidFill>
                      <a:srgbClr val="EFF5F6"/>
                    </a:solidFill>
                  </a:tcPr>
                </a:tc>
              </a:tr>
              <a:tr h="542925">
                <a:tc>
                  <a:txBody>
                    <a:bodyPr/>
                    <a:lstStyle/>
                    <a:p>
                      <a:r>
                        <a:rPr sz="1950" b="0">
                          <a:solidFill>
                            <a:srgbClr val="233747"/>
                          </a:solidFill>
                          <a:latin typeface="Arial"/>
                          <a:ea typeface="Arial"/>
                          <a:cs typeface="Arial"/>
                        </a:rPr>
                        <a:t>Contacts</a:t>
                      </a:r>
                    </a:p>
                  </a:txBody>
                  <a:tcPr marL="91440" marR="91440" marT="45720" marB="45720">
                    <a:solidFill>
                      <a:srgbClr val="FFFFFF"/>
                    </a:solidFill>
                  </a:tcPr>
                </a:tc>
                <a:tc>
                  <a:txBody>
                    <a:bodyPr/>
                    <a:lstStyle/>
                    <a:p>
                      <a:r>
                        <a:rPr sz="1950" b="0">
                          <a:solidFill>
                            <a:srgbClr val="233747"/>
                          </a:solidFill>
                          <a:latin typeface="Arial"/>
                          <a:ea typeface="Arial"/>
                          <a:cs typeface="Arial"/>
                        </a:rPr>
                        <a:t>Aucun sur l’essai complet</a:t>
                      </a:r>
                    </a:p>
                  </a:txBody>
                  <a:tcPr marL="91440" marR="91440" marT="45720" marB="45720">
                    <a:solidFill>
                      <a:srgbClr val="FFFFFF"/>
                    </a:solidFill>
                  </a:tcPr>
                </a:tc>
              </a:tr>
              <a:tr h="542925">
                <a:tc>
                  <a:txBody>
                    <a:bodyPr/>
                    <a:lstStyle/>
                    <a:p>
                      <a:r>
                        <a:rPr sz="1950" b="0">
                          <a:solidFill>
                            <a:srgbClr val="233747"/>
                          </a:solidFill>
                          <a:latin typeface="Arial"/>
                          <a:ea typeface="Arial"/>
                          <a:cs typeface="Arial"/>
                        </a:rPr>
                        <a:t>Navigation</a:t>
                      </a:r>
                    </a:p>
                  </a:txBody>
                  <a:tcPr marL="91440" marR="91440" marT="45720" marB="45720">
                    <a:solidFill>
                      <a:srgbClr val="EFF5F6"/>
                    </a:solidFill>
                  </a:tcPr>
                </a:tc>
                <a:tc>
                  <a:txBody>
                    <a:bodyPr/>
                    <a:lstStyle/>
                    <a:p>
                      <a:r>
                        <a:rPr sz="1950" b="0">
                          <a:solidFill>
                            <a:srgbClr val="233747"/>
                          </a:solidFill>
                          <a:latin typeface="Arial"/>
                          <a:ea typeface="Arial"/>
                          <a:cs typeface="Arial"/>
                        </a:rPr>
                        <a:t>Destination ≤ 0,10 m ; déformation ≤ 0,20 m</a:t>
                      </a:r>
                    </a:p>
                  </a:txBody>
                  <a:tcPr marL="91440" marR="91440" marT="45720" marB="45720">
                    <a:solidFill>
                      <a:srgbClr val="EFF5F6"/>
                    </a:solidFill>
                  </a:tcPr>
                </a:tc>
              </a:tr>
              <a:tr h="542925">
                <a:tc>
                  <a:txBody>
                    <a:bodyPr/>
                    <a:lstStyle/>
                    <a:p>
                      <a:r>
                        <a:rPr sz="1950" b="0">
                          <a:solidFill>
                            <a:srgbClr val="233747"/>
                          </a:solidFill>
                          <a:latin typeface="Arial"/>
                          <a:ea typeface="Arial"/>
                          <a:cs typeface="Arial"/>
                        </a:rPr>
                        <a:t>MSE</a:t>
                      </a:r>
                    </a:p>
                  </a:txBody>
                  <a:tcPr marL="91440" marR="91440" marT="45720" marB="45720">
                    <a:solidFill>
                      <a:srgbClr val="FFFFFF"/>
                    </a:solidFill>
                  </a:tcPr>
                </a:tc>
                <a:tc>
                  <a:txBody>
                    <a:bodyPr/>
                    <a:lstStyle/>
                    <a:p>
                      <a:r>
                        <a:rPr sz="1950" b="0">
                          <a:solidFill>
                            <a:srgbClr val="233747"/>
                          </a:solidFill>
                          <a:latin typeface="Arial"/>
                          <a:ea typeface="Arial"/>
                          <a:cs typeface="Arial"/>
                        </a:rPr>
                        <a:t>Erreur d’imitation pendant l’apprentissage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896318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E6F138-7D79-49BE-A58C-3BB5208E944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69A895-3A5C-459B-81F8-06B8C41EF03B}"/>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Le filtre change le bilan du GAT initial</a:t>
            </a:r>
          </a:p>
        </p:txBody>
      </p:sp>
      <p:sp>
        <p:nvSpPr>
          <p:cNvPr id="3" name="">
            <a:extLst xmlns:a="http://schemas.openxmlformats.org/drawingml/2006/main">
              <a:ext uri="{FF2B5EF4-FFF2-40B4-BE49-F238E27FC236}">
                <a16:creationId xmlns:a16="http://schemas.microsoft.com/office/drawing/2014/main" id="{029EAAE5-B6FB-42DF-8D26-56BAEE2AC016}"/>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10 / 20</a:t>
            </a:r>
          </a:p>
        </p:txBody>
      </p:sp>
      <p:sp>
        <p:nvSpPr>
          <p:cNvPr id="4" name="">
            <a:extLst xmlns:a="http://schemas.openxmlformats.org/drawingml/2006/main">
              <a:ext uri="{FF2B5EF4-FFF2-40B4-BE49-F238E27FC236}">
                <a16:creationId xmlns:a16="http://schemas.microsoft.com/office/drawing/2014/main" id="{8E6616F4-6726-4D0B-A4BF-19D1DBE6E427}"/>
              </a:ext>
            </a:extLst>
          </p:cNvPr>
          <p:cNvSpPr>
            <a:spLocks xmlns:a="http://schemas.openxmlformats.org/drawingml/2006/main" noGrp="1"/>
          </p:cNvSpPr>
          <p:nvPr/>
        </p:nvSpPr>
        <p:spPr>
          <a:xfrm xmlns:a="http://schemas.openxmlformats.org/drawingml/2006/main">
            <a:off x="571500" y="1381125"/>
            <a:ext cx="1100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33747"/>
                </a:solidFill>
                <a:latin typeface="Arial"/>
                <a:ea typeface="Arial"/>
                <a:cs typeface="Arial"/>
              </a:defRPr>
            </a:defPPr>
            <a:lvl1pPr>
              <a:defRPr sz="1950" b="0">
                <a:solidFill>
                  <a:srgbClr val="233747"/>
                </a:solidFill>
                <a:latin typeface="Arial"/>
                <a:ea typeface="Arial"/>
                <a:cs typeface="Arial"/>
              </a:defRPr>
            </a:lvl1pPr>
            <a:lvl2pPr>
              <a:defRPr sz="1950" b="0">
                <a:solidFill>
                  <a:srgbClr val="233747"/>
                </a:solidFill>
                <a:latin typeface="Arial"/>
                <a:ea typeface="Arial"/>
                <a:cs typeface="Arial"/>
              </a:defRPr>
            </a:lvl2pPr>
            <a:lvl3pPr>
              <a:defRPr sz="1950" b="0">
                <a:solidFill>
                  <a:srgbClr val="233747"/>
                </a:solidFill>
                <a:latin typeface="Arial"/>
                <a:ea typeface="Arial"/>
                <a:cs typeface="Arial"/>
              </a:defRPr>
            </a:lvl3pPr>
            <a:lvl4pPr>
              <a:defRPr sz="1950" b="0">
                <a:solidFill>
                  <a:srgbClr val="233747"/>
                </a:solidFill>
                <a:latin typeface="Arial"/>
                <a:ea typeface="Arial"/>
                <a:cs typeface="Arial"/>
              </a:defRPr>
            </a:lvl4pPr>
            <a:lvl5pPr>
              <a:defRPr sz="1950" b="0">
                <a:solidFill>
                  <a:srgbClr val="233747"/>
                </a:solidFill>
                <a:latin typeface="Arial"/>
                <a:ea typeface="Arial"/>
                <a:cs typeface="Arial"/>
              </a:defRPr>
            </a:lvl5pPr>
            <a:lvl6pPr>
              <a:defRPr sz="1950" b="0">
                <a:solidFill>
                  <a:srgbClr val="233747"/>
                </a:solidFill>
                <a:latin typeface="Arial"/>
                <a:ea typeface="Arial"/>
                <a:cs typeface="Arial"/>
              </a:defRPr>
            </a:lvl6pPr>
            <a:lvl7pPr>
              <a:defRPr sz="1950" b="0">
                <a:solidFill>
                  <a:srgbClr val="233747"/>
                </a:solidFill>
                <a:latin typeface="Arial"/>
                <a:ea typeface="Arial"/>
                <a:cs typeface="Arial"/>
              </a:defRPr>
            </a:lvl7pPr>
            <a:lvl8pPr>
              <a:defRPr sz="1950" b="0">
                <a:solidFill>
                  <a:srgbClr val="233747"/>
                </a:solidFill>
                <a:latin typeface="Arial"/>
                <a:ea typeface="Arial"/>
                <a:cs typeface="Arial"/>
              </a:defRPr>
            </a:lvl8pPr>
            <a:lvl9pPr>
              <a:defRPr sz="1950" b="0">
                <a:solidFill>
                  <a:srgbClr val="233747"/>
                </a:solidFill>
                <a:latin typeface="Arial"/>
                <a:ea typeface="Arial"/>
                <a:cs typeface="Arial"/>
              </a:defRPr>
            </a:lvl9pPr>
          </a:lstStyle>
          <a:p xmlns:a="http://schemas.openxmlformats.org/drawingml/2006/main">
            <a:pPr>
              <a:defRPr sz="1950" b="0">
                <a:solidFill>
                  <a:srgbClr val="233747"/>
                </a:solidFill>
                <a:latin typeface="Arial"/>
                <a:ea typeface="Arial"/>
                <a:cs typeface="Arial"/>
              </a:defRPr>
            </a:pPr>
            <a:r>
              <a:rPr sz="1950" b="0">
                <a:solidFill>
                  <a:srgbClr val="233747"/>
                </a:solidFill>
                <a:latin typeface="Arial"/>
                <a:ea typeface="Arial"/>
                <a:cs typeface="Arial"/>
              </a:rPr>
              <a:t>Neuf cas réservés à douze robots</a:t>
            </a:r>
          </a:p>
        </p:txBody>
      </p:sp>
      <p:sp>
        <p:nvSpPr>
          <p:cNvPr id="5" name="">
            <a:extLst xmlns:a="http://schemas.openxmlformats.org/drawingml/2006/main">
              <a:ext uri="{FF2B5EF4-FFF2-40B4-BE49-F238E27FC236}">
                <a16:creationId xmlns:a16="http://schemas.microsoft.com/office/drawing/2014/main" id="{710FDC70-3AA7-4705-9F32-7C31D2E8A756}"/>
              </a:ext>
            </a:extLst>
          </p:cNvPr>
          <p:cNvSpPr>
            <a:spLocks xmlns:a="http://schemas.openxmlformats.org/drawingml/2006/main" noGrp="1"/>
          </p:cNvSpPr>
          <p:nvPr/>
        </p:nvSpPr>
        <p:spPr>
          <a:xfrm xmlns:a="http://schemas.openxmlformats.org/drawingml/2006/main">
            <a:off x="571500" y="1809750"/>
            <a:ext cx="1100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33747"/>
                </a:solidFill>
                <a:latin typeface="Arial"/>
                <a:ea typeface="Arial"/>
                <a:cs typeface="Arial"/>
              </a:defRPr>
            </a:defPPr>
            <a:lvl1pPr>
              <a:defRPr sz="1950" b="0">
                <a:solidFill>
                  <a:srgbClr val="233747"/>
                </a:solidFill>
                <a:latin typeface="Arial"/>
                <a:ea typeface="Arial"/>
                <a:cs typeface="Arial"/>
              </a:defRPr>
            </a:lvl1pPr>
            <a:lvl2pPr>
              <a:defRPr sz="1950" b="0">
                <a:solidFill>
                  <a:srgbClr val="233747"/>
                </a:solidFill>
                <a:latin typeface="Arial"/>
                <a:ea typeface="Arial"/>
                <a:cs typeface="Arial"/>
              </a:defRPr>
            </a:lvl2pPr>
            <a:lvl3pPr>
              <a:defRPr sz="1950" b="0">
                <a:solidFill>
                  <a:srgbClr val="233747"/>
                </a:solidFill>
                <a:latin typeface="Arial"/>
                <a:ea typeface="Arial"/>
                <a:cs typeface="Arial"/>
              </a:defRPr>
            </a:lvl3pPr>
            <a:lvl4pPr>
              <a:defRPr sz="1950" b="0">
                <a:solidFill>
                  <a:srgbClr val="233747"/>
                </a:solidFill>
                <a:latin typeface="Arial"/>
                <a:ea typeface="Arial"/>
                <a:cs typeface="Arial"/>
              </a:defRPr>
            </a:lvl4pPr>
            <a:lvl5pPr>
              <a:defRPr sz="1950" b="0">
                <a:solidFill>
                  <a:srgbClr val="233747"/>
                </a:solidFill>
                <a:latin typeface="Arial"/>
                <a:ea typeface="Arial"/>
                <a:cs typeface="Arial"/>
              </a:defRPr>
            </a:lvl5pPr>
            <a:lvl6pPr>
              <a:defRPr sz="1950" b="0">
                <a:solidFill>
                  <a:srgbClr val="233747"/>
                </a:solidFill>
                <a:latin typeface="Arial"/>
                <a:ea typeface="Arial"/>
                <a:cs typeface="Arial"/>
              </a:defRPr>
            </a:lvl6pPr>
            <a:lvl7pPr>
              <a:defRPr sz="1950" b="0">
                <a:solidFill>
                  <a:srgbClr val="233747"/>
                </a:solidFill>
                <a:latin typeface="Arial"/>
                <a:ea typeface="Arial"/>
                <a:cs typeface="Arial"/>
              </a:defRPr>
            </a:lvl7pPr>
            <a:lvl8pPr>
              <a:defRPr sz="1950" b="0">
                <a:solidFill>
                  <a:srgbClr val="233747"/>
                </a:solidFill>
                <a:latin typeface="Arial"/>
                <a:ea typeface="Arial"/>
                <a:cs typeface="Arial"/>
              </a:defRPr>
            </a:lvl8pPr>
            <a:lvl9pPr>
              <a:defRPr sz="1950" b="0">
                <a:solidFill>
                  <a:srgbClr val="233747"/>
                </a:solidFill>
                <a:latin typeface="Arial"/>
                <a:ea typeface="Arial"/>
                <a:cs typeface="Arial"/>
              </a:defRPr>
            </a:lvl9pPr>
          </a:lstStyle>
          <a:p xmlns:a="http://schemas.openxmlformats.org/drawingml/2006/main">
            <a:pPr>
              <a:defRPr sz="1950" b="0">
                <a:solidFill>
                  <a:srgbClr val="233747"/>
                </a:solidFill>
                <a:latin typeface="Arial"/>
                <a:ea typeface="Arial"/>
                <a:cs typeface="Arial"/>
              </a:defRPr>
            </a:pPr>
            <a:r>
              <a:rPr sz="1950" b="0">
                <a:solidFill>
                  <a:srgbClr val="233747"/>
                </a:solidFill>
                <a:latin typeface="Arial"/>
                <a:ea typeface="Arial"/>
                <a:cs typeface="Arial"/>
              </a:rPr>
              <a:t>Un même départ réutilisé pour neuf formes</a:t>
            </a:r>
          </a:p>
        </p:txBody>
      </p:sp>
      <p:graphicFrame>
        <p:nvGraphicFramePr>
          <p:cNvPr id="6" name="">
            <a:extLst xmlns:a="http://schemas.openxmlformats.org/drawingml/2006/main">
              <a:ext uri="{FF2B5EF4-FFF2-40B4-BE49-F238E27FC236}">
                <a16:creationId xmlns:a16="http://schemas.microsoft.com/office/drawing/2014/main" id="{59579B27-E8A9-453B-933B-150AA17215C2}"/>
              </a:ext>
            </a:extLst>
          </p:cNvPr>
          <p:cNvGraphicFramePr/>
          <p:nvPr/>
        </p:nvGraphicFramePr>
        <p:xfrm>
          <a:off xmlns:a="http://schemas.openxmlformats.org/drawingml/2006/main" x="571500" y="2390775"/>
          <a:ext xmlns:a="http://schemas.openxmlformats.org/drawingml/2006/main" cx="10953750" cy="2381250"/>
        </p:xfrm>
        <a:graphic xmlns:a="http://schemas.openxmlformats.org/drawingml/2006/main">
          <a:graphicData uri="http://schemas.openxmlformats.org/drawingml/2006/table">
            <a:tbl>
              <a:tblPr/>
              <a:tblGrid>
                <a:gridCol w="6191250"/>
                <a:gridCol w="2381250"/>
                <a:gridCol w="2381250"/>
              </a:tblGrid>
              <a:tr h="595313">
                <a:tc>
                  <a:txBody>
                    <a:bodyPr/>
                    <a:lstStyle/>
                    <a:p>
                      <a:r>
                        <a:rPr sz="1875" b="1">
                          <a:solidFill>
                            <a:srgbClr val="FFFFFF"/>
                          </a:solidFill>
                          <a:latin typeface="Arial"/>
                          <a:ea typeface="Arial"/>
                          <a:cs typeface="Arial"/>
                        </a:rPr>
                        <a:t>Commande</a:t>
                      </a:r>
                    </a:p>
                  </a:txBody>
                  <a:tcPr marL="91440" marR="91440" marT="45720" marB="45720">
                    <a:solidFill>
                      <a:srgbClr val="103B50"/>
                    </a:solidFill>
                  </a:tcPr>
                </a:tc>
                <a:tc>
                  <a:txBody>
                    <a:bodyPr/>
                    <a:lstStyle/>
                    <a:p>
                      <a:r>
                        <a:rPr sz="1875" b="1">
                          <a:solidFill>
                            <a:srgbClr val="FFFFFF"/>
                          </a:solidFill>
                          <a:latin typeface="Arial"/>
                          <a:ea typeface="Arial"/>
                          <a:cs typeface="Arial"/>
                        </a:rPr>
                        <a:t>Réussites</a:t>
                      </a:r>
                    </a:p>
                  </a:txBody>
                  <a:tcPr marL="91440" marR="91440" marT="45720" marB="45720">
                    <a:solidFill>
                      <a:srgbClr val="103B50"/>
                    </a:solidFill>
                  </a:tcPr>
                </a:tc>
                <a:tc>
                  <a:txBody>
                    <a:bodyPr/>
                    <a:lstStyle/>
                    <a:p>
                      <a:r>
                        <a:rPr sz="1875" b="1">
                          <a:solidFill>
                            <a:srgbClr val="FFFFFF"/>
                          </a:solidFill>
                          <a:latin typeface="Arial"/>
                          <a:ea typeface="Arial"/>
                          <a:cs typeface="Arial"/>
                        </a:rPr>
                        <a:t>Contacts</a:t>
                      </a:r>
                    </a:p>
                  </a:txBody>
                  <a:tcPr marL="91440" marR="91440" marT="45720" marB="45720">
                    <a:solidFill>
                      <a:srgbClr val="103B50"/>
                    </a:solidFill>
                  </a:tcPr>
                </a:tc>
              </a:tr>
              <a:tr h="595313">
                <a:tc>
                  <a:txBody>
                    <a:bodyPr/>
                    <a:lstStyle/>
                    <a:p>
                      <a:r>
                        <a:rPr sz="1950" b="0">
                          <a:solidFill>
                            <a:srgbClr val="233747"/>
                          </a:solidFill>
                          <a:latin typeface="Arial"/>
                          <a:ea typeface="Arial"/>
                          <a:cs typeface="Arial"/>
                        </a:rPr>
                        <a:t>Contrôleur de référence</a:t>
                      </a:r>
                    </a:p>
                  </a:txBody>
                  <a:tcPr marL="91440" marR="91440" marT="45720" marB="45720">
                    <a:solidFill>
                      <a:srgbClr val="FFFFFF"/>
                    </a:solidFill>
                  </a:tcPr>
                </a:tc>
                <a:tc>
                  <a:txBody>
                    <a:bodyPr/>
                    <a:lstStyle/>
                    <a:p>
                      <a:r>
                        <a:rPr sz="1950" b="0">
                          <a:solidFill>
                            <a:srgbClr val="233747"/>
                          </a:solidFill>
                          <a:latin typeface="Arial"/>
                          <a:ea typeface="Arial"/>
                          <a:cs typeface="Arial"/>
                        </a:rPr>
                        <a:t>9/9</a:t>
                      </a:r>
                    </a:p>
                  </a:txBody>
                  <a:tcPr marL="91440" marR="91440" marT="45720" marB="45720">
                    <a:solidFill>
                      <a:srgbClr val="FFFFFF"/>
                    </a:solidFill>
                  </a:tcPr>
                </a:tc>
                <a:tc>
                  <a:txBody>
                    <a:bodyPr/>
                    <a:lstStyle/>
                    <a:p>
                      <a:r>
                        <a:rPr sz="1950" b="0">
                          <a:solidFill>
                            <a:srgbClr val="233747"/>
                          </a:solidFill>
                          <a:latin typeface="Arial"/>
                          <a:ea typeface="Arial"/>
                          <a:cs typeface="Arial"/>
                        </a:rPr>
                        <a:t>0</a:t>
                      </a:r>
                    </a:p>
                  </a:txBody>
                  <a:tcPr marL="91440" marR="91440" marT="45720" marB="45720">
                    <a:solidFill>
                      <a:srgbClr val="FFFFFF"/>
                    </a:solidFill>
                  </a:tcPr>
                </a:tc>
              </a:tr>
              <a:tr h="595313">
                <a:tc>
                  <a:txBody>
                    <a:bodyPr/>
                    <a:lstStyle/>
                    <a:p>
                      <a:r>
                        <a:rPr sz="1950" b="0">
                          <a:solidFill>
                            <a:srgbClr val="233747"/>
                          </a:solidFill>
                          <a:latin typeface="Arial"/>
                          <a:ea typeface="Arial"/>
                          <a:cs typeface="Arial"/>
                        </a:rPr>
                        <a:t>GAT initial brut</a:t>
                      </a:r>
                    </a:p>
                  </a:txBody>
                  <a:tcPr marL="91440" marR="91440" marT="45720" marB="45720">
                    <a:solidFill>
                      <a:srgbClr val="EFF5F6"/>
                    </a:solidFill>
                  </a:tcPr>
                </a:tc>
                <a:tc>
                  <a:txBody>
                    <a:bodyPr/>
                    <a:lstStyle/>
                    <a:p>
                      <a:r>
                        <a:rPr sz="1950" b="0">
                          <a:solidFill>
                            <a:srgbClr val="233747"/>
                          </a:solidFill>
                          <a:latin typeface="Arial"/>
                          <a:ea typeface="Arial"/>
                          <a:cs typeface="Arial"/>
                        </a:rPr>
                        <a:t>0/9</a:t>
                      </a:r>
                    </a:p>
                  </a:txBody>
                  <a:tcPr marL="91440" marR="91440" marT="45720" marB="45720">
                    <a:solidFill>
                      <a:srgbClr val="EFF5F6"/>
                    </a:solidFill>
                  </a:tcPr>
                </a:tc>
                <a:tc>
                  <a:txBody>
                    <a:bodyPr/>
                    <a:lstStyle/>
                    <a:p>
                      <a:r>
                        <a:rPr sz="1950" b="0">
                          <a:solidFill>
                            <a:srgbClr val="233747"/>
                          </a:solidFill>
                          <a:latin typeface="Arial"/>
                          <a:ea typeface="Arial"/>
                          <a:cs typeface="Arial"/>
                        </a:rPr>
                        <a:t>54</a:t>
                      </a:r>
                    </a:p>
                  </a:txBody>
                  <a:tcPr marL="91440" marR="91440" marT="45720" marB="45720">
                    <a:solidFill>
                      <a:srgbClr val="EFF5F6"/>
                    </a:solidFill>
                  </a:tcPr>
                </a:tc>
              </a:tr>
              <a:tr h="595313">
                <a:tc>
                  <a:txBody>
                    <a:bodyPr/>
                    <a:lstStyle/>
                    <a:p>
                      <a:r>
                        <a:rPr sz="1950" b="0">
                          <a:solidFill>
                            <a:srgbClr val="233747"/>
                          </a:solidFill>
                          <a:latin typeface="Arial"/>
                          <a:ea typeface="Arial"/>
                          <a:cs typeface="Arial"/>
                        </a:rPr>
                        <a:t>GAT initial protégé</a:t>
                      </a:r>
                    </a:p>
                  </a:txBody>
                  <a:tcPr marL="91440" marR="91440" marT="45720" marB="45720">
                    <a:solidFill>
                      <a:srgbClr val="FFFFFF"/>
                    </a:solidFill>
                  </a:tcPr>
                </a:tc>
                <a:tc>
                  <a:txBody>
                    <a:bodyPr/>
                    <a:lstStyle/>
                    <a:p>
                      <a:r>
                        <a:rPr sz="1950" b="0">
                          <a:solidFill>
                            <a:srgbClr val="233747"/>
                          </a:solidFill>
                          <a:latin typeface="Arial"/>
                          <a:ea typeface="Arial"/>
                          <a:cs typeface="Arial"/>
                        </a:rPr>
                        <a:t>9/9</a:t>
                      </a:r>
                    </a:p>
                  </a:txBody>
                  <a:tcPr marL="91440" marR="91440" marT="45720" marB="45720">
                    <a:solidFill>
                      <a:srgbClr val="FFFFFF"/>
                    </a:solidFill>
                  </a:tcPr>
                </a:tc>
                <a:tc>
                  <a:txBody>
                    <a:bodyPr/>
                    <a:lstStyle/>
                    <a:p>
                      <a:r>
                        <a:rPr sz="1950" b="0">
                          <a:solidFill>
                            <a:srgbClr val="233747"/>
                          </a:solidFill>
                          <a:latin typeface="Arial"/>
                          <a:ea typeface="Arial"/>
                          <a:cs typeface="Arial"/>
                        </a:rPr>
                        <a:t>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936619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FC26B7-3CE9-4DD3-8EE9-84B6AD4AAAC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40A1F3-FE8A-4464-9D87-DEEAD28AA25A}"/>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Une figure précise peut avoir subi des contacts</a:t>
            </a:r>
          </a:p>
        </p:txBody>
      </p:sp>
      <p:sp>
        <p:nvSpPr>
          <p:cNvPr id="3" name="">
            <a:extLst xmlns:a="http://schemas.openxmlformats.org/drawingml/2006/main">
              <a:ext uri="{FF2B5EF4-FFF2-40B4-BE49-F238E27FC236}">
                <a16:creationId xmlns:a16="http://schemas.microsoft.com/office/drawing/2014/main" id="{02342071-2C4B-4EF0-BEDC-C3F2EE213AEA}"/>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11 / 20</a:t>
            </a:r>
          </a:p>
        </p:txBody>
      </p:sp>
      <p:sp>
        <p:nvSpPr>
          <p:cNvPr id="4" name="">
            <a:extLst xmlns:a="http://schemas.openxmlformats.org/drawingml/2006/main">
              <a:ext uri="{FF2B5EF4-FFF2-40B4-BE49-F238E27FC236}">
                <a16:creationId xmlns:a16="http://schemas.microsoft.com/office/drawing/2014/main" id="{93F7D3C1-52EB-4A09-B136-19305F9D4504}"/>
              </a:ext>
            </a:extLst>
          </p:cNvPr>
          <p:cNvSpPr>
            <a:spLocks xmlns:a="http://schemas.openxmlformats.org/drawingml/2006/main" noGrp="1"/>
          </p:cNvSpPr>
          <p:nvPr/>
        </p:nvSpPr>
        <p:spPr>
          <a:xfrm xmlns:a="http://schemas.openxmlformats.org/drawingml/2006/main">
            <a:off x="571500" y="1457325"/>
            <a:ext cx="5095875"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7"/>
                </a:solidFill>
                <a:latin typeface="Arial"/>
                <a:ea typeface="Arial"/>
                <a:cs typeface="Arial"/>
              </a:defRPr>
            </a:defPPr>
            <a:lvl1pPr>
              <a:defRPr sz="2025" b="0">
                <a:solidFill>
                  <a:srgbClr val="233747"/>
                </a:solidFill>
                <a:latin typeface="Arial"/>
                <a:ea typeface="Arial"/>
                <a:cs typeface="Arial"/>
              </a:defRPr>
            </a:lvl1pPr>
            <a:lvl2pPr>
              <a:defRPr sz="2025" b="0">
                <a:solidFill>
                  <a:srgbClr val="233747"/>
                </a:solidFill>
                <a:latin typeface="Arial"/>
                <a:ea typeface="Arial"/>
                <a:cs typeface="Arial"/>
              </a:defRPr>
            </a:lvl2pPr>
            <a:lvl3pPr>
              <a:defRPr sz="2025" b="0">
                <a:solidFill>
                  <a:srgbClr val="233747"/>
                </a:solidFill>
                <a:latin typeface="Arial"/>
                <a:ea typeface="Arial"/>
                <a:cs typeface="Arial"/>
              </a:defRPr>
            </a:lvl3pPr>
            <a:lvl4pPr>
              <a:defRPr sz="2025" b="0">
                <a:solidFill>
                  <a:srgbClr val="233747"/>
                </a:solidFill>
                <a:latin typeface="Arial"/>
                <a:ea typeface="Arial"/>
                <a:cs typeface="Arial"/>
              </a:defRPr>
            </a:lvl4pPr>
            <a:lvl5pPr>
              <a:defRPr sz="2025" b="0">
                <a:solidFill>
                  <a:srgbClr val="233747"/>
                </a:solidFill>
                <a:latin typeface="Arial"/>
                <a:ea typeface="Arial"/>
                <a:cs typeface="Arial"/>
              </a:defRPr>
            </a:lvl5pPr>
            <a:lvl6pPr>
              <a:defRPr sz="2025" b="0">
                <a:solidFill>
                  <a:srgbClr val="233747"/>
                </a:solidFill>
                <a:latin typeface="Arial"/>
                <a:ea typeface="Arial"/>
                <a:cs typeface="Arial"/>
              </a:defRPr>
            </a:lvl6pPr>
            <a:lvl7pPr>
              <a:defRPr sz="2025" b="0">
                <a:solidFill>
                  <a:srgbClr val="233747"/>
                </a:solidFill>
                <a:latin typeface="Arial"/>
                <a:ea typeface="Arial"/>
                <a:cs typeface="Arial"/>
              </a:defRPr>
            </a:lvl7pPr>
            <a:lvl8pPr>
              <a:defRPr sz="2025" b="0">
                <a:solidFill>
                  <a:srgbClr val="233747"/>
                </a:solidFill>
                <a:latin typeface="Arial"/>
                <a:ea typeface="Arial"/>
                <a:cs typeface="Arial"/>
              </a:defRPr>
            </a:lvl8pPr>
            <a:lvl9pPr>
              <a:defRPr sz="2025" b="0">
                <a:solidFill>
                  <a:srgbClr val="233747"/>
                </a:solidFill>
                <a:latin typeface="Arial"/>
                <a:ea typeface="Arial"/>
                <a:cs typeface="Arial"/>
              </a:defRPr>
            </a:lvl9pPr>
          </a:lstStyle>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Ellipse · 12 robots · départ 7300</a:t>
            </a:r>
          </a:p>
          <a:p xmlns:a="http://schemas.openxmlformats.org/drawingml/2006/main">
            <a:r>
              <a:t/>
            </a:r>
          </a:p>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GAT brut et protégé finissent à environ 9,28 mm d’erreur</a:t>
            </a:r>
          </a:p>
          <a:p xmlns:a="http://schemas.openxmlformats.org/drawingml/2006/main">
            <a:r>
              <a:t/>
            </a:r>
          </a:p>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Brut : 5 contacts · protégé : aucun</a:t>
            </a:r>
          </a:p>
          <a:p xmlns:a="http://schemas.openxmlformats.org/drawingml/2006/main">
            <a:r>
              <a:t/>
            </a:r>
          </a:p>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Ce cas appartient déjà aux neuf essais précédents</a:t>
            </a:r>
          </a:p>
        </p:txBody>
      </p:sp>
      <p:pic>
        <p:nvPicPr>
          <p:cNvPr id="5" name="">
            <a:extLst xmlns:a="http://schemas.openxmlformats.org/drawingml/2006/main">
              <a:ext uri="{FF2B5EF4-FFF2-40B4-BE49-F238E27FC236}">
                <a16:creationId xmlns:a16="http://schemas.microsoft.com/office/drawing/2014/main" id="{E2A17943-72FD-4C0B-8C29-719B9D978D9F}"/>
              </a:ext>
            </a:extLst>
          </p:cNvPr>
          <p:cNvPicPr>
            <a:picLocks xmlns:a="http://schemas.openxmlformats.org/drawingml/2006/main" noChangeAspect="1"/>
          </p:cNvPicPr>
          <p:nvPr/>
        </p:nvPicPr>
        <p:blipFill>
          <a:blip xmlns:r="http://schemas.openxmlformats.org/officeDocument/2006/relationships" xmlns:a="http://schemas.openxmlformats.org/drawingml/2006/main" r:embed="R79d7d7a5baa94eaf"/>
          <a:stretch xmlns:a="http://schemas.openxmlformats.org/drawingml/2006/main"/>
        </p:blipFill>
        <p:spPr>
          <a:xfrm xmlns:a="http://schemas.openxmlformats.org/drawingml/2006/main">
            <a:off x="6199217" y="1352550"/>
            <a:ext cx="5222816" cy="4762500"/>
          </a:xfrm>
          <a:prstGeom xmlns:a="http://schemas.openxmlformats.org/drawingml/2006/main" prst="rect">
            <a:avLst/>
          </a:prstGeom>
        </p:spPr>
      </p:pic>
    </p:spTree>
    <p:extLst>
      <p:ext uri="{BB962C8B-B14F-4D97-AF65-F5344CB8AC3E}">
        <p14:creationId xmlns:p14="http://schemas.microsoft.com/office/powerpoint/2010/main" val="13263883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5413AA-68A5-4655-BF33-FACFFF13D14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D0B706-4B86-4C10-B44D-793D6E55342B}"/>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Le modèle structuré réussit les 18 cas réservés</a:t>
            </a:r>
          </a:p>
        </p:txBody>
      </p:sp>
      <p:sp>
        <p:nvSpPr>
          <p:cNvPr id="3" name="">
            <a:extLst xmlns:a="http://schemas.openxmlformats.org/drawingml/2006/main">
              <a:ext uri="{FF2B5EF4-FFF2-40B4-BE49-F238E27FC236}">
                <a16:creationId xmlns:a16="http://schemas.microsoft.com/office/drawing/2014/main" id="{26689CC7-724C-4FFD-BBF6-C8ACF31B1C36}"/>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12 / 20</a:t>
            </a:r>
          </a:p>
        </p:txBody>
      </p:sp>
      <p:sp>
        <p:nvSpPr>
          <p:cNvPr id="4" name="">
            <a:extLst xmlns:a="http://schemas.openxmlformats.org/drawingml/2006/main">
              <a:ext uri="{FF2B5EF4-FFF2-40B4-BE49-F238E27FC236}">
                <a16:creationId xmlns:a16="http://schemas.microsoft.com/office/drawing/2014/main" id="{7BFCEE36-A6E0-439A-8E08-9F79E757221D}"/>
              </a:ext>
            </a:extLst>
          </p:cNvPr>
          <p:cNvSpPr>
            <a:spLocks xmlns:a="http://schemas.openxmlformats.org/drawingml/2006/main" noGrp="1"/>
          </p:cNvSpPr>
          <p:nvPr/>
        </p:nvSpPr>
        <p:spPr>
          <a:xfrm xmlns:a="http://schemas.openxmlformats.org/drawingml/2006/main">
            <a:off x="571500" y="1381125"/>
            <a:ext cx="1100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33747"/>
                </a:solidFill>
                <a:latin typeface="Arial"/>
                <a:ea typeface="Arial"/>
                <a:cs typeface="Arial"/>
              </a:defRPr>
            </a:defPPr>
            <a:lvl1pPr>
              <a:defRPr sz="1950" b="0">
                <a:solidFill>
                  <a:srgbClr val="233747"/>
                </a:solidFill>
                <a:latin typeface="Arial"/>
                <a:ea typeface="Arial"/>
                <a:cs typeface="Arial"/>
              </a:defRPr>
            </a:lvl1pPr>
            <a:lvl2pPr>
              <a:defRPr sz="1950" b="0">
                <a:solidFill>
                  <a:srgbClr val="233747"/>
                </a:solidFill>
                <a:latin typeface="Arial"/>
                <a:ea typeface="Arial"/>
                <a:cs typeface="Arial"/>
              </a:defRPr>
            </a:lvl2pPr>
            <a:lvl3pPr>
              <a:defRPr sz="1950" b="0">
                <a:solidFill>
                  <a:srgbClr val="233747"/>
                </a:solidFill>
                <a:latin typeface="Arial"/>
                <a:ea typeface="Arial"/>
                <a:cs typeface="Arial"/>
              </a:defRPr>
            </a:lvl3pPr>
            <a:lvl4pPr>
              <a:defRPr sz="1950" b="0">
                <a:solidFill>
                  <a:srgbClr val="233747"/>
                </a:solidFill>
                <a:latin typeface="Arial"/>
                <a:ea typeface="Arial"/>
                <a:cs typeface="Arial"/>
              </a:defRPr>
            </a:lvl4pPr>
            <a:lvl5pPr>
              <a:defRPr sz="1950" b="0">
                <a:solidFill>
                  <a:srgbClr val="233747"/>
                </a:solidFill>
                <a:latin typeface="Arial"/>
                <a:ea typeface="Arial"/>
                <a:cs typeface="Arial"/>
              </a:defRPr>
            </a:lvl5pPr>
            <a:lvl6pPr>
              <a:defRPr sz="1950" b="0">
                <a:solidFill>
                  <a:srgbClr val="233747"/>
                </a:solidFill>
                <a:latin typeface="Arial"/>
                <a:ea typeface="Arial"/>
                <a:cs typeface="Arial"/>
              </a:defRPr>
            </a:lvl6pPr>
            <a:lvl7pPr>
              <a:defRPr sz="1950" b="0">
                <a:solidFill>
                  <a:srgbClr val="233747"/>
                </a:solidFill>
                <a:latin typeface="Arial"/>
                <a:ea typeface="Arial"/>
                <a:cs typeface="Arial"/>
              </a:defRPr>
            </a:lvl7pPr>
            <a:lvl8pPr>
              <a:defRPr sz="1950" b="0">
                <a:solidFill>
                  <a:srgbClr val="233747"/>
                </a:solidFill>
                <a:latin typeface="Arial"/>
                <a:ea typeface="Arial"/>
                <a:cs typeface="Arial"/>
              </a:defRPr>
            </a:lvl8pPr>
            <a:lvl9pPr>
              <a:defRPr sz="1950" b="0">
                <a:solidFill>
                  <a:srgbClr val="233747"/>
                </a:solidFill>
                <a:latin typeface="Arial"/>
                <a:ea typeface="Arial"/>
                <a:cs typeface="Arial"/>
              </a:defRPr>
            </a:lvl9pPr>
          </a:lstStyle>
          <a:p xmlns:a="http://schemas.openxmlformats.org/drawingml/2006/main">
            <a:pPr>
              <a:defRPr sz="1950" b="0">
                <a:solidFill>
                  <a:srgbClr val="233747"/>
                </a:solidFill>
                <a:latin typeface="Arial"/>
                <a:ea typeface="Arial"/>
                <a:cs typeface="Arial"/>
              </a:defRPr>
            </a:pPr>
            <a:r>
              <a:rPr sz="1950" b="0">
                <a:solidFill>
                  <a:srgbClr val="233747"/>
                </a:solidFill>
                <a:latin typeface="Arial"/>
                <a:ea typeface="Arial"/>
                <a:cs typeface="Arial"/>
              </a:rPr>
              <a:t>Rectangle, lettre C et nombre 3</a:t>
            </a:r>
          </a:p>
        </p:txBody>
      </p:sp>
      <p:sp>
        <p:nvSpPr>
          <p:cNvPr id="5" name="">
            <a:extLst xmlns:a="http://schemas.openxmlformats.org/drawingml/2006/main">
              <a:ext uri="{FF2B5EF4-FFF2-40B4-BE49-F238E27FC236}">
                <a16:creationId xmlns:a16="http://schemas.microsoft.com/office/drawing/2014/main" id="{831E438F-8B4B-4469-8D91-C1EEA0137DC7}"/>
              </a:ext>
            </a:extLst>
          </p:cNvPr>
          <p:cNvSpPr>
            <a:spLocks xmlns:a="http://schemas.openxmlformats.org/drawingml/2006/main" noGrp="1"/>
          </p:cNvSpPr>
          <p:nvPr/>
        </p:nvSpPr>
        <p:spPr>
          <a:xfrm xmlns:a="http://schemas.openxmlformats.org/drawingml/2006/main">
            <a:off x="571500" y="1809750"/>
            <a:ext cx="1100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33747"/>
                </a:solidFill>
                <a:latin typeface="Arial"/>
                <a:ea typeface="Arial"/>
                <a:cs typeface="Arial"/>
              </a:defRPr>
            </a:defPPr>
            <a:lvl1pPr>
              <a:defRPr sz="1950" b="0">
                <a:solidFill>
                  <a:srgbClr val="233747"/>
                </a:solidFill>
                <a:latin typeface="Arial"/>
                <a:ea typeface="Arial"/>
                <a:cs typeface="Arial"/>
              </a:defRPr>
            </a:lvl1pPr>
            <a:lvl2pPr>
              <a:defRPr sz="1950" b="0">
                <a:solidFill>
                  <a:srgbClr val="233747"/>
                </a:solidFill>
                <a:latin typeface="Arial"/>
                <a:ea typeface="Arial"/>
                <a:cs typeface="Arial"/>
              </a:defRPr>
            </a:lvl2pPr>
            <a:lvl3pPr>
              <a:defRPr sz="1950" b="0">
                <a:solidFill>
                  <a:srgbClr val="233747"/>
                </a:solidFill>
                <a:latin typeface="Arial"/>
                <a:ea typeface="Arial"/>
                <a:cs typeface="Arial"/>
              </a:defRPr>
            </a:lvl3pPr>
            <a:lvl4pPr>
              <a:defRPr sz="1950" b="0">
                <a:solidFill>
                  <a:srgbClr val="233747"/>
                </a:solidFill>
                <a:latin typeface="Arial"/>
                <a:ea typeface="Arial"/>
                <a:cs typeface="Arial"/>
              </a:defRPr>
            </a:lvl4pPr>
            <a:lvl5pPr>
              <a:defRPr sz="1950" b="0">
                <a:solidFill>
                  <a:srgbClr val="233747"/>
                </a:solidFill>
                <a:latin typeface="Arial"/>
                <a:ea typeface="Arial"/>
                <a:cs typeface="Arial"/>
              </a:defRPr>
            </a:lvl5pPr>
            <a:lvl6pPr>
              <a:defRPr sz="1950" b="0">
                <a:solidFill>
                  <a:srgbClr val="233747"/>
                </a:solidFill>
                <a:latin typeface="Arial"/>
                <a:ea typeface="Arial"/>
                <a:cs typeface="Arial"/>
              </a:defRPr>
            </a:lvl6pPr>
            <a:lvl7pPr>
              <a:defRPr sz="1950" b="0">
                <a:solidFill>
                  <a:srgbClr val="233747"/>
                </a:solidFill>
                <a:latin typeface="Arial"/>
                <a:ea typeface="Arial"/>
                <a:cs typeface="Arial"/>
              </a:defRPr>
            </a:lvl7pPr>
            <a:lvl8pPr>
              <a:defRPr sz="1950" b="0">
                <a:solidFill>
                  <a:srgbClr val="233747"/>
                </a:solidFill>
                <a:latin typeface="Arial"/>
                <a:ea typeface="Arial"/>
                <a:cs typeface="Arial"/>
              </a:defRPr>
            </a:lvl8pPr>
            <a:lvl9pPr>
              <a:defRPr sz="1950" b="0">
                <a:solidFill>
                  <a:srgbClr val="233747"/>
                </a:solidFill>
                <a:latin typeface="Arial"/>
                <a:ea typeface="Arial"/>
                <a:cs typeface="Arial"/>
              </a:defRPr>
            </a:lvl9pPr>
          </a:lstStyle>
          <a:p xmlns:a="http://schemas.openxmlformats.org/drawingml/2006/main">
            <a:pPr>
              <a:defRPr sz="1950" b="0">
                <a:solidFill>
                  <a:srgbClr val="233747"/>
                </a:solidFill>
                <a:latin typeface="Arial"/>
                <a:ea typeface="Arial"/>
                <a:cs typeface="Arial"/>
              </a:defRPr>
            </a:pPr>
            <a:r>
              <a:rPr sz="1950" b="0">
                <a:solidFill>
                  <a:srgbClr val="233747"/>
                </a:solidFill>
                <a:latin typeface="Arial"/>
                <a:ea typeface="Arial"/>
                <a:cs typeface="Arial"/>
              </a:rPr>
              <a:t>Deux départs par effectif · six configurations initiales distinctes</a:t>
            </a:r>
          </a:p>
        </p:txBody>
      </p:sp>
      <p:sp>
        <p:nvSpPr>
          <p:cNvPr id="6" name="">
            <a:extLst xmlns:a="http://schemas.openxmlformats.org/drawingml/2006/main">
              <a:ext uri="{FF2B5EF4-FFF2-40B4-BE49-F238E27FC236}">
                <a16:creationId xmlns:a16="http://schemas.microsoft.com/office/drawing/2014/main" id="{32274DBE-469C-428B-9024-0DA2B4391DCF}"/>
              </a:ext>
            </a:extLst>
          </p:cNvPr>
          <p:cNvSpPr>
            <a:spLocks xmlns:a="http://schemas.openxmlformats.org/drawingml/2006/main" noGrp="1"/>
          </p:cNvSpPr>
          <p:nvPr/>
        </p:nvSpPr>
        <p:spPr>
          <a:xfrm xmlns:a="http://schemas.openxmlformats.org/drawingml/2006/main">
            <a:off x="571500" y="2238375"/>
            <a:ext cx="1100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33747"/>
                </a:solidFill>
                <a:latin typeface="Arial"/>
                <a:ea typeface="Arial"/>
                <a:cs typeface="Arial"/>
              </a:defRPr>
            </a:defPPr>
            <a:lvl1pPr>
              <a:defRPr sz="1950" b="0">
                <a:solidFill>
                  <a:srgbClr val="233747"/>
                </a:solidFill>
                <a:latin typeface="Arial"/>
                <a:ea typeface="Arial"/>
                <a:cs typeface="Arial"/>
              </a:defRPr>
            </a:lvl1pPr>
            <a:lvl2pPr>
              <a:defRPr sz="1950" b="0">
                <a:solidFill>
                  <a:srgbClr val="233747"/>
                </a:solidFill>
                <a:latin typeface="Arial"/>
                <a:ea typeface="Arial"/>
                <a:cs typeface="Arial"/>
              </a:defRPr>
            </a:lvl2pPr>
            <a:lvl3pPr>
              <a:defRPr sz="1950" b="0">
                <a:solidFill>
                  <a:srgbClr val="233747"/>
                </a:solidFill>
                <a:latin typeface="Arial"/>
                <a:ea typeface="Arial"/>
                <a:cs typeface="Arial"/>
              </a:defRPr>
            </a:lvl3pPr>
            <a:lvl4pPr>
              <a:defRPr sz="1950" b="0">
                <a:solidFill>
                  <a:srgbClr val="233747"/>
                </a:solidFill>
                <a:latin typeface="Arial"/>
                <a:ea typeface="Arial"/>
                <a:cs typeface="Arial"/>
              </a:defRPr>
            </a:lvl4pPr>
            <a:lvl5pPr>
              <a:defRPr sz="1950" b="0">
                <a:solidFill>
                  <a:srgbClr val="233747"/>
                </a:solidFill>
                <a:latin typeface="Arial"/>
                <a:ea typeface="Arial"/>
                <a:cs typeface="Arial"/>
              </a:defRPr>
            </a:lvl5pPr>
            <a:lvl6pPr>
              <a:defRPr sz="1950" b="0">
                <a:solidFill>
                  <a:srgbClr val="233747"/>
                </a:solidFill>
                <a:latin typeface="Arial"/>
                <a:ea typeface="Arial"/>
                <a:cs typeface="Arial"/>
              </a:defRPr>
            </a:lvl6pPr>
            <a:lvl7pPr>
              <a:defRPr sz="1950" b="0">
                <a:solidFill>
                  <a:srgbClr val="233747"/>
                </a:solidFill>
                <a:latin typeface="Arial"/>
                <a:ea typeface="Arial"/>
                <a:cs typeface="Arial"/>
              </a:defRPr>
            </a:lvl7pPr>
            <a:lvl8pPr>
              <a:defRPr sz="1950" b="0">
                <a:solidFill>
                  <a:srgbClr val="233747"/>
                </a:solidFill>
                <a:latin typeface="Arial"/>
                <a:ea typeface="Arial"/>
                <a:cs typeface="Arial"/>
              </a:defRPr>
            </a:lvl8pPr>
            <a:lvl9pPr>
              <a:defRPr sz="1950" b="0">
                <a:solidFill>
                  <a:srgbClr val="233747"/>
                </a:solidFill>
                <a:latin typeface="Arial"/>
                <a:ea typeface="Arial"/>
                <a:cs typeface="Arial"/>
              </a:defRPr>
            </a:lvl9pPr>
          </a:lstStyle>
          <a:p xmlns:a="http://schemas.openxmlformats.org/drawingml/2006/main">
            <a:pPr>
              <a:defRPr sz="1950" b="0">
                <a:solidFill>
                  <a:srgbClr val="233747"/>
                </a:solidFill>
                <a:latin typeface="Arial"/>
                <a:ea typeface="Arial"/>
                <a:cs typeface="Arial"/>
              </a:defRPr>
            </a:pPr>
            <a:r>
              <a:rPr sz="1950" b="0">
                <a:solidFill>
                  <a:srgbClr val="233747"/>
                </a:solidFill>
                <a:latin typeface="Arial"/>
                <a:ea typeface="Arial"/>
                <a:cs typeface="Arial"/>
              </a:rPr>
              <a:t>Sans filtre pendant les phases de mouvement apprises</a:t>
            </a:r>
          </a:p>
        </p:txBody>
      </p:sp>
      <p:graphicFrame>
        <p:nvGraphicFramePr>
          <p:cNvPr id="7" name="">
            <a:extLst xmlns:a="http://schemas.openxmlformats.org/drawingml/2006/main">
              <a:ext uri="{FF2B5EF4-FFF2-40B4-BE49-F238E27FC236}">
                <a16:creationId xmlns:a16="http://schemas.microsoft.com/office/drawing/2014/main" id="{CC671B70-7354-4287-A1CB-AC1268B77CD5}"/>
              </a:ext>
            </a:extLst>
          </p:cNvPr>
          <p:cNvGraphicFramePr/>
          <p:nvPr/>
        </p:nvGraphicFramePr>
        <p:xfrm>
          <a:off xmlns:a="http://schemas.openxmlformats.org/drawingml/2006/main" x="571500" y="2847975"/>
          <a:ext xmlns:a="http://schemas.openxmlformats.org/drawingml/2006/main" cx="10953750" cy="2381250"/>
        </p:xfrm>
        <a:graphic xmlns:a="http://schemas.openxmlformats.org/drawingml/2006/main">
          <a:graphicData uri="http://schemas.openxmlformats.org/drawingml/2006/table">
            <a:tbl>
              <a:tblPr/>
              <a:tblGrid>
                <a:gridCol w="6191250"/>
                <a:gridCol w="2381250"/>
                <a:gridCol w="2381250"/>
              </a:tblGrid>
              <a:tr h="595313">
                <a:tc>
                  <a:txBody>
                    <a:bodyPr/>
                    <a:lstStyle/>
                    <a:p>
                      <a:r>
                        <a:rPr sz="1875" b="1">
                          <a:solidFill>
                            <a:srgbClr val="FFFFFF"/>
                          </a:solidFill>
                          <a:latin typeface="Arial"/>
                          <a:ea typeface="Arial"/>
                          <a:cs typeface="Arial"/>
                        </a:rPr>
                        <a:t>Effectif</a:t>
                      </a:r>
                    </a:p>
                  </a:txBody>
                  <a:tcPr marL="91440" marR="91440" marT="45720" marB="45720">
                    <a:solidFill>
                      <a:srgbClr val="103B50"/>
                    </a:solidFill>
                  </a:tcPr>
                </a:tc>
                <a:tc>
                  <a:txBody>
                    <a:bodyPr/>
                    <a:lstStyle/>
                    <a:p>
                      <a:r>
                        <a:rPr sz="1875" b="1">
                          <a:solidFill>
                            <a:srgbClr val="FFFFFF"/>
                          </a:solidFill>
                          <a:latin typeface="Arial"/>
                          <a:ea typeface="Arial"/>
                          <a:cs typeface="Arial"/>
                        </a:rPr>
                        <a:t>Réussites</a:t>
                      </a:r>
                    </a:p>
                  </a:txBody>
                  <a:tcPr marL="91440" marR="91440" marT="45720" marB="45720">
                    <a:solidFill>
                      <a:srgbClr val="103B50"/>
                    </a:solidFill>
                  </a:tcPr>
                </a:tc>
                <a:tc>
                  <a:txBody>
                    <a:bodyPr/>
                    <a:lstStyle/>
                    <a:p>
                      <a:r>
                        <a:rPr sz="1875" b="1">
                          <a:solidFill>
                            <a:srgbClr val="FFFFFF"/>
                          </a:solidFill>
                          <a:latin typeface="Arial"/>
                          <a:ea typeface="Arial"/>
                          <a:cs typeface="Arial"/>
                        </a:rPr>
                        <a:t>Contacts</a:t>
                      </a:r>
                    </a:p>
                  </a:txBody>
                  <a:tcPr marL="91440" marR="91440" marT="45720" marB="45720">
                    <a:solidFill>
                      <a:srgbClr val="103B50"/>
                    </a:solidFill>
                  </a:tcPr>
                </a:tc>
              </a:tr>
              <a:tr h="595313">
                <a:tc>
                  <a:txBody>
                    <a:bodyPr/>
                    <a:lstStyle/>
                    <a:p>
                      <a:r>
                        <a:rPr sz="1950" b="0">
                          <a:solidFill>
                            <a:srgbClr val="233747"/>
                          </a:solidFill>
                          <a:latin typeface="Arial"/>
                          <a:ea typeface="Arial"/>
                          <a:cs typeface="Arial"/>
                        </a:rPr>
                        <a:t>12 robots</a:t>
                      </a:r>
                    </a:p>
                  </a:txBody>
                  <a:tcPr marL="91440" marR="91440" marT="45720" marB="45720">
                    <a:solidFill>
                      <a:srgbClr val="FFFFFF"/>
                    </a:solidFill>
                  </a:tcPr>
                </a:tc>
                <a:tc>
                  <a:txBody>
                    <a:bodyPr/>
                    <a:lstStyle/>
                    <a:p>
                      <a:r>
                        <a:rPr sz="1950" b="0">
                          <a:solidFill>
                            <a:srgbClr val="233747"/>
                          </a:solidFill>
                          <a:latin typeface="Arial"/>
                          <a:ea typeface="Arial"/>
                          <a:cs typeface="Arial"/>
                        </a:rPr>
                        <a:t>6/6</a:t>
                      </a:r>
                    </a:p>
                  </a:txBody>
                  <a:tcPr marL="91440" marR="91440" marT="45720" marB="45720">
                    <a:solidFill>
                      <a:srgbClr val="FFFFFF"/>
                    </a:solidFill>
                  </a:tcPr>
                </a:tc>
                <a:tc>
                  <a:txBody>
                    <a:bodyPr/>
                    <a:lstStyle/>
                    <a:p>
                      <a:r>
                        <a:rPr sz="1950" b="0">
                          <a:solidFill>
                            <a:srgbClr val="233747"/>
                          </a:solidFill>
                          <a:latin typeface="Arial"/>
                          <a:ea typeface="Arial"/>
                          <a:cs typeface="Arial"/>
                        </a:rPr>
                        <a:t>0</a:t>
                      </a:r>
                    </a:p>
                  </a:txBody>
                  <a:tcPr marL="91440" marR="91440" marT="45720" marB="45720">
                    <a:solidFill>
                      <a:srgbClr val="FFFFFF"/>
                    </a:solidFill>
                  </a:tcPr>
                </a:tc>
              </a:tr>
              <a:tr h="595313">
                <a:tc>
                  <a:txBody>
                    <a:bodyPr/>
                    <a:lstStyle/>
                    <a:p>
                      <a:r>
                        <a:rPr sz="1950" b="0">
                          <a:solidFill>
                            <a:srgbClr val="233747"/>
                          </a:solidFill>
                          <a:latin typeface="Arial"/>
                          <a:ea typeface="Arial"/>
                          <a:cs typeface="Arial"/>
                        </a:rPr>
                        <a:t>24 robots</a:t>
                      </a:r>
                    </a:p>
                  </a:txBody>
                  <a:tcPr marL="91440" marR="91440" marT="45720" marB="45720">
                    <a:solidFill>
                      <a:srgbClr val="EFF5F6"/>
                    </a:solidFill>
                  </a:tcPr>
                </a:tc>
                <a:tc>
                  <a:txBody>
                    <a:bodyPr/>
                    <a:lstStyle/>
                    <a:p>
                      <a:r>
                        <a:rPr sz="1950" b="0">
                          <a:solidFill>
                            <a:srgbClr val="233747"/>
                          </a:solidFill>
                          <a:latin typeface="Arial"/>
                          <a:ea typeface="Arial"/>
                          <a:cs typeface="Arial"/>
                        </a:rPr>
                        <a:t>6/6</a:t>
                      </a:r>
                    </a:p>
                  </a:txBody>
                  <a:tcPr marL="91440" marR="91440" marT="45720" marB="45720">
                    <a:solidFill>
                      <a:srgbClr val="EFF5F6"/>
                    </a:solidFill>
                  </a:tcPr>
                </a:tc>
                <a:tc>
                  <a:txBody>
                    <a:bodyPr/>
                    <a:lstStyle/>
                    <a:p>
                      <a:r>
                        <a:rPr sz="1950" b="0">
                          <a:solidFill>
                            <a:srgbClr val="233747"/>
                          </a:solidFill>
                          <a:latin typeface="Arial"/>
                          <a:ea typeface="Arial"/>
                          <a:cs typeface="Arial"/>
                        </a:rPr>
                        <a:t>0</a:t>
                      </a:r>
                    </a:p>
                  </a:txBody>
                  <a:tcPr marL="91440" marR="91440" marT="45720" marB="45720">
                    <a:solidFill>
                      <a:srgbClr val="EFF5F6"/>
                    </a:solidFill>
                  </a:tcPr>
                </a:tc>
              </a:tr>
              <a:tr h="595313">
                <a:tc>
                  <a:txBody>
                    <a:bodyPr/>
                    <a:lstStyle/>
                    <a:p>
                      <a:r>
                        <a:rPr sz="1950" b="0">
                          <a:solidFill>
                            <a:srgbClr val="233747"/>
                          </a:solidFill>
                          <a:latin typeface="Arial"/>
                          <a:ea typeface="Arial"/>
                          <a:cs typeface="Arial"/>
                        </a:rPr>
                        <a:t>64 robots</a:t>
                      </a:r>
                    </a:p>
                  </a:txBody>
                  <a:tcPr marL="91440" marR="91440" marT="45720" marB="45720">
                    <a:solidFill>
                      <a:srgbClr val="FFFFFF"/>
                    </a:solidFill>
                  </a:tcPr>
                </a:tc>
                <a:tc>
                  <a:txBody>
                    <a:bodyPr/>
                    <a:lstStyle/>
                    <a:p>
                      <a:r>
                        <a:rPr sz="1950" b="0">
                          <a:solidFill>
                            <a:srgbClr val="233747"/>
                          </a:solidFill>
                          <a:latin typeface="Arial"/>
                          <a:ea typeface="Arial"/>
                          <a:cs typeface="Arial"/>
                        </a:rPr>
                        <a:t>6/6</a:t>
                      </a:r>
                    </a:p>
                  </a:txBody>
                  <a:tcPr marL="91440" marR="91440" marT="45720" marB="45720">
                    <a:solidFill>
                      <a:srgbClr val="FFFFFF"/>
                    </a:solidFill>
                  </a:tcPr>
                </a:tc>
                <a:tc>
                  <a:txBody>
                    <a:bodyPr/>
                    <a:lstStyle/>
                    <a:p>
                      <a:r>
                        <a:rPr sz="1950" b="0">
                          <a:solidFill>
                            <a:srgbClr val="233747"/>
                          </a:solidFill>
                          <a:latin typeface="Arial"/>
                          <a:ea typeface="Arial"/>
                          <a:cs typeface="Arial"/>
                        </a:rPr>
                        <a:t>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8101212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732862-897C-4168-B646-49317FC5213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9288BB-5036-4397-B06A-642E2DBB9F7B}"/>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À 64 robots, l’attribution coûte du temps</a:t>
            </a:r>
          </a:p>
        </p:txBody>
      </p:sp>
      <p:sp>
        <p:nvSpPr>
          <p:cNvPr id="3" name="">
            <a:extLst xmlns:a="http://schemas.openxmlformats.org/drawingml/2006/main">
              <a:ext uri="{FF2B5EF4-FFF2-40B4-BE49-F238E27FC236}">
                <a16:creationId xmlns:a16="http://schemas.microsoft.com/office/drawing/2014/main" id="{A070660B-C5D7-4876-B1DB-3430E09B3894}"/>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13 / 20</a:t>
            </a:r>
          </a:p>
        </p:txBody>
      </p:sp>
      <p:sp>
        <p:nvSpPr>
          <p:cNvPr id="4" name="">
            <a:extLst xmlns:a="http://schemas.openxmlformats.org/drawingml/2006/main">
              <a:ext uri="{FF2B5EF4-FFF2-40B4-BE49-F238E27FC236}">
                <a16:creationId xmlns:a16="http://schemas.microsoft.com/office/drawing/2014/main" id="{8B38E135-65B5-4A44-85EA-7D5B4957170E}"/>
              </a:ext>
            </a:extLst>
          </p:cNvPr>
          <p:cNvSpPr>
            <a:spLocks xmlns:a="http://schemas.openxmlformats.org/drawingml/2006/main" noGrp="1"/>
          </p:cNvSpPr>
          <p:nvPr/>
        </p:nvSpPr>
        <p:spPr>
          <a:xfrm xmlns:a="http://schemas.openxmlformats.org/drawingml/2006/main">
            <a:off x="571500" y="1457325"/>
            <a:ext cx="5095875"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7"/>
                </a:solidFill>
                <a:latin typeface="Arial"/>
                <a:ea typeface="Arial"/>
                <a:cs typeface="Arial"/>
              </a:defRPr>
            </a:defPPr>
            <a:lvl1pPr>
              <a:defRPr sz="2025" b="0">
                <a:solidFill>
                  <a:srgbClr val="233747"/>
                </a:solidFill>
                <a:latin typeface="Arial"/>
                <a:ea typeface="Arial"/>
                <a:cs typeface="Arial"/>
              </a:defRPr>
            </a:lvl1pPr>
            <a:lvl2pPr>
              <a:defRPr sz="2025" b="0">
                <a:solidFill>
                  <a:srgbClr val="233747"/>
                </a:solidFill>
                <a:latin typeface="Arial"/>
                <a:ea typeface="Arial"/>
                <a:cs typeface="Arial"/>
              </a:defRPr>
            </a:lvl2pPr>
            <a:lvl3pPr>
              <a:defRPr sz="2025" b="0">
                <a:solidFill>
                  <a:srgbClr val="233747"/>
                </a:solidFill>
                <a:latin typeface="Arial"/>
                <a:ea typeface="Arial"/>
                <a:cs typeface="Arial"/>
              </a:defRPr>
            </a:lvl3pPr>
            <a:lvl4pPr>
              <a:defRPr sz="2025" b="0">
                <a:solidFill>
                  <a:srgbClr val="233747"/>
                </a:solidFill>
                <a:latin typeface="Arial"/>
                <a:ea typeface="Arial"/>
                <a:cs typeface="Arial"/>
              </a:defRPr>
            </a:lvl4pPr>
            <a:lvl5pPr>
              <a:defRPr sz="2025" b="0">
                <a:solidFill>
                  <a:srgbClr val="233747"/>
                </a:solidFill>
                <a:latin typeface="Arial"/>
                <a:ea typeface="Arial"/>
                <a:cs typeface="Arial"/>
              </a:defRPr>
            </a:lvl5pPr>
            <a:lvl6pPr>
              <a:defRPr sz="2025" b="0">
                <a:solidFill>
                  <a:srgbClr val="233747"/>
                </a:solidFill>
                <a:latin typeface="Arial"/>
                <a:ea typeface="Arial"/>
                <a:cs typeface="Arial"/>
              </a:defRPr>
            </a:lvl6pPr>
            <a:lvl7pPr>
              <a:defRPr sz="2025" b="0">
                <a:solidFill>
                  <a:srgbClr val="233747"/>
                </a:solidFill>
                <a:latin typeface="Arial"/>
                <a:ea typeface="Arial"/>
                <a:cs typeface="Arial"/>
              </a:defRPr>
            </a:lvl7pPr>
            <a:lvl8pPr>
              <a:defRPr sz="2025" b="0">
                <a:solidFill>
                  <a:srgbClr val="233747"/>
                </a:solidFill>
                <a:latin typeface="Arial"/>
                <a:ea typeface="Arial"/>
                <a:cs typeface="Arial"/>
              </a:defRPr>
            </a:lvl8pPr>
            <a:lvl9pPr>
              <a:defRPr sz="2025" b="0">
                <a:solidFill>
                  <a:srgbClr val="233747"/>
                </a:solidFill>
                <a:latin typeface="Arial"/>
                <a:ea typeface="Arial"/>
                <a:cs typeface="Arial"/>
              </a:defRPr>
            </a:lvl9pPr>
          </a:lstStyle>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Jusqu’à N² tours locaux de 0,10 s</a:t>
            </a:r>
          </a:p>
          <a:p xmlns:a="http://schemas.openxmlformats.org/drawingml/2006/main">
            <a:r>
              <a:t/>
            </a:r>
          </a:p>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Attribution à 64 robots : 409,6 s simulées</a:t>
            </a:r>
          </a:p>
          <a:p xmlns:a="http://schemas.openxmlformats.org/drawingml/2006/main">
            <a:r>
              <a:t/>
            </a:r>
          </a:p>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Stabilisation moyenne complète : 465,8 s</a:t>
            </a:r>
          </a:p>
          <a:p xmlns:a="http://schemas.openxmlformats.org/drawingml/2006/main">
            <a:r>
              <a:t/>
            </a:r>
          </a:p>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Le protocole d’attribution est une piste d’amélioration</a:t>
            </a:r>
          </a:p>
        </p:txBody>
      </p:sp>
      <p:pic>
        <p:nvPicPr>
          <p:cNvPr id="5" name="">
            <a:extLst xmlns:a="http://schemas.openxmlformats.org/drawingml/2006/main">
              <a:ext uri="{FF2B5EF4-FFF2-40B4-BE49-F238E27FC236}">
                <a16:creationId xmlns:a16="http://schemas.microsoft.com/office/drawing/2014/main" id="{8EA0F49A-F6C3-4340-87EA-AD18D5320B1B}"/>
              </a:ext>
            </a:extLst>
          </p:cNvPr>
          <p:cNvPicPr>
            <a:picLocks xmlns:a="http://schemas.openxmlformats.org/drawingml/2006/main" noChangeAspect="1"/>
          </p:cNvPicPr>
          <p:nvPr/>
        </p:nvPicPr>
        <p:blipFill>
          <a:blip xmlns:r="http://schemas.openxmlformats.org/officeDocument/2006/relationships" xmlns:a="http://schemas.openxmlformats.org/drawingml/2006/main" r:embed="R0361ee56158d41a1"/>
          <a:stretch xmlns:a="http://schemas.openxmlformats.org/drawingml/2006/main"/>
        </p:blipFill>
        <p:spPr>
          <a:xfrm xmlns:a="http://schemas.openxmlformats.org/drawingml/2006/main">
            <a:off x="5953125" y="1620166"/>
            <a:ext cx="5715000" cy="4227268"/>
          </a:xfrm>
          <a:prstGeom xmlns:a="http://schemas.openxmlformats.org/drawingml/2006/main" prst="rect">
            <a:avLst/>
          </a:prstGeom>
        </p:spPr>
      </p:pic>
    </p:spTree>
    <p:extLst>
      <p:ext uri="{BB962C8B-B14F-4D97-AF65-F5344CB8AC3E}">
        <p14:creationId xmlns:p14="http://schemas.microsoft.com/office/powerpoint/2010/main" val="19711980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87522E-5AE0-4E31-85F9-63CE2D89781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01DA69-A764-43AC-BF4E-62096B496D94}"/>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Navigation près de cinq à dix obstacles</a:t>
            </a:r>
          </a:p>
        </p:txBody>
      </p:sp>
      <p:sp>
        <p:nvSpPr>
          <p:cNvPr id="3" name="">
            <a:extLst xmlns:a="http://schemas.openxmlformats.org/drawingml/2006/main">
              <a:ext uri="{FF2B5EF4-FFF2-40B4-BE49-F238E27FC236}">
                <a16:creationId xmlns:a16="http://schemas.microsoft.com/office/drawing/2014/main" id="{788BFDAD-B0CF-44F8-A839-CF896959A865}"/>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14 / 20</a:t>
            </a:r>
          </a:p>
        </p:txBody>
      </p:sp>
      <p:sp>
        <p:nvSpPr>
          <p:cNvPr id="4" name="">
            <a:extLst xmlns:a="http://schemas.openxmlformats.org/drawingml/2006/main">
              <a:ext uri="{FF2B5EF4-FFF2-40B4-BE49-F238E27FC236}">
                <a16:creationId xmlns:a16="http://schemas.microsoft.com/office/drawing/2014/main" id="{41C4ED9D-578A-448D-A5A3-338BDA092FBF}"/>
              </a:ext>
            </a:extLst>
          </p:cNvPr>
          <p:cNvSpPr>
            <a:spLocks xmlns:a="http://schemas.openxmlformats.org/drawingml/2006/main" noGrp="1"/>
          </p:cNvSpPr>
          <p:nvPr/>
        </p:nvSpPr>
        <p:spPr>
          <a:xfrm xmlns:a="http://schemas.openxmlformats.org/drawingml/2006/main">
            <a:off x="571500" y="1457325"/>
            <a:ext cx="5095875"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7"/>
                </a:solidFill>
                <a:latin typeface="Arial"/>
                <a:ea typeface="Arial"/>
                <a:cs typeface="Arial"/>
              </a:defRPr>
            </a:defPPr>
            <a:lvl1pPr>
              <a:defRPr sz="2025" b="0">
                <a:solidFill>
                  <a:srgbClr val="233747"/>
                </a:solidFill>
                <a:latin typeface="Arial"/>
                <a:ea typeface="Arial"/>
                <a:cs typeface="Arial"/>
              </a:defRPr>
            </a:lvl1pPr>
            <a:lvl2pPr>
              <a:defRPr sz="2025" b="0">
                <a:solidFill>
                  <a:srgbClr val="233747"/>
                </a:solidFill>
                <a:latin typeface="Arial"/>
                <a:ea typeface="Arial"/>
                <a:cs typeface="Arial"/>
              </a:defRPr>
            </a:lvl2pPr>
            <a:lvl3pPr>
              <a:defRPr sz="2025" b="0">
                <a:solidFill>
                  <a:srgbClr val="233747"/>
                </a:solidFill>
                <a:latin typeface="Arial"/>
                <a:ea typeface="Arial"/>
                <a:cs typeface="Arial"/>
              </a:defRPr>
            </a:lvl3pPr>
            <a:lvl4pPr>
              <a:defRPr sz="2025" b="0">
                <a:solidFill>
                  <a:srgbClr val="233747"/>
                </a:solidFill>
                <a:latin typeface="Arial"/>
                <a:ea typeface="Arial"/>
                <a:cs typeface="Arial"/>
              </a:defRPr>
            </a:lvl4pPr>
            <a:lvl5pPr>
              <a:defRPr sz="2025" b="0">
                <a:solidFill>
                  <a:srgbClr val="233747"/>
                </a:solidFill>
                <a:latin typeface="Arial"/>
                <a:ea typeface="Arial"/>
                <a:cs typeface="Arial"/>
              </a:defRPr>
            </a:lvl5pPr>
            <a:lvl6pPr>
              <a:defRPr sz="2025" b="0">
                <a:solidFill>
                  <a:srgbClr val="233747"/>
                </a:solidFill>
                <a:latin typeface="Arial"/>
                <a:ea typeface="Arial"/>
                <a:cs typeface="Arial"/>
              </a:defRPr>
            </a:lvl6pPr>
            <a:lvl7pPr>
              <a:defRPr sz="2025" b="0">
                <a:solidFill>
                  <a:srgbClr val="233747"/>
                </a:solidFill>
                <a:latin typeface="Arial"/>
                <a:ea typeface="Arial"/>
                <a:cs typeface="Arial"/>
              </a:defRPr>
            </a:lvl7pPr>
            <a:lvl8pPr>
              <a:defRPr sz="2025" b="0">
                <a:solidFill>
                  <a:srgbClr val="233747"/>
                </a:solidFill>
                <a:latin typeface="Arial"/>
                <a:ea typeface="Arial"/>
                <a:cs typeface="Arial"/>
              </a:defRPr>
            </a:lvl8pPr>
            <a:lvl9pPr>
              <a:defRPr sz="2025" b="0">
                <a:solidFill>
                  <a:srgbClr val="233747"/>
                </a:solidFill>
                <a:latin typeface="Arial"/>
                <a:ea typeface="Arial"/>
                <a:cs typeface="Arial"/>
              </a:defRPr>
            </a:lvl9pPr>
          </a:lstStyle>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Carré de douze robots · carte connue</a:t>
            </a:r>
          </a:p>
          <a:p xmlns:a="http://schemas.openxmlformats.org/drawingml/2006/main">
            <a:r>
              <a:t/>
            </a:r>
          </a:p>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Détour calculé pour toute la largeur du groupe</a:t>
            </a:r>
          </a:p>
          <a:p xmlns:a="http://schemas.openxmlformats.org/drawingml/2006/main">
            <a:r>
              <a:t/>
            </a:r>
          </a:p>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Huit cas par contrôleur, tous réussis sans contact</a:t>
            </a:r>
          </a:p>
          <a:p xmlns:a="http://schemas.openxmlformats.org/drawingml/2006/main">
            <a:r>
              <a:t/>
            </a:r>
          </a:p>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Comparaison classique / GAT initial protégé</a:t>
            </a:r>
          </a:p>
        </p:txBody>
      </p:sp>
      <p:pic>
        <p:nvPicPr>
          <p:cNvPr id="5" name="">
            <a:extLst xmlns:a="http://schemas.openxmlformats.org/drawingml/2006/main">
              <a:ext uri="{FF2B5EF4-FFF2-40B4-BE49-F238E27FC236}">
                <a16:creationId xmlns:a16="http://schemas.microsoft.com/office/drawing/2014/main" id="{43DE09A8-6255-4ECC-A376-80EFD671D55D}"/>
              </a:ext>
            </a:extLst>
          </p:cNvPr>
          <p:cNvPicPr>
            <a:picLocks xmlns:a="http://schemas.openxmlformats.org/drawingml/2006/main" noChangeAspect="1"/>
          </p:cNvPicPr>
          <p:nvPr/>
        </p:nvPicPr>
        <p:blipFill>
          <a:blip xmlns:r="http://schemas.openxmlformats.org/officeDocument/2006/relationships" xmlns:a="http://schemas.openxmlformats.org/drawingml/2006/main" r:embed="Rb727d68915e64cf7"/>
          <a:stretch xmlns:a="http://schemas.openxmlformats.org/drawingml/2006/main"/>
        </p:blipFill>
        <p:spPr>
          <a:xfrm xmlns:a="http://schemas.openxmlformats.org/drawingml/2006/main">
            <a:off x="6335663" y="1352550"/>
            <a:ext cx="4949924" cy="4762500"/>
          </a:xfrm>
          <a:prstGeom xmlns:a="http://schemas.openxmlformats.org/drawingml/2006/main" prst="rect">
            <a:avLst/>
          </a:prstGeom>
        </p:spPr>
      </p:pic>
    </p:spTree>
    <p:extLst>
      <p:ext uri="{BB962C8B-B14F-4D97-AF65-F5344CB8AC3E}">
        <p14:creationId xmlns:p14="http://schemas.microsoft.com/office/powerpoint/2010/main" val="61338750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7C9F48-474B-44BD-B1B0-04FAACC1B7B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C0B66D-3FE8-4C69-AFD0-13EBD75C63EB}"/>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Un catalogue plus large que les essais réservés</a:t>
            </a:r>
          </a:p>
        </p:txBody>
      </p:sp>
      <p:sp>
        <p:nvSpPr>
          <p:cNvPr id="3" name="">
            <a:extLst xmlns:a="http://schemas.openxmlformats.org/drawingml/2006/main">
              <a:ext uri="{FF2B5EF4-FFF2-40B4-BE49-F238E27FC236}">
                <a16:creationId xmlns:a16="http://schemas.microsoft.com/office/drawing/2014/main" id="{8484E57C-04EE-4744-9EE9-111FC34E056B}"/>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15 / 20</a:t>
            </a:r>
          </a:p>
        </p:txBody>
      </p:sp>
      <p:sp>
        <p:nvSpPr>
          <p:cNvPr id="4" name="">
            <a:extLst xmlns:a="http://schemas.openxmlformats.org/drawingml/2006/main">
              <a:ext uri="{FF2B5EF4-FFF2-40B4-BE49-F238E27FC236}">
                <a16:creationId xmlns:a16="http://schemas.microsoft.com/office/drawing/2014/main" id="{435DF0BE-49DC-4F3F-AEF0-74C6DE7D665D}"/>
              </a:ext>
            </a:extLst>
          </p:cNvPr>
          <p:cNvSpPr>
            <a:spLocks xmlns:a="http://schemas.openxmlformats.org/drawingml/2006/main" noGrp="1"/>
          </p:cNvSpPr>
          <p:nvPr/>
        </p:nvSpPr>
        <p:spPr>
          <a:xfrm xmlns:a="http://schemas.openxmlformats.org/drawingml/2006/main">
            <a:off x="571500" y="1457325"/>
            <a:ext cx="5095875"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7"/>
                </a:solidFill>
                <a:latin typeface="Arial"/>
                <a:ea typeface="Arial"/>
                <a:cs typeface="Arial"/>
              </a:defRPr>
            </a:defPPr>
            <a:lvl1pPr>
              <a:defRPr sz="2025" b="0">
                <a:solidFill>
                  <a:srgbClr val="233747"/>
                </a:solidFill>
                <a:latin typeface="Arial"/>
                <a:ea typeface="Arial"/>
                <a:cs typeface="Arial"/>
              </a:defRPr>
            </a:lvl1pPr>
            <a:lvl2pPr>
              <a:defRPr sz="2025" b="0">
                <a:solidFill>
                  <a:srgbClr val="233747"/>
                </a:solidFill>
                <a:latin typeface="Arial"/>
                <a:ea typeface="Arial"/>
                <a:cs typeface="Arial"/>
              </a:defRPr>
            </a:lvl2pPr>
            <a:lvl3pPr>
              <a:defRPr sz="2025" b="0">
                <a:solidFill>
                  <a:srgbClr val="233747"/>
                </a:solidFill>
                <a:latin typeface="Arial"/>
                <a:ea typeface="Arial"/>
                <a:cs typeface="Arial"/>
              </a:defRPr>
            </a:lvl3pPr>
            <a:lvl4pPr>
              <a:defRPr sz="2025" b="0">
                <a:solidFill>
                  <a:srgbClr val="233747"/>
                </a:solidFill>
                <a:latin typeface="Arial"/>
                <a:ea typeface="Arial"/>
                <a:cs typeface="Arial"/>
              </a:defRPr>
            </a:lvl4pPr>
            <a:lvl5pPr>
              <a:defRPr sz="2025" b="0">
                <a:solidFill>
                  <a:srgbClr val="233747"/>
                </a:solidFill>
                <a:latin typeface="Arial"/>
                <a:ea typeface="Arial"/>
                <a:cs typeface="Arial"/>
              </a:defRPr>
            </a:lvl5pPr>
            <a:lvl6pPr>
              <a:defRPr sz="2025" b="0">
                <a:solidFill>
                  <a:srgbClr val="233747"/>
                </a:solidFill>
                <a:latin typeface="Arial"/>
                <a:ea typeface="Arial"/>
                <a:cs typeface="Arial"/>
              </a:defRPr>
            </a:lvl6pPr>
            <a:lvl7pPr>
              <a:defRPr sz="2025" b="0">
                <a:solidFill>
                  <a:srgbClr val="233747"/>
                </a:solidFill>
                <a:latin typeface="Arial"/>
                <a:ea typeface="Arial"/>
                <a:cs typeface="Arial"/>
              </a:defRPr>
            </a:lvl7pPr>
            <a:lvl8pPr>
              <a:defRPr sz="2025" b="0">
                <a:solidFill>
                  <a:srgbClr val="233747"/>
                </a:solidFill>
                <a:latin typeface="Arial"/>
                <a:ea typeface="Arial"/>
                <a:cs typeface="Arial"/>
              </a:defRPr>
            </a:lvl8pPr>
            <a:lvl9pPr>
              <a:defRPr sz="2025" b="0">
                <a:solidFill>
                  <a:srgbClr val="233747"/>
                </a:solidFill>
                <a:latin typeface="Arial"/>
                <a:ea typeface="Arial"/>
                <a:cs typeface="Arial"/>
              </a:defRPr>
            </a:lvl9pPr>
          </a:lstStyle>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26 lettres A–Z et dix nombres 1–10</a:t>
            </a:r>
          </a:p>
          <a:p xmlns:a="http://schemas.openxmlformats.org/drawingml/2006/main">
            <a:r>
              <a:t/>
            </a:r>
          </a:p>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Vingt noms de figures géométriques</a:t>
            </a:r>
          </a:p>
          <a:p xmlns:a="http://schemas.openxmlformats.org/drawingml/2006/main">
            <a:r>
              <a:t/>
            </a:r>
          </a:p>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56 noms pour 54 géométries distinctes</a:t>
            </a:r>
          </a:p>
          <a:p xmlns:a="http://schemas.openxmlformats.org/drawingml/2006/main">
            <a:r>
              <a:t/>
            </a:r>
          </a:p>
          <a:p xmlns:a="http://schemas.openxmlformats.org/drawingml/2006/main">
            <a:pPr>
              <a:defRPr sz="2025" b="0">
                <a:solidFill>
                  <a:srgbClr val="233747"/>
                </a:solidFill>
                <a:latin typeface="Arial"/>
                <a:ea typeface="Arial"/>
                <a:cs typeface="Arial"/>
              </a:defRPr>
            </a:pPr>
            <a:r>
              <a:rPr sz="2025" b="0">
                <a:solidFill>
                  <a:srgbClr val="233747"/>
                </a:solidFill>
                <a:latin typeface="Arial"/>
                <a:ea typeface="Arial"/>
                <a:cs typeface="Arial"/>
              </a:rPr>
              <a:t>Le catalogue disponible dépasse le domaine validé</a:t>
            </a:r>
          </a:p>
        </p:txBody>
      </p:sp>
      <p:pic>
        <p:nvPicPr>
          <p:cNvPr id="5" name="">
            <a:extLst xmlns:a="http://schemas.openxmlformats.org/drawingml/2006/main">
              <a:ext uri="{FF2B5EF4-FFF2-40B4-BE49-F238E27FC236}">
                <a16:creationId xmlns:a16="http://schemas.microsoft.com/office/drawing/2014/main" id="{9FD8A011-5103-4E4D-BE28-D0FDCFE5157D}"/>
              </a:ext>
            </a:extLst>
          </p:cNvPr>
          <p:cNvPicPr>
            <a:picLocks xmlns:a="http://schemas.openxmlformats.org/drawingml/2006/main" noChangeAspect="1"/>
          </p:cNvPicPr>
          <p:nvPr/>
        </p:nvPicPr>
        <p:blipFill>
          <a:blip xmlns:r="http://schemas.openxmlformats.org/officeDocument/2006/relationships" xmlns:a="http://schemas.openxmlformats.org/drawingml/2006/main" r:embed="R0662b8f51124481c"/>
          <a:stretch xmlns:a="http://schemas.openxmlformats.org/drawingml/2006/main"/>
        </p:blipFill>
        <p:spPr>
          <a:xfrm xmlns:a="http://schemas.openxmlformats.org/drawingml/2006/main">
            <a:off x="5965417" y="1352550"/>
            <a:ext cx="5690416" cy="4762500"/>
          </a:xfrm>
          <a:prstGeom xmlns:a="http://schemas.openxmlformats.org/drawingml/2006/main" prst="rect">
            <a:avLst/>
          </a:prstGeom>
        </p:spPr>
      </p:pic>
    </p:spTree>
    <p:extLst>
      <p:ext uri="{BB962C8B-B14F-4D97-AF65-F5344CB8AC3E}">
        <p14:creationId xmlns:p14="http://schemas.microsoft.com/office/powerpoint/2010/main" val="37168293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0D3948E-BA0D-444A-9B88-1511BEEE6DC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908EA3-8D92-4119-894D-9382899497E8}"/>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Les limites de l’étude</a:t>
            </a:r>
          </a:p>
        </p:txBody>
      </p:sp>
      <p:sp>
        <p:nvSpPr>
          <p:cNvPr id="3" name="">
            <a:extLst xmlns:a="http://schemas.openxmlformats.org/drawingml/2006/main">
              <a:ext uri="{FF2B5EF4-FFF2-40B4-BE49-F238E27FC236}">
                <a16:creationId xmlns:a16="http://schemas.microsoft.com/office/drawing/2014/main" id="{191BA642-6676-4D5F-AC70-16138F5526F3}"/>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16 / 20</a:t>
            </a:r>
          </a:p>
        </p:txBody>
      </p:sp>
      <p:sp>
        <p:nvSpPr>
          <p:cNvPr id="4" name="">
            <a:extLst xmlns:a="http://schemas.openxmlformats.org/drawingml/2006/main">
              <a:ext uri="{FF2B5EF4-FFF2-40B4-BE49-F238E27FC236}">
                <a16:creationId xmlns:a16="http://schemas.microsoft.com/office/drawing/2014/main" id="{619F2684-9198-4DE6-8153-A4DA7C8E4F23}"/>
              </a:ext>
            </a:extLst>
          </p:cNvPr>
          <p:cNvSpPr>
            <a:spLocks xmlns:a="http://schemas.openxmlformats.org/drawingml/2006/main" noGrp="1"/>
          </p:cNvSpPr>
          <p:nvPr/>
        </p:nvSpPr>
        <p:spPr>
          <a:xfrm xmlns:a="http://schemas.openxmlformats.org/drawingml/2006/main">
            <a:off x="742950" y="15049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Simulation 2D idéale, sans validation sur robots réels</a:t>
            </a:r>
          </a:p>
        </p:txBody>
      </p:sp>
      <p:sp>
        <p:nvSpPr>
          <p:cNvPr id="5" name="">
            <a:extLst xmlns:a="http://schemas.openxmlformats.org/drawingml/2006/main">
              <a:ext uri="{FF2B5EF4-FFF2-40B4-BE49-F238E27FC236}">
                <a16:creationId xmlns:a16="http://schemas.microsoft.com/office/drawing/2014/main" id="{88D5D833-DD68-495F-99CF-FEA979819A39}"/>
              </a:ext>
            </a:extLst>
          </p:cNvPr>
          <p:cNvSpPr>
            <a:spLocks xmlns:a="http://schemas.openxmlformats.org/drawingml/2006/main" noGrp="1"/>
          </p:cNvSpPr>
          <p:nvPr/>
        </p:nvSpPr>
        <p:spPr>
          <a:xfrm xmlns:a="http://schemas.openxmlformats.org/drawingml/2006/main">
            <a:off x="485775" y="16287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0BC2DF1-7793-49BC-A532-CB2D317F32D2}"/>
              </a:ext>
            </a:extLst>
          </p:cNvPr>
          <p:cNvSpPr>
            <a:spLocks xmlns:a="http://schemas.openxmlformats.org/drawingml/2006/main" noGrp="1"/>
          </p:cNvSpPr>
          <p:nvPr/>
        </p:nvSpPr>
        <p:spPr>
          <a:xfrm xmlns:a="http://schemas.openxmlformats.org/drawingml/2006/main">
            <a:off x="742950" y="233362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Peu de configurations initiales indépendantes</a:t>
            </a:r>
          </a:p>
        </p:txBody>
      </p:sp>
      <p:sp>
        <p:nvSpPr>
          <p:cNvPr id="7" name="">
            <a:extLst xmlns:a="http://schemas.openxmlformats.org/drawingml/2006/main">
              <a:ext uri="{FF2B5EF4-FFF2-40B4-BE49-F238E27FC236}">
                <a16:creationId xmlns:a16="http://schemas.microsoft.com/office/drawing/2014/main" id="{1FDB4326-5DC7-42EE-AB5C-537E9A7CCFDE}"/>
              </a:ext>
            </a:extLst>
          </p:cNvPr>
          <p:cNvSpPr>
            <a:spLocks xmlns:a="http://schemas.openxmlformats.org/drawingml/2006/main" noGrp="1"/>
          </p:cNvSpPr>
          <p:nvPr/>
        </p:nvSpPr>
        <p:spPr>
          <a:xfrm xmlns:a="http://schemas.openxmlformats.org/drawingml/2006/main">
            <a:off x="485775" y="245745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AEF4C1E-771B-4773-A847-035982360C96}"/>
              </a:ext>
            </a:extLst>
          </p:cNvPr>
          <p:cNvSpPr>
            <a:spLocks xmlns:a="http://schemas.openxmlformats.org/drawingml/2006/main" noGrp="1"/>
          </p:cNvSpPr>
          <p:nvPr/>
        </p:nvSpPr>
        <p:spPr>
          <a:xfrm xmlns:a="http://schemas.openxmlformats.org/drawingml/2006/main">
            <a:off x="742950" y="316230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Départs contrôlés pour le modèle structuré</a:t>
            </a:r>
          </a:p>
        </p:txBody>
      </p:sp>
      <p:sp>
        <p:nvSpPr>
          <p:cNvPr id="9" name="">
            <a:extLst xmlns:a="http://schemas.openxmlformats.org/drawingml/2006/main">
              <a:ext uri="{FF2B5EF4-FFF2-40B4-BE49-F238E27FC236}">
                <a16:creationId xmlns:a16="http://schemas.microsoft.com/office/drawing/2014/main" id="{B7853202-1EF9-45B3-8863-CB808E3B9801}"/>
              </a:ext>
            </a:extLst>
          </p:cNvPr>
          <p:cNvSpPr>
            <a:spLocks xmlns:a="http://schemas.openxmlformats.org/drawingml/2006/main" noGrp="1"/>
          </p:cNvSpPr>
          <p:nvPr/>
        </p:nvSpPr>
        <p:spPr>
          <a:xfrm xmlns:a="http://schemas.openxmlformats.org/drawingml/2006/main">
            <a:off x="485775" y="328612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77BFB34-16F9-46CD-B4E7-3C5A8E5B83FC}"/>
              </a:ext>
            </a:extLst>
          </p:cNvPr>
          <p:cNvSpPr>
            <a:spLocks xmlns:a="http://schemas.openxmlformats.org/drawingml/2006/main" noGrp="1"/>
          </p:cNvSpPr>
          <p:nvPr/>
        </p:nvSpPr>
        <p:spPr>
          <a:xfrm xmlns:a="http://schemas.openxmlformats.org/drawingml/2006/main">
            <a:off x="742950" y="399097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Navigation aidée par une carte et un planificateur classiques</a:t>
            </a:r>
          </a:p>
        </p:txBody>
      </p:sp>
      <p:sp>
        <p:nvSpPr>
          <p:cNvPr id="11" name="">
            <a:extLst xmlns:a="http://schemas.openxmlformats.org/drawingml/2006/main">
              <a:ext uri="{FF2B5EF4-FFF2-40B4-BE49-F238E27FC236}">
                <a16:creationId xmlns:a16="http://schemas.microsoft.com/office/drawing/2014/main" id="{246DE335-790C-4EFE-B0E1-FFE3C6160B12}"/>
              </a:ext>
            </a:extLst>
          </p:cNvPr>
          <p:cNvSpPr>
            <a:spLocks xmlns:a="http://schemas.openxmlformats.org/drawingml/2006/main" noGrp="1"/>
          </p:cNvSpPr>
          <p:nvPr/>
        </p:nvSpPr>
        <p:spPr>
          <a:xfrm xmlns:a="http://schemas.openxmlformats.org/drawingml/2006/main">
            <a:off x="485775" y="411480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3373DE2-664C-4074-80A3-92698AF7C1A2}"/>
              </a:ext>
            </a:extLst>
          </p:cNvPr>
          <p:cNvSpPr>
            <a:spLocks xmlns:a="http://schemas.openxmlformats.org/drawingml/2006/main" noGrp="1"/>
          </p:cNvSpPr>
          <p:nvPr/>
        </p:nvSpPr>
        <p:spPr>
          <a:xfrm xmlns:a="http://schemas.openxmlformats.org/drawingml/2006/main">
            <a:off x="742950" y="48196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Pannes, bruit et pertes de messages non validés</a:t>
            </a:r>
          </a:p>
        </p:txBody>
      </p:sp>
      <p:sp>
        <p:nvSpPr>
          <p:cNvPr id="13" name="">
            <a:extLst xmlns:a="http://schemas.openxmlformats.org/drawingml/2006/main">
              <a:ext uri="{FF2B5EF4-FFF2-40B4-BE49-F238E27FC236}">
                <a16:creationId xmlns:a16="http://schemas.microsoft.com/office/drawing/2014/main" id="{60C77A38-C8E8-4452-9AE4-62FDDF93A0D9}"/>
              </a:ext>
            </a:extLst>
          </p:cNvPr>
          <p:cNvSpPr>
            <a:spLocks xmlns:a="http://schemas.openxmlformats.org/drawingml/2006/main" noGrp="1"/>
          </p:cNvSpPr>
          <p:nvPr/>
        </p:nvSpPr>
        <p:spPr>
          <a:xfrm xmlns:a="http://schemas.openxmlformats.org/drawingml/2006/main">
            <a:off x="485775" y="49434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Tree>
    <p:extLst>
      <p:ext uri="{BB962C8B-B14F-4D97-AF65-F5344CB8AC3E}">
        <p14:creationId xmlns:p14="http://schemas.microsoft.com/office/powerpoint/2010/main" val="142717921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8AAB4F0-41D0-4B5F-AF98-47CB27E89AA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FA9E0E-15A4-4C20-A0CC-BC06413F544D}"/>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Contributions et suite du travail</a:t>
            </a:r>
          </a:p>
        </p:txBody>
      </p:sp>
      <p:sp>
        <p:nvSpPr>
          <p:cNvPr id="3" name="">
            <a:extLst xmlns:a="http://schemas.openxmlformats.org/drawingml/2006/main">
              <a:ext uri="{FF2B5EF4-FFF2-40B4-BE49-F238E27FC236}">
                <a16:creationId xmlns:a16="http://schemas.microsoft.com/office/drawing/2014/main" id="{AB94B81C-81C3-4A2D-AE34-CE41298591F7}"/>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17 / 20</a:t>
            </a:r>
          </a:p>
        </p:txBody>
      </p:sp>
      <p:sp>
        <p:nvSpPr>
          <p:cNvPr id="4" name="">
            <a:extLst xmlns:a="http://schemas.openxmlformats.org/drawingml/2006/main">
              <a:ext uri="{FF2B5EF4-FFF2-40B4-BE49-F238E27FC236}">
                <a16:creationId xmlns:a16="http://schemas.microsoft.com/office/drawing/2014/main" id="{9A700746-B1A0-4B49-A7B9-00F329ADF7ED}"/>
              </a:ext>
            </a:extLst>
          </p:cNvPr>
          <p:cNvSpPr>
            <a:spLocks xmlns:a="http://schemas.openxmlformats.org/drawingml/2006/main" noGrp="1"/>
          </p:cNvSpPr>
          <p:nvPr/>
        </p:nvSpPr>
        <p:spPr>
          <a:xfrm xmlns:a="http://schemas.openxmlformats.org/drawingml/2006/main">
            <a:off x="742950" y="15049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Une chaîne reproductible de simulation et d’évaluation</a:t>
            </a:r>
          </a:p>
        </p:txBody>
      </p:sp>
      <p:sp>
        <p:nvSpPr>
          <p:cNvPr id="5" name="">
            <a:extLst xmlns:a="http://schemas.openxmlformats.org/drawingml/2006/main">
              <a:ext uri="{FF2B5EF4-FFF2-40B4-BE49-F238E27FC236}">
                <a16:creationId xmlns:a16="http://schemas.microsoft.com/office/drawing/2014/main" id="{3565E674-718A-4EA8-B127-6D00F3451BDC}"/>
              </a:ext>
            </a:extLst>
          </p:cNvPr>
          <p:cNvSpPr>
            <a:spLocks xmlns:a="http://schemas.openxmlformats.org/drawingml/2006/main" noGrp="1"/>
          </p:cNvSpPr>
          <p:nvPr/>
        </p:nvSpPr>
        <p:spPr>
          <a:xfrm xmlns:a="http://schemas.openxmlformats.org/drawingml/2006/main">
            <a:off x="485775" y="16287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E3BE583-3A40-428E-9E97-BB8B66E35BCD}"/>
              </a:ext>
            </a:extLst>
          </p:cNvPr>
          <p:cNvSpPr>
            <a:spLocks xmlns:a="http://schemas.openxmlformats.org/drawingml/2006/main" noGrp="1"/>
          </p:cNvSpPr>
          <p:nvPr/>
        </p:nvSpPr>
        <p:spPr>
          <a:xfrm xmlns:a="http://schemas.openxmlformats.org/drawingml/2006/main">
            <a:off x="742950" y="233362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Des commandes apprises comparées à une référence classique</a:t>
            </a:r>
          </a:p>
        </p:txBody>
      </p:sp>
      <p:sp>
        <p:nvSpPr>
          <p:cNvPr id="7" name="">
            <a:extLst xmlns:a="http://schemas.openxmlformats.org/drawingml/2006/main">
              <a:ext uri="{FF2B5EF4-FFF2-40B4-BE49-F238E27FC236}">
                <a16:creationId xmlns:a16="http://schemas.microsoft.com/office/drawing/2014/main" id="{BDE8DBA4-ECD4-4115-934E-8F4079A8D466}"/>
              </a:ext>
            </a:extLst>
          </p:cNvPr>
          <p:cNvSpPr>
            <a:spLocks xmlns:a="http://schemas.openxmlformats.org/drawingml/2006/main" noGrp="1"/>
          </p:cNvSpPr>
          <p:nvPr/>
        </p:nvSpPr>
        <p:spPr>
          <a:xfrm xmlns:a="http://schemas.openxmlformats.org/drawingml/2006/main">
            <a:off x="485775" y="245745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7645B82-9757-4A9B-BA9D-D8F7C6A14B7C}"/>
              </a:ext>
            </a:extLst>
          </p:cNvPr>
          <p:cNvSpPr>
            <a:spLocks xmlns:a="http://schemas.openxmlformats.org/drawingml/2006/main" noGrp="1"/>
          </p:cNvSpPr>
          <p:nvPr/>
        </p:nvSpPr>
        <p:spPr>
          <a:xfrm xmlns:a="http://schemas.openxmlformats.org/drawingml/2006/main">
            <a:off x="742950" y="316230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Des métriques qui conservent les échecs et les contacts</a:t>
            </a:r>
          </a:p>
        </p:txBody>
      </p:sp>
      <p:sp>
        <p:nvSpPr>
          <p:cNvPr id="9" name="">
            <a:extLst xmlns:a="http://schemas.openxmlformats.org/drawingml/2006/main">
              <a:ext uri="{FF2B5EF4-FFF2-40B4-BE49-F238E27FC236}">
                <a16:creationId xmlns:a16="http://schemas.microsoft.com/office/drawing/2014/main" id="{C11C7186-0DBB-4C18-A094-6E5BA4D65321}"/>
              </a:ext>
            </a:extLst>
          </p:cNvPr>
          <p:cNvSpPr>
            <a:spLocks xmlns:a="http://schemas.openxmlformats.org/drawingml/2006/main" noGrp="1"/>
          </p:cNvSpPr>
          <p:nvPr/>
        </p:nvSpPr>
        <p:spPr>
          <a:xfrm xmlns:a="http://schemas.openxmlformats.org/drawingml/2006/main">
            <a:off x="485775" y="328612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65132AF-40E3-4329-93F7-D845345B8547}"/>
              </a:ext>
            </a:extLst>
          </p:cNvPr>
          <p:cNvSpPr>
            <a:spLocks xmlns:a="http://schemas.openxmlformats.org/drawingml/2006/main" noGrp="1"/>
          </p:cNvSpPr>
          <p:nvPr/>
        </p:nvSpPr>
        <p:spPr>
          <a:xfrm xmlns:a="http://schemas.openxmlformats.org/drawingml/2006/main">
            <a:off x="742950" y="399097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À poursuivre : départs variés, attribution plus rapide, bruit</a:t>
            </a:r>
          </a:p>
        </p:txBody>
      </p:sp>
      <p:sp>
        <p:nvSpPr>
          <p:cNvPr id="11" name="">
            <a:extLst xmlns:a="http://schemas.openxmlformats.org/drawingml/2006/main">
              <a:ext uri="{FF2B5EF4-FFF2-40B4-BE49-F238E27FC236}">
                <a16:creationId xmlns:a16="http://schemas.microsoft.com/office/drawing/2014/main" id="{CF9441F5-4B80-4A3A-8EAA-CFB3A1856D01}"/>
              </a:ext>
            </a:extLst>
          </p:cNvPr>
          <p:cNvSpPr>
            <a:spLocks xmlns:a="http://schemas.openxmlformats.org/drawingml/2006/main" noGrp="1"/>
          </p:cNvSpPr>
          <p:nvPr/>
        </p:nvSpPr>
        <p:spPr>
          <a:xfrm xmlns:a="http://schemas.openxmlformats.org/drawingml/2006/main">
            <a:off x="485775" y="411480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194FC08-01F9-4E28-AA02-6FBEA0783BB0}"/>
              </a:ext>
            </a:extLst>
          </p:cNvPr>
          <p:cNvSpPr>
            <a:spLocks xmlns:a="http://schemas.openxmlformats.org/drawingml/2006/main" noGrp="1"/>
          </p:cNvSpPr>
          <p:nvPr/>
        </p:nvSpPr>
        <p:spPr>
          <a:xfrm xmlns:a="http://schemas.openxmlformats.org/drawingml/2006/main">
            <a:off x="742950" y="48196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Puis une validation progressive sur robots réels</a:t>
            </a:r>
          </a:p>
        </p:txBody>
      </p:sp>
      <p:sp>
        <p:nvSpPr>
          <p:cNvPr id="13" name="">
            <a:extLst xmlns:a="http://schemas.openxmlformats.org/drawingml/2006/main">
              <a:ext uri="{FF2B5EF4-FFF2-40B4-BE49-F238E27FC236}">
                <a16:creationId xmlns:a16="http://schemas.microsoft.com/office/drawing/2014/main" id="{6D758441-989B-42BB-A049-24D19560FBE6}"/>
              </a:ext>
            </a:extLst>
          </p:cNvPr>
          <p:cNvSpPr>
            <a:spLocks xmlns:a="http://schemas.openxmlformats.org/drawingml/2006/main" noGrp="1"/>
          </p:cNvSpPr>
          <p:nvPr/>
        </p:nvSpPr>
        <p:spPr>
          <a:xfrm xmlns:a="http://schemas.openxmlformats.org/drawingml/2006/main">
            <a:off x="485775" y="49434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Tree>
    <p:extLst>
      <p:ext uri="{BB962C8B-B14F-4D97-AF65-F5344CB8AC3E}">
        <p14:creationId xmlns:p14="http://schemas.microsoft.com/office/powerpoint/2010/main" val="12544005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A8B3D5C-1D2B-4089-8C6C-6D85786A44F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26A099-79FF-4EA1-AE60-A0991EFFA314}"/>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Démonstration et échanges</a:t>
            </a:r>
          </a:p>
        </p:txBody>
      </p:sp>
      <p:sp>
        <p:nvSpPr>
          <p:cNvPr id="3" name="">
            <a:extLst xmlns:a="http://schemas.openxmlformats.org/drawingml/2006/main">
              <a:ext uri="{FF2B5EF4-FFF2-40B4-BE49-F238E27FC236}">
                <a16:creationId xmlns:a16="http://schemas.microsoft.com/office/drawing/2014/main" id="{699C8DBE-9887-40A3-A645-4E878FE2B0EB}"/>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18 / 20</a:t>
            </a:r>
          </a:p>
        </p:txBody>
      </p:sp>
      <p:sp>
        <p:nvSpPr>
          <p:cNvPr id="4" name="">
            <a:extLst xmlns:a="http://schemas.openxmlformats.org/drawingml/2006/main">
              <a:ext uri="{FF2B5EF4-FFF2-40B4-BE49-F238E27FC236}">
                <a16:creationId xmlns:a16="http://schemas.microsoft.com/office/drawing/2014/main" id="{CC62EE51-65F7-4CD5-BA73-EDE41B9DA397}"/>
              </a:ext>
            </a:extLst>
          </p:cNvPr>
          <p:cNvSpPr>
            <a:spLocks xmlns:a="http://schemas.openxmlformats.org/drawingml/2006/main" noGrp="1"/>
          </p:cNvSpPr>
          <p:nvPr/>
        </p:nvSpPr>
        <p:spPr>
          <a:xfrm xmlns:a="http://schemas.openxmlformats.org/drawingml/2006/main">
            <a:off x="742950" y="15049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Former un rectangle avec le modèle structuré</a:t>
            </a:r>
          </a:p>
        </p:txBody>
      </p:sp>
      <p:sp>
        <p:nvSpPr>
          <p:cNvPr id="5" name="">
            <a:extLst xmlns:a="http://schemas.openxmlformats.org/drawingml/2006/main">
              <a:ext uri="{FF2B5EF4-FFF2-40B4-BE49-F238E27FC236}">
                <a16:creationId xmlns:a16="http://schemas.microsoft.com/office/drawing/2014/main" id="{CFC1EBC7-C20A-4931-9229-906AB3CBDE2A}"/>
              </a:ext>
            </a:extLst>
          </p:cNvPr>
          <p:cNvSpPr>
            <a:spLocks xmlns:a="http://schemas.openxmlformats.org/drawingml/2006/main" noGrp="1"/>
          </p:cNvSpPr>
          <p:nvPr/>
        </p:nvSpPr>
        <p:spPr>
          <a:xfrm xmlns:a="http://schemas.openxmlformats.org/drawingml/2006/main">
            <a:off x="485775" y="16287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880473E-3677-41C8-A5E0-E2E043FAE866}"/>
              </a:ext>
            </a:extLst>
          </p:cNvPr>
          <p:cNvSpPr>
            <a:spLocks xmlns:a="http://schemas.openxmlformats.org/drawingml/2006/main" noGrp="1"/>
          </p:cNvSpPr>
          <p:nvPr/>
        </p:nvSpPr>
        <p:spPr>
          <a:xfrm xmlns:a="http://schemas.openxmlformats.org/drawingml/2006/main">
            <a:off x="742950" y="233362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Comparer les commandes sur le même départ</a:t>
            </a:r>
          </a:p>
        </p:txBody>
      </p:sp>
      <p:sp>
        <p:nvSpPr>
          <p:cNvPr id="7" name="">
            <a:extLst xmlns:a="http://schemas.openxmlformats.org/drawingml/2006/main">
              <a:ext uri="{FF2B5EF4-FFF2-40B4-BE49-F238E27FC236}">
                <a16:creationId xmlns:a16="http://schemas.microsoft.com/office/drawing/2014/main" id="{03A19015-3420-43EA-A0BE-522BEA3DD006}"/>
              </a:ext>
            </a:extLst>
          </p:cNvPr>
          <p:cNvSpPr>
            <a:spLocks xmlns:a="http://schemas.openxmlformats.org/drawingml/2006/main" noGrp="1"/>
          </p:cNvSpPr>
          <p:nvPr/>
        </p:nvSpPr>
        <p:spPr>
          <a:xfrm xmlns:a="http://schemas.openxmlformats.org/drawingml/2006/main">
            <a:off x="485775" y="245745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8EBD909-3E49-4765-8767-112F3D295D34}"/>
              </a:ext>
            </a:extLst>
          </p:cNvPr>
          <p:cNvSpPr>
            <a:spLocks xmlns:a="http://schemas.openxmlformats.org/drawingml/2006/main" noGrp="1"/>
          </p:cNvSpPr>
          <p:nvPr/>
        </p:nvSpPr>
        <p:spPr>
          <a:xfrm xmlns:a="http://schemas.openxmlformats.org/drawingml/2006/main">
            <a:off x="742950" y="316230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Observer l’erreur, la stabilisation et les contacts</a:t>
            </a:r>
          </a:p>
        </p:txBody>
      </p:sp>
      <p:sp>
        <p:nvSpPr>
          <p:cNvPr id="9" name="">
            <a:extLst xmlns:a="http://schemas.openxmlformats.org/drawingml/2006/main">
              <a:ext uri="{FF2B5EF4-FFF2-40B4-BE49-F238E27FC236}">
                <a16:creationId xmlns:a16="http://schemas.microsoft.com/office/drawing/2014/main" id="{F224967F-799A-4476-934B-130317D229F4}"/>
              </a:ext>
            </a:extLst>
          </p:cNvPr>
          <p:cNvSpPr>
            <a:spLocks xmlns:a="http://schemas.openxmlformats.org/drawingml/2006/main" noGrp="1"/>
          </p:cNvSpPr>
          <p:nvPr/>
        </p:nvSpPr>
        <p:spPr>
          <a:xfrm xmlns:a="http://schemas.openxmlformats.org/drawingml/2006/main">
            <a:off x="485775" y="328612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0C04815-75AD-4A97-9E9F-05A32FBBFDA4}"/>
              </a:ext>
            </a:extLst>
          </p:cNvPr>
          <p:cNvSpPr>
            <a:spLocks xmlns:a="http://schemas.openxmlformats.org/drawingml/2006/main" noGrp="1"/>
          </p:cNvSpPr>
          <p:nvPr/>
        </p:nvSpPr>
        <p:spPr>
          <a:xfrm xmlns:a="http://schemas.openxmlformats.org/drawingml/2006/main">
            <a:off x="742950" y="399097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Montrer le détour près des obstacles</a:t>
            </a:r>
          </a:p>
        </p:txBody>
      </p:sp>
      <p:sp>
        <p:nvSpPr>
          <p:cNvPr id="11" name="">
            <a:extLst xmlns:a="http://schemas.openxmlformats.org/drawingml/2006/main">
              <a:ext uri="{FF2B5EF4-FFF2-40B4-BE49-F238E27FC236}">
                <a16:creationId xmlns:a16="http://schemas.microsoft.com/office/drawing/2014/main" id="{A8ECDB85-353C-4BAD-AB85-719B9E8A1F67}"/>
              </a:ext>
            </a:extLst>
          </p:cNvPr>
          <p:cNvSpPr>
            <a:spLocks xmlns:a="http://schemas.openxmlformats.org/drawingml/2006/main" noGrp="1"/>
          </p:cNvSpPr>
          <p:nvPr/>
        </p:nvSpPr>
        <p:spPr>
          <a:xfrm xmlns:a="http://schemas.openxmlformats.org/drawingml/2006/main">
            <a:off x="485775" y="411480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9FCF233-1320-43A3-A727-E785E57284B2}"/>
              </a:ext>
            </a:extLst>
          </p:cNvPr>
          <p:cNvSpPr>
            <a:spLocks xmlns:a="http://schemas.openxmlformats.org/drawingml/2006/main" noGrp="1"/>
          </p:cNvSpPr>
          <p:nvPr/>
        </p:nvSpPr>
        <p:spPr>
          <a:xfrm xmlns:a="http://schemas.openxmlformats.org/drawingml/2006/main">
            <a:off x="742950" y="48196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Merci pour votre attention</a:t>
            </a:r>
          </a:p>
        </p:txBody>
      </p:sp>
      <p:sp>
        <p:nvSpPr>
          <p:cNvPr id="13" name="">
            <a:extLst xmlns:a="http://schemas.openxmlformats.org/drawingml/2006/main">
              <a:ext uri="{FF2B5EF4-FFF2-40B4-BE49-F238E27FC236}">
                <a16:creationId xmlns:a16="http://schemas.microsoft.com/office/drawing/2014/main" id="{24E63762-359B-4148-B9E7-470973C3ABF3}"/>
              </a:ext>
            </a:extLst>
          </p:cNvPr>
          <p:cNvSpPr>
            <a:spLocks xmlns:a="http://schemas.openxmlformats.org/drawingml/2006/main" noGrp="1"/>
          </p:cNvSpPr>
          <p:nvPr/>
        </p:nvSpPr>
        <p:spPr>
          <a:xfrm xmlns:a="http://schemas.openxmlformats.org/drawingml/2006/main">
            <a:off x="485775" y="49434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Tree>
    <p:extLst>
      <p:ext uri="{BB962C8B-B14F-4D97-AF65-F5344CB8AC3E}">
        <p14:creationId xmlns:p14="http://schemas.microsoft.com/office/powerpoint/2010/main" val="59656613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F16065A-3410-437E-98EB-EA9BC4A5A6A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39FF52-DD78-4BE4-81E1-4FCFFBAEC62B}"/>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Complément — Réserver une place</a:t>
            </a:r>
          </a:p>
        </p:txBody>
      </p:sp>
      <p:sp>
        <p:nvSpPr>
          <p:cNvPr id="3" name="">
            <a:extLst xmlns:a="http://schemas.openxmlformats.org/drawingml/2006/main">
              <a:ext uri="{FF2B5EF4-FFF2-40B4-BE49-F238E27FC236}">
                <a16:creationId xmlns:a16="http://schemas.microsoft.com/office/drawing/2014/main" id="{E18CD790-D08C-446B-95ED-A4880DF8ECB6}"/>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19 / 20</a:t>
            </a:r>
          </a:p>
        </p:txBody>
      </p:sp>
      <p:sp>
        <p:nvSpPr>
          <p:cNvPr id="4" name="">
            <a:extLst xmlns:a="http://schemas.openxmlformats.org/drawingml/2006/main">
              <a:ext uri="{FF2B5EF4-FFF2-40B4-BE49-F238E27FC236}">
                <a16:creationId xmlns:a16="http://schemas.microsoft.com/office/drawing/2014/main" id="{68EA89C6-80B8-4213-BE59-A7AED291DA26}"/>
              </a:ext>
            </a:extLst>
          </p:cNvPr>
          <p:cNvSpPr>
            <a:spLocks xmlns:a="http://schemas.openxmlformats.org/drawingml/2006/main" noGrp="1"/>
          </p:cNvSpPr>
          <p:nvPr/>
        </p:nvSpPr>
        <p:spPr>
          <a:xfrm xmlns:a="http://schemas.openxmlformats.org/drawingml/2006/main">
            <a:off x="742950" y="15049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Chaque robot classe les places selon leur distance</a:t>
            </a:r>
          </a:p>
        </p:txBody>
      </p:sp>
      <p:sp>
        <p:nvSpPr>
          <p:cNvPr id="5" name="">
            <a:extLst xmlns:a="http://schemas.openxmlformats.org/drawingml/2006/main">
              <a:ext uri="{FF2B5EF4-FFF2-40B4-BE49-F238E27FC236}">
                <a16:creationId xmlns:a16="http://schemas.microsoft.com/office/drawing/2014/main" id="{F9D1D43D-A53F-491F-9883-E436EB704239}"/>
              </a:ext>
            </a:extLst>
          </p:cNvPr>
          <p:cNvSpPr>
            <a:spLocks xmlns:a="http://schemas.openxmlformats.org/drawingml/2006/main" noGrp="1"/>
          </p:cNvSpPr>
          <p:nvPr/>
        </p:nvSpPr>
        <p:spPr>
          <a:xfrm xmlns:a="http://schemas.openxmlformats.org/drawingml/2006/main">
            <a:off x="485775" y="16287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75F7C92-E619-40BE-9AAA-4D6F8CED9FC9}"/>
              </a:ext>
            </a:extLst>
          </p:cNvPr>
          <p:cNvSpPr>
            <a:spLocks xmlns:a="http://schemas.openxmlformats.org/drawingml/2006/main" noGrp="1"/>
          </p:cNvSpPr>
          <p:nvPr/>
        </p:nvSpPr>
        <p:spPr>
          <a:xfrm xmlns:a="http://schemas.openxmlformats.org/drawingml/2006/main">
            <a:off x="742950" y="233362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Les demandes circulent entre voisins</a:t>
            </a:r>
          </a:p>
        </p:txBody>
      </p:sp>
      <p:sp>
        <p:nvSpPr>
          <p:cNvPr id="7" name="">
            <a:extLst xmlns:a="http://schemas.openxmlformats.org/drawingml/2006/main">
              <a:ext uri="{FF2B5EF4-FFF2-40B4-BE49-F238E27FC236}">
                <a16:creationId xmlns:a16="http://schemas.microsoft.com/office/drawing/2014/main" id="{F19B041A-6608-48D6-B36B-4B539A174499}"/>
              </a:ext>
            </a:extLst>
          </p:cNvPr>
          <p:cNvSpPr>
            <a:spLocks xmlns:a="http://schemas.openxmlformats.org/drawingml/2006/main" noGrp="1"/>
          </p:cNvSpPr>
          <p:nvPr/>
        </p:nvSpPr>
        <p:spPr>
          <a:xfrm xmlns:a="http://schemas.openxmlformats.org/drawingml/2006/main">
            <a:off x="485775" y="245745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1290478-940A-438C-81F5-24C3C63C7412}"/>
              </a:ext>
            </a:extLst>
          </p:cNvPr>
          <p:cNvSpPr>
            <a:spLocks xmlns:a="http://schemas.openxmlformats.org/drawingml/2006/main" noGrp="1"/>
          </p:cNvSpPr>
          <p:nvPr/>
        </p:nvSpPr>
        <p:spPr>
          <a:xfrm xmlns:a="http://schemas.openxmlformats.org/drawingml/2006/main">
            <a:off x="742950" y="316230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En cas de conflit, l’identifiant prioritaire garde la place</a:t>
            </a:r>
          </a:p>
        </p:txBody>
      </p:sp>
      <p:sp>
        <p:nvSpPr>
          <p:cNvPr id="9" name="">
            <a:extLst xmlns:a="http://schemas.openxmlformats.org/drawingml/2006/main">
              <a:ext uri="{FF2B5EF4-FFF2-40B4-BE49-F238E27FC236}">
                <a16:creationId xmlns:a16="http://schemas.microsoft.com/office/drawing/2014/main" id="{1FA9F4B3-372A-4D76-8298-02C94FF44BE9}"/>
              </a:ext>
            </a:extLst>
          </p:cNvPr>
          <p:cNvSpPr>
            <a:spLocks xmlns:a="http://schemas.openxmlformats.org/drawingml/2006/main" noGrp="1"/>
          </p:cNvSpPr>
          <p:nvPr/>
        </p:nvSpPr>
        <p:spPr>
          <a:xfrm xmlns:a="http://schemas.openxmlformats.org/drawingml/2006/main">
            <a:off x="485775" y="328612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4F5DBC1-A5E7-46B9-9578-127FB4FF069F}"/>
              </a:ext>
            </a:extLst>
          </p:cNvPr>
          <p:cNvSpPr>
            <a:spLocks xmlns:a="http://schemas.openxmlformats.org/drawingml/2006/main" noGrp="1"/>
          </p:cNvSpPr>
          <p:nvPr/>
        </p:nvSpPr>
        <p:spPr>
          <a:xfrm xmlns:a="http://schemas.openxmlformats.org/drawingml/2006/main">
            <a:off x="742950" y="399097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L’autre robot demande sa place suivante</a:t>
            </a:r>
          </a:p>
        </p:txBody>
      </p:sp>
      <p:sp>
        <p:nvSpPr>
          <p:cNvPr id="11" name="">
            <a:extLst xmlns:a="http://schemas.openxmlformats.org/drawingml/2006/main">
              <a:ext uri="{FF2B5EF4-FFF2-40B4-BE49-F238E27FC236}">
                <a16:creationId xmlns:a16="http://schemas.microsoft.com/office/drawing/2014/main" id="{ECC02E6E-3DB5-4582-B3F6-EBC920BB1115}"/>
              </a:ext>
            </a:extLst>
          </p:cNvPr>
          <p:cNvSpPr>
            <a:spLocks xmlns:a="http://schemas.openxmlformats.org/drawingml/2006/main" noGrp="1"/>
          </p:cNvSpPr>
          <p:nvPr/>
        </p:nvSpPr>
        <p:spPr>
          <a:xfrm xmlns:a="http://schemas.openxmlformats.org/drawingml/2006/main">
            <a:off x="485775" y="411480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C13C508-30A2-4FA7-8F92-8D988E2A8956}"/>
              </a:ext>
            </a:extLst>
          </p:cNvPr>
          <p:cNvSpPr>
            <a:spLocks xmlns:a="http://schemas.openxmlformats.org/drawingml/2006/main" noGrp="1"/>
          </p:cNvSpPr>
          <p:nvPr/>
        </p:nvSpPr>
        <p:spPr>
          <a:xfrm xmlns:a="http://schemas.openxmlformats.org/drawingml/2006/main">
            <a:off x="742950" y="48196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L’affectation et l’évitement physique ont des rôles distincts</a:t>
            </a:r>
          </a:p>
        </p:txBody>
      </p:sp>
      <p:sp>
        <p:nvSpPr>
          <p:cNvPr id="13" name="">
            <a:extLst xmlns:a="http://schemas.openxmlformats.org/drawingml/2006/main">
              <a:ext uri="{FF2B5EF4-FFF2-40B4-BE49-F238E27FC236}">
                <a16:creationId xmlns:a16="http://schemas.microsoft.com/office/drawing/2014/main" id="{DC433728-9F32-4F82-9969-8D48E706A1ED}"/>
              </a:ext>
            </a:extLst>
          </p:cNvPr>
          <p:cNvSpPr>
            <a:spLocks xmlns:a="http://schemas.openxmlformats.org/drawingml/2006/main" noGrp="1"/>
          </p:cNvSpPr>
          <p:nvPr/>
        </p:nvSpPr>
        <p:spPr>
          <a:xfrm xmlns:a="http://schemas.openxmlformats.org/drawingml/2006/main">
            <a:off x="485775" y="49434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Tree>
    <p:extLst>
      <p:ext uri="{BB962C8B-B14F-4D97-AF65-F5344CB8AC3E}">
        <p14:creationId xmlns:p14="http://schemas.microsoft.com/office/powerpoint/2010/main" val="165635560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ABFDB6D-2420-4A4A-863F-899BC81842E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B97AE2-BF6D-49EC-B129-732BAC1FB77F}"/>
              </a:ext>
            </a:extLst>
          </p:cNvPr>
          <p:cNvSpPr>
            <a:spLocks xmlns:a="http://schemas.openxmlformats.org/drawingml/2006/main" noGrp="1"/>
          </p:cNvSpPr>
          <p:nvPr/>
        </p:nvSpPr>
        <p:spPr>
          <a:xfrm xmlns:a="http://schemas.openxmlformats.org/drawingml/2006/main">
            <a:off x="552450" y="3619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3B50"/>
                </a:solidFill>
                <a:latin typeface="Arial"/>
                <a:ea typeface="Arial"/>
                <a:cs typeface="Arial"/>
              </a:defRPr>
            </a:defPPr>
            <a:lvl1pPr>
              <a:defRPr sz="2850" b="1">
                <a:solidFill>
                  <a:srgbClr val="103B50"/>
                </a:solidFill>
                <a:latin typeface="Arial"/>
                <a:ea typeface="Arial"/>
                <a:cs typeface="Arial"/>
              </a:defRPr>
            </a:lvl1pPr>
            <a:lvl2pPr>
              <a:defRPr sz="2850" b="1">
                <a:solidFill>
                  <a:srgbClr val="103B50"/>
                </a:solidFill>
                <a:latin typeface="Arial"/>
                <a:ea typeface="Arial"/>
                <a:cs typeface="Arial"/>
              </a:defRPr>
            </a:lvl2pPr>
            <a:lvl3pPr>
              <a:defRPr sz="2850" b="1">
                <a:solidFill>
                  <a:srgbClr val="103B50"/>
                </a:solidFill>
                <a:latin typeface="Arial"/>
                <a:ea typeface="Arial"/>
                <a:cs typeface="Arial"/>
              </a:defRPr>
            </a:lvl3pPr>
            <a:lvl4pPr>
              <a:defRPr sz="2850" b="1">
                <a:solidFill>
                  <a:srgbClr val="103B50"/>
                </a:solidFill>
                <a:latin typeface="Arial"/>
                <a:ea typeface="Arial"/>
                <a:cs typeface="Arial"/>
              </a:defRPr>
            </a:lvl4pPr>
            <a:lvl5pPr>
              <a:defRPr sz="2850" b="1">
                <a:solidFill>
                  <a:srgbClr val="103B50"/>
                </a:solidFill>
                <a:latin typeface="Arial"/>
                <a:ea typeface="Arial"/>
                <a:cs typeface="Arial"/>
              </a:defRPr>
            </a:lvl5pPr>
            <a:lvl6pPr>
              <a:defRPr sz="2850" b="1">
                <a:solidFill>
                  <a:srgbClr val="103B50"/>
                </a:solidFill>
                <a:latin typeface="Arial"/>
                <a:ea typeface="Arial"/>
                <a:cs typeface="Arial"/>
              </a:defRPr>
            </a:lvl6pPr>
            <a:lvl7pPr>
              <a:defRPr sz="2850" b="1">
                <a:solidFill>
                  <a:srgbClr val="103B50"/>
                </a:solidFill>
                <a:latin typeface="Arial"/>
                <a:ea typeface="Arial"/>
                <a:cs typeface="Arial"/>
              </a:defRPr>
            </a:lvl7pPr>
            <a:lvl8pPr>
              <a:defRPr sz="2850" b="1">
                <a:solidFill>
                  <a:srgbClr val="103B50"/>
                </a:solidFill>
                <a:latin typeface="Arial"/>
                <a:ea typeface="Arial"/>
                <a:cs typeface="Arial"/>
              </a:defRPr>
            </a:lvl8pPr>
            <a:lvl9pPr>
              <a:defRPr sz="2850" b="1">
                <a:solidFill>
                  <a:srgbClr val="103B50"/>
                </a:solidFill>
                <a:latin typeface="Arial"/>
                <a:ea typeface="Arial"/>
                <a:cs typeface="Arial"/>
              </a:defRPr>
            </a:lvl9pPr>
          </a:lstStyle>
          <a:p xmlns:a="http://schemas.openxmlformats.org/drawingml/2006/main">
            <a:pPr>
              <a:defRPr sz="2850" b="1">
                <a:solidFill>
                  <a:srgbClr val="103B50"/>
                </a:solidFill>
                <a:latin typeface="Arial"/>
                <a:ea typeface="Arial"/>
                <a:cs typeface="Arial"/>
              </a:defRPr>
            </a:pPr>
            <a:r>
              <a:rPr sz="2850" b="1">
                <a:solidFill>
                  <a:srgbClr val="103B50"/>
                </a:solidFill>
                <a:latin typeface="Arial"/>
                <a:ea typeface="Arial"/>
                <a:cs typeface="Arial"/>
              </a:rPr>
              <a:t>Complément — Régression et classification</a:t>
            </a:r>
          </a:p>
        </p:txBody>
      </p:sp>
      <p:sp>
        <p:nvSpPr>
          <p:cNvPr id="3" name="">
            <a:extLst xmlns:a="http://schemas.openxmlformats.org/drawingml/2006/main">
              <a:ext uri="{FF2B5EF4-FFF2-40B4-BE49-F238E27FC236}">
                <a16:creationId xmlns:a16="http://schemas.microsoft.com/office/drawing/2014/main" id="{0A4D6813-3E01-44B9-8C61-B0C07B4DAD1C}"/>
              </a:ext>
            </a:extLst>
          </p:cNvPr>
          <p:cNvSpPr>
            <a:spLocks xmlns:a="http://schemas.openxmlformats.org/drawingml/2006/main" noGrp="1"/>
          </p:cNvSpPr>
          <p:nvPr/>
        </p:nvSpPr>
        <p:spPr>
          <a:xfrm xmlns:a="http://schemas.openxmlformats.org/drawingml/2006/main">
            <a:off x="11049000" y="643890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2"/>
                </a:solidFill>
                <a:latin typeface="Arial"/>
                <a:ea typeface="Arial"/>
                <a:cs typeface="Arial"/>
              </a:defRPr>
            </a:defPPr>
            <a:lvl1pPr>
              <a:defRPr sz="1200" b="0">
                <a:solidFill>
                  <a:srgbClr val="647482"/>
                </a:solidFill>
                <a:latin typeface="Arial"/>
                <a:ea typeface="Arial"/>
                <a:cs typeface="Arial"/>
              </a:defRPr>
            </a:lvl1pPr>
            <a:lvl2pPr>
              <a:defRPr sz="1200" b="0">
                <a:solidFill>
                  <a:srgbClr val="647482"/>
                </a:solidFill>
                <a:latin typeface="Arial"/>
                <a:ea typeface="Arial"/>
                <a:cs typeface="Arial"/>
              </a:defRPr>
            </a:lvl2pPr>
            <a:lvl3pPr>
              <a:defRPr sz="1200" b="0">
                <a:solidFill>
                  <a:srgbClr val="647482"/>
                </a:solidFill>
                <a:latin typeface="Arial"/>
                <a:ea typeface="Arial"/>
                <a:cs typeface="Arial"/>
              </a:defRPr>
            </a:lvl3pPr>
            <a:lvl4pPr>
              <a:defRPr sz="1200" b="0">
                <a:solidFill>
                  <a:srgbClr val="647482"/>
                </a:solidFill>
                <a:latin typeface="Arial"/>
                <a:ea typeface="Arial"/>
                <a:cs typeface="Arial"/>
              </a:defRPr>
            </a:lvl4pPr>
            <a:lvl5pPr>
              <a:defRPr sz="1200" b="0">
                <a:solidFill>
                  <a:srgbClr val="647482"/>
                </a:solidFill>
                <a:latin typeface="Arial"/>
                <a:ea typeface="Arial"/>
                <a:cs typeface="Arial"/>
              </a:defRPr>
            </a:lvl5pPr>
            <a:lvl6pPr>
              <a:defRPr sz="1200" b="0">
                <a:solidFill>
                  <a:srgbClr val="647482"/>
                </a:solidFill>
                <a:latin typeface="Arial"/>
                <a:ea typeface="Arial"/>
                <a:cs typeface="Arial"/>
              </a:defRPr>
            </a:lvl6pPr>
            <a:lvl7pPr>
              <a:defRPr sz="1200" b="0">
                <a:solidFill>
                  <a:srgbClr val="647482"/>
                </a:solidFill>
                <a:latin typeface="Arial"/>
                <a:ea typeface="Arial"/>
                <a:cs typeface="Arial"/>
              </a:defRPr>
            </a:lvl7pPr>
            <a:lvl8pPr>
              <a:defRPr sz="1200" b="0">
                <a:solidFill>
                  <a:srgbClr val="647482"/>
                </a:solidFill>
                <a:latin typeface="Arial"/>
                <a:ea typeface="Arial"/>
                <a:cs typeface="Arial"/>
              </a:defRPr>
            </a:lvl8pPr>
            <a:lvl9pPr>
              <a:defRPr sz="1200" b="0">
                <a:solidFill>
                  <a:srgbClr val="647482"/>
                </a:solidFill>
                <a:latin typeface="Arial"/>
                <a:ea typeface="Arial"/>
                <a:cs typeface="Arial"/>
              </a:defRPr>
            </a:lvl9pPr>
          </a:lstStyle>
          <a:p xmlns:a="http://schemas.openxmlformats.org/drawingml/2006/main">
            <a:pPr>
              <a:defRPr sz="1200" b="0">
                <a:solidFill>
                  <a:srgbClr val="647482"/>
                </a:solidFill>
                <a:latin typeface="Arial"/>
                <a:ea typeface="Arial"/>
                <a:cs typeface="Arial"/>
              </a:defRPr>
            </a:pPr>
            <a:r>
              <a:rPr sz="1200" b="0">
                <a:solidFill>
                  <a:srgbClr val="647482"/>
                </a:solidFill>
                <a:latin typeface="Arial"/>
                <a:ea typeface="Arial"/>
                <a:cs typeface="Arial"/>
              </a:rPr>
              <a:t>20 / 20</a:t>
            </a:r>
          </a:p>
        </p:txBody>
      </p:sp>
      <p:sp>
        <p:nvSpPr>
          <p:cNvPr id="4" name="">
            <a:extLst xmlns:a="http://schemas.openxmlformats.org/drawingml/2006/main">
              <a:ext uri="{FF2B5EF4-FFF2-40B4-BE49-F238E27FC236}">
                <a16:creationId xmlns:a16="http://schemas.microsoft.com/office/drawing/2014/main" id="{EBCD8E88-FE51-4D5D-953B-5B27D92FA6C4}"/>
              </a:ext>
            </a:extLst>
          </p:cNvPr>
          <p:cNvSpPr>
            <a:spLocks xmlns:a="http://schemas.openxmlformats.org/drawingml/2006/main" noGrp="1"/>
          </p:cNvSpPr>
          <p:nvPr/>
        </p:nvSpPr>
        <p:spPr>
          <a:xfrm xmlns:a="http://schemas.openxmlformats.org/drawingml/2006/main">
            <a:off x="742950" y="15049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Classification : prédire une catégorie</a:t>
            </a:r>
          </a:p>
        </p:txBody>
      </p:sp>
      <p:sp>
        <p:nvSpPr>
          <p:cNvPr id="5" name="">
            <a:extLst xmlns:a="http://schemas.openxmlformats.org/drawingml/2006/main">
              <a:ext uri="{FF2B5EF4-FFF2-40B4-BE49-F238E27FC236}">
                <a16:creationId xmlns:a16="http://schemas.microsoft.com/office/drawing/2014/main" id="{60032828-2003-4DD3-87CD-029FD621E88C}"/>
              </a:ext>
            </a:extLst>
          </p:cNvPr>
          <p:cNvSpPr>
            <a:spLocks xmlns:a="http://schemas.openxmlformats.org/drawingml/2006/main" noGrp="1"/>
          </p:cNvSpPr>
          <p:nvPr/>
        </p:nvSpPr>
        <p:spPr>
          <a:xfrm xmlns:a="http://schemas.openxmlformats.org/drawingml/2006/main">
            <a:off x="485775" y="16287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C3D3FEC-8245-4663-87F5-CDB820AB4CA4}"/>
              </a:ext>
            </a:extLst>
          </p:cNvPr>
          <p:cNvSpPr>
            <a:spLocks xmlns:a="http://schemas.openxmlformats.org/drawingml/2006/main" noGrp="1"/>
          </p:cNvSpPr>
          <p:nvPr/>
        </p:nvSpPr>
        <p:spPr>
          <a:xfrm xmlns:a="http://schemas.openxmlformats.org/drawingml/2006/main">
            <a:off x="742950" y="233362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Régression : prédire une valeur continue</a:t>
            </a:r>
          </a:p>
        </p:txBody>
      </p:sp>
      <p:sp>
        <p:nvSpPr>
          <p:cNvPr id="7" name="">
            <a:extLst xmlns:a="http://schemas.openxmlformats.org/drawingml/2006/main">
              <a:ext uri="{FF2B5EF4-FFF2-40B4-BE49-F238E27FC236}">
                <a16:creationId xmlns:a16="http://schemas.microsoft.com/office/drawing/2014/main" id="{67CDBF6E-D46A-4372-896D-9F4F73D35E81}"/>
              </a:ext>
            </a:extLst>
          </p:cNvPr>
          <p:cNvSpPr>
            <a:spLocks xmlns:a="http://schemas.openxmlformats.org/drawingml/2006/main" noGrp="1"/>
          </p:cNvSpPr>
          <p:nvPr/>
        </p:nvSpPr>
        <p:spPr>
          <a:xfrm xmlns:a="http://schemas.openxmlformats.org/drawingml/2006/main">
            <a:off x="485775" y="245745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08D2FD1-6A70-4366-B895-688A2B858A50}"/>
              </a:ext>
            </a:extLst>
          </p:cNvPr>
          <p:cNvSpPr>
            <a:spLocks xmlns:a="http://schemas.openxmlformats.org/drawingml/2006/main" noGrp="1"/>
          </p:cNvSpPr>
          <p:nvPr/>
        </p:nvSpPr>
        <p:spPr>
          <a:xfrm xmlns:a="http://schemas.openxmlformats.org/drawingml/2006/main">
            <a:off x="742950" y="316230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Ici, la sortie est une accélération à deux composantes</a:t>
            </a:r>
          </a:p>
        </p:txBody>
      </p:sp>
      <p:sp>
        <p:nvSpPr>
          <p:cNvPr id="9" name="">
            <a:extLst xmlns:a="http://schemas.openxmlformats.org/drawingml/2006/main">
              <a:ext uri="{FF2B5EF4-FFF2-40B4-BE49-F238E27FC236}">
                <a16:creationId xmlns:a16="http://schemas.microsoft.com/office/drawing/2014/main" id="{D3BB2494-F0D1-4AA1-BDAD-FA454A27EB77}"/>
              </a:ext>
            </a:extLst>
          </p:cNvPr>
          <p:cNvSpPr>
            <a:spLocks xmlns:a="http://schemas.openxmlformats.org/drawingml/2006/main" noGrp="1"/>
          </p:cNvSpPr>
          <p:nvPr/>
        </p:nvSpPr>
        <p:spPr>
          <a:xfrm xmlns:a="http://schemas.openxmlformats.org/drawingml/2006/main">
            <a:off x="485775" y="328612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CF47648-6D17-4FA2-BDD8-57B848DF84FC}"/>
              </a:ext>
            </a:extLst>
          </p:cNvPr>
          <p:cNvSpPr>
            <a:spLocks xmlns:a="http://schemas.openxmlformats.org/drawingml/2006/main" noGrp="1"/>
          </p:cNvSpPr>
          <p:nvPr/>
        </p:nvSpPr>
        <p:spPr>
          <a:xfrm xmlns:a="http://schemas.openxmlformats.org/drawingml/2006/main">
            <a:off x="742950" y="399097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La MSE mesure l’erreur d’imitation</a:t>
            </a:r>
          </a:p>
        </p:txBody>
      </p:sp>
      <p:sp>
        <p:nvSpPr>
          <p:cNvPr id="11" name="">
            <a:extLst xmlns:a="http://schemas.openxmlformats.org/drawingml/2006/main">
              <a:ext uri="{FF2B5EF4-FFF2-40B4-BE49-F238E27FC236}">
                <a16:creationId xmlns:a16="http://schemas.microsoft.com/office/drawing/2014/main" id="{0FEACB9B-31DF-4676-BBC1-39FD339F706C}"/>
              </a:ext>
            </a:extLst>
          </p:cNvPr>
          <p:cNvSpPr>
            <a:spLocks xmlns:a="http://schemas.openxmlformats.org/drawingml/2006/main" noGrp="1"/>
          </p:cNvSpPr>
          <p:nvPr/>
        </p:nvSpPr>
        <p:spPr>
          <a:xfrm xmlns:a="http://schemas.openxmlformats.org/drawingml/2006/main">
            <a:off x="485775" y="4114800"/>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D165FBD-ACEA-4B24-89F5-22DC28A47D8D}"/>
              </a:ext>
            </a:extLst>
          </p:cNvPr>
          <p:cNvSpPr>
            <a:spLocks xmlns:a="http://schemas.openxmlformats.org/drawingml/2006/main" noGrp="1"/>
          </p:cNvSpPr>
          <p:nvPr/>
        </p:nvSpPr>
        <p:spPr>
          <a:xfrm xmlns:a="http://schemas.openxmlformats.org/drawingml/2006/main">
            <a:off x="742950" y="48196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33747"/>
                </a:solidFill>
                <a:latin typeface="Arial"/>
                <a:ea typeface="Arial"/>
                <a:cs typeface="Arial"/>
              </a:defRPr>
            </a:defPPr>
            <a:lvl1pPr>
              <a:defRPr sz="2250" b="0">
                <a:solidFill>
                  <a:srgbClr val="233747"/>
                </a:solidFill>
                <a:latin typeface="Arial"/>
                <a:ea typeface="Arial"/>
                <a:cs typeface="Arial"/>
              </a:defRPr>
            </a:lvl1pPr>
            <a:lvl2pPr>
              <a:defRPr sz="2250" b="0">
                <a:solidFill>
                  <a:srgbClr val="233747"/>
                </a:solidFill>
                <a:latin typeface="Arial"/>
                <a:ea typeface="Arial"/>
                <a:cs typeface="Arial"/>
              </a:defRPr>
            </a:lvl2pPr>
            <a:lvl3pPr>
              <a:defRPr sz="2250" b="0">
                <a:solidFill>
                  <a:srgbClr val="233747"/>
                </a:solidFill>
                <a:latin typeface="Arial"/>
                <a:ea typeface="Arial"/>
                <a:cs typeface="Arial"/>
              </a:defRPr>
            </a:lvl3pPr>
            <a:lvl4pPr>
              <a:defRPr sz="2250" b="0">
                <a:solidFill>
                  <a:srgbClr val="233747"/>
                </a:solidFill>
                <a:latin typeface="Arial"/>
                <a:ea typeface="Arial"/>
                <a:cs typeface="Arial"/>
              </a:defRPr>
            </a:lvl4pPr>
            <a:lvl5pPr>
              <a:defRPr sz="2250" b="0">
                <a:solidFill>
                  <a:srgbClr val="233747"/>
                </a:solidFill>
                <a:latin typeface="Arial"/>
                <a:ea typeface="Arial"/>
                <a:cs typeface="Arial"/>
              </a:defRPr>
            </a:lvl5pPr>
            <a:lvl6pPr>
              <a:defRPr sz="2250" b="0">
                <a:solidFill>
                  <a:srgbClr val="233747"/>
                </a:solidFill>
                <a:latin typeface="Arial"/>
                <a:ea typeface="Arial"/>
                <a:cs typeface="Arial"/>
              </a:defRPr>
            </a:lvl6pPr>
            <a:lvl7pPr>
              <a:defRPr sz="2250" b="0">
                <a:solidFill>
                  <a:srgbClr val="233747"/>
                </a:solidFill>
                <a:latin typeface="Arial"/>
                <a:ea typeface="Arial"/>
                <a:cs typeface="Arial"/>
              </a:defRPr>
            </a:lvl7pPr>
            <a:lvl8pPr>
              <a:defRPr sz="2250" b="0">
                <a:solidFill>
                  <a:srgbClr val="233747"/>
                </a:solidFill>
                <a:latin typeface="Arial"/>
                <a:ea typeface="Arial"/>
                <a:cs typeface="Arial"/>
              </a:defRPr>
            </a:lvl8pPr>
            <a:lvl9pPr>
              <a:defRPr sz="2250" b="0">
                <a:solidFill>
                  <a:srgbClr val="233747"/>
                </a:solidFill>
                <a:latin typeface="Arial"/>
                <a:ea typeface="Arial"/>
                <a:cs typeface="Arial"/>
              </a:defRPr>
            </a:lvl9pPr>
          </a:lstStyle>
          <a:p xmlns:a="http://schemas.openxmlformats.org/drawingml/2006/main">
            <a:pPr>
              <a:defRPr sz="2250" b="0">
                <a:solidFill>
                  <a:srgbClr val="233747"/>
                </a:solidFill>
                <a:latin typeface="Arial"/>
                <a:ea typeface="Arial"/>
                <a:cs typeface="Arial"/>
              </a:defRPr>
            </a:pPr>
            <a:r>
              <a:rPr sz="2250" b="0">
                <a:solidFill>
                  <a:srgbClr val="233747"/>
                </a:solidFill>
                <a:latin typeface="Arial"/>
                <a:ea typeface="Arial"/>
                <a:cs typeface="Arial"/>
              </a:rPr>
              <a:t>Les essais de simulation mesurent la réussite physique</a:t>
            </a:r>
          </a:p>
        </p:txBody>
      </p:sp>
      <p:sp>
        <p:nvSpPr>
          <p:cNvPr id="13" name="">
            <a:extLst xmlns:a="http://schemas.openxmlformats.org/drawingml/2006/main">
              <a:ext uri="{FF2B5EF4-FFF2-40B4-BE49-F238E27FC236}">
                <a16:creationId xmlns:a16="http://schemas.microsoft.com/office/drawing/2014/main" id="{9C388B00-E382-46E8-9D5E-064E06781135}"/>
              </a:ext>
            </a:extLst>
          </p:cNvPr>
          <p:cNvSpPr>
            <a:spLocks xmlns:a="http://schemas.openxmlformats.org/drawingml/2006/main" noGrp="1"/>
          </p:cNvSpPr>
          <p:nvPr/>
        </p:nvSpPr>
        <p:spPr>
          <a:xfrm xmlns:a="http://schemas.openxmlformats.org/drawingml/2006/main">
            <a:off x="485775" y="4943475"/>
            <a:ext cx="85725" cy="85725"/>
          </a:xfrm>
          <a:prstGeom xmlns:a="http://schemas.openxmlformats.org/drawingml/2006/main" prst="ellipse">
            <a:avLst/>
          </a:prstGeom>
          <a:solidFill xmlns:a="http://schemas.openxmlformats.org/drawingml/2006/main">
            <a:srgbClr val="087F8C"/>
          </a:solidFill>
          <a:ln xmlns:a="http://schemas.openxmlformats.org/drawingml/2006/main" w="0">
            <a:noFill/>
          </a:ln>
        </p:spPr>
      </p:sp>
    </p:spTree>
    <p:extLst>
      <p:ext uri="{BB962C8B-B14F-4D97-AF65-F5344CB8AC3E}">
        <p14:creationId xmlns:p14="http://schemas.microsoft.com/office/powerpoint/2010/main" val="12863879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2026-10-30T03:48:23.5280000Z</dcterms:created>
  <dcterms:modified xsi:type="dcterms:W3CDTF">2026-10-30T03:48:23.5280000Z</dcterms:modified>
</coreProperties>
</file>